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2" r:id="rId3"/>
    <p:sldId id="283" r:id="rId4"/>
    <p:sldId id="298" r:id="rId5"/>
    <p:sldId id="300" r:id="rId6"/>
    <p:sldId id="299" r:id="rId7"/>
    <p:sldId id="285" r:id="rId8"/>
    <p:sldId id="291" r:id="rId9"/>
    <p:sldId id="330" r:id="rId10"/>
    <p:sldId id="320" r:id="rId11"/>
    <p:sldId id="321" r:id="rId12"/>
    <p:sldId id="331" r:id="rId13"/>
    <p:sldId id="332" r:id="rId14"/>
    <p:sldId id="333" r:id="rId15"/>
    <p:sldId id="334" r:id="rId16"/>
    <p:sldId id="335" r:id="rId17"/>
    <p:sldId id="337" r:id="rId18"/>
    <p:sldId id="336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297" r:id="rId27"/>
    <p:sldId id="284" r:id="rId28"/>
    <p:sldId id="289" r:id="rId29"/>
    <p:sldId id="290" r:id="rId30"/>
    <p:sldId id="281" r:id="rId31"/>
    <p:sldId id="27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CE2BF-E837-4849-B11C-0944C199F6A4}" v="228" dt="2024-09-19T16:05:47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94"/>
  </p:normalViewPr>
  <p:slideViewPr>
    <p:cSldViewPr snapToGrid="0">
      <p:cViewPr varScale="1">
        <p:scale>
          <a:sx n="67" d="100"/>
          <a:sy n="67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 smtClean="0"/>
            <a:t>1 </a:t>
          </a:r>
          <a:r>
            <a:rPr lang="en-GB" dirty="0" smtClean="0"/>
            <a:t>Introduction to Performance Metrics and its types</a:t>
          </a:r>
          <a:endParaRPr lang="en-IN" dirty="0" smtClean="0"/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 smtClean="0"/>
            <a:t>2 </a:t>
          </a:r>
          <a:r>
            <a:rPr lang="en-IN" dirty="0" smtClean="0"/>
            <a:t>Activity-1</a:t>
          </a:r>
          <a:endParaRPr lang="en-IN" dirty="0" smtClean="0"/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 smtClean="0"/>
            <a:t>3 </a:t>
          </a:r>
          <a:r>
            <a:rPr lang="en-GB" dirty="0" smtClean="0"/>
            <a:t>Key Formulas and Concept (MAE, MSE,  </a:t>
          </a:r>
        </a:p>
        <a:p>
          <a:r>
            <a:rPr lang="en-GB" dirty="0" smtClean="0"/>
            <a:t>  R², Accuracy, Precision, Recall, F1)</a:t>
          </a:r>
          <a:endParaRPr lang="en-IN" dirty="0" smtClean="0"/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/>
      <dgm:spPr/>
      <dgm:t>
        <a:bodyPr/>
        <a:lstStyle/>
        <a:p>
          <a:r>
            <a:rPr lang="en-IN" dirty="0" smtClean="0"/>
            <a:t>5 </a:t>
          </a:r>
          <a:r>
            <a:rPr lang="en-IN" dirty="0" smtClean="0"/>
            <a:t>Activity-2 (Quiz on Wooflash)</a:t>
          </a:r>
          <a:endParaRPr lang="en-US" dirty="0"/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 smtClean="0"/>
            <a:t>6 </a:t>
          </a:r>
          <a:r>
            <a:rPr lang="en-IN" dirty="0" smtClean="0"/>
            <a:t>Review and Reflections</a:t>
          </a:r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22142A0A-218A-4731-82F7-392977EDB62C}">
      <dgm:prSet/>
      <dgm:spPr/>
      <dgm:t>
        <a:bodyPr/>
        <a:lstStyle/>
        <a:p>
          <a:r>
            <a:rPr lang="en-IN" dirty="0" smtClean="0">
              <a:solidFill>
                <a:schemeClr val="tx1"/>
              </a:solidFill>
            </a:rPr>
            <a:t>4 Applications and Visual tools</a:t>
          </a:r>
        </a:p>
      </dgm:t>
    </dgm:pt>
    <dgm:pt modelId="{129074F3-A64E-4923-9869-1E59972AC3CB}" type="parTrans" cxnId="{756128BB-C4DC-4393-B675-5254AFA32CFD}">
      <dgm:prSet/>
      <dgm:spPr/>
      <dgm:t>
        <a:bodyPr/>
        <a:lstStyle/>
        <a:p>
          <a:endParaRPr lang="en-IN"/>
        </a:p>
      </dgm:t>
    </dgm:pt>
    <dgm:pt modelId="{E9C94348-17C8-4DE4-8BE3-5ABE4E5801D3}" type="sibTrans" cxnId="{756128BB-C4DC-4393-B675-5254AFA32CFD}">
      <dgm:prSet/>
      <dgm:spPr/>
      <dgm:t>
        <a:bodyPr/>
        <a:lstStyle/>
        <a:p>
          <a:endParaRPr lang="en-IN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6FF76B5C-2320-4CB5-9844-D984662B1716}" type="pres">
      <dgm:prSet presAssocID="{C8BD7C71-8F1B-400D-96A3-6B553A93EB7F}" presName="thickLine" presStyleLbl="alignNode1" presStyleIdx="0" presStyleCnt="6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6"/>
      <dgm:spPr/>
      <dgm:t>
        <a:bodyPr/>
        <a:lstStyle/>
        <a:p>
          <a:endParaRPr lang="en-IN"/>
        </a:p>
      </dgm:t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6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6"/>
      <dgm:spPr/>
      <dgm:t>
        <a:bodyPr/>
        <a:lstStyle/>
        <a:p>
          <a:endParaRPr lang="en-IN"/>
        </a:p>
      </dgm:t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6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6"/>
      <dgm:spPr/>
      <dgm:t>
        <a:bodyPr/>
        <a:lstStyle/>
        <a:p>
          <a:endParaRPr lang="en-IN"/>
        </a:p>
      </dgm:t>
    </dgm:pt>
    <dgm:pt modelId="{0E51C315-1B46-45D6-B4D4-E44AF2F7FE47}" type="pres">
      <dgm:prSet presAssocID="{81CB55E0-0FB6-485C-B15D-9BD278F78C6F}" presName="vert1" presStyleCnt="0"/>
      <dgm:spPr/>
    </dgm:pt>
    <dgm:pt modelId="{B138FC3C-26E4-427B-B48B-1298D9547C77}" type="pres">
      <dgm:prSet presAssocID="{22142A0A-218A-4731-82F7-392977EDB62C}" presName="thickLine" presStyleLbl="alignNode1" presStyleIdx="3" presStyleCnt="6"/>
      <dgm:spPr/>
    </dgm:pt>
    <dgm:pt modelId="{9E6CD10F-6301-496B-B5BB-5DA2D09EC12A}" type="pres">
      <dgm:prSet presAssocID="{22142A0A-218A-4731-82F7-392977EDB62C}" presName="horz1" presStyleCnt="0"/>
      <dgm:spPr/>
    </dgm:pt>
    <dgm:pt modelId="{B34D7E92-9BF5-476B-9192-9DA24E3CA3EF}" type="pres">
      <dgm:prSet presAssocID="{22142A0A-218A-4731-82F7-392977EDB62C}" presName="tx1" presStyleLbl="revTx" presStyleIdx="3" presStyleCnt="6"/>
      <dgm:spPr/>
      <dgm:t>
        <a:bodyPr/>
        <a:lstStyle/>
        <a:p>
          <a:endParaRPr lang="en-IN"/>
        </a:p>
      </dgm:t>
    </dgm:pt>
    <dgm:pt modelId="{A6655E90-B157-417E-AD04-0C413ACFCD6E}" type="pres">
      <dgm:prSet presAssocID="{22142A0A-218A-4731-82F7-392977EDB62C}" presName="vert1" presStyleCnt="0"/>
      <dgm:spPr/>
    </dgm:pt>
    <dgm:pt modelId="{B514687E-679F-4404-A929-C733AA004539}" type="pres">
      <dgm:prSet presAssocID="{51474CA9-1ADD-4331-9534-6780C3A18768}" presName="thickLine" presStyleLbl="alignNode1" presStyleIdx="4" presStyleCnt="6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4" presStyleCnt="6"/>
      <dgm:spPr/>
      <dgm:t>
        <a:bodyPr/>
        <a:lstStyle/>
        <a:p>
          <a:endParaRPr lang="en-IN"/>
        </a:p>
      </dgm:t>
    </dgm:pt>
    <dgm:pt modelId="{42E34139-9E2B-4ED7-9D4C-0E180FD5C739}" type="pres">
      <dgm:prSet presAssocID="{51474CA9-1ADD-4331-9534-6780C3A18768}" presName="vert1" presStyleCnt="0"/>
      <dgm:spPr/>
    </dgm:pt>
    <dgm:pt modelId="{0B062B2C-FD23-461E-89A1-3ECDF7A567C2}" type="pres">
      <dgm:prSet presAssocID="{BA2E5375-FD77-47B4-A888-7387932E6D62}" presName="thickLine" presStyleLbl="alignNode1" presStyleIdx="5" presStyleCnt="6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5" presStyleCnt="6"/>
      <dgm:spPr/>
      <dgm:t>
        <a:bodyPr/>
        <a:lstStyle/>
        <a:p>
          <a:endParaRPr lang="en-IN"/>
        </a:p>
      </dgm:t>
    </dgm:pt>
    <dgm:pt modelId="{88DBC881-0983-4C91-8705-CB8A16D50941}" type="pres">
      <dgm:prSet presAssocID="{BA2E5375-FD77-47B4-A888-7387932E6D62}" presName="vert1" presStyleCnt="0"/>
      <dgm:spPr/>
    </dgm:pt>
  </dgm:ptLst>
  <dgm:cxnLst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C10A2E97-40D9-4123-9647-358E1A64D6C9}" srcId="{B64DB52A-CA4F-4852-B41E-6A1F43CC58F9}" destId="{51474CA9-1ADD-4331-9534-6780C3A18768}" srcOrd="4" destOrd="0" parTransId="{BD15203B-A2C4-421B-84CE-AC22CC6E237F}" sibTransId="{5FA359DE-6932-424A-BDE2-579D3E29B33A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285F19B7-0DE6-4516-940F-56080AC841F9}" srcId="{B64DB52A-CA4F-4852-B41E-6A1F43CC58F9}" destId="{BA2E5375-FD77-47B4-A888-7387932E6D62}" srcOrd="5" destOrd="0" parTransId="{9F77997F-5AC0-4D93-89AC-B37B7BDB43EF}" sibTransId="{60B3BF56-C21F-456B-A5AC-F5C3D1CA9305}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756128BB-C4DC-4393-B675-5254AFA32CFD}" srcId="{B64DB52A-CA4F-4852-B41E-6A1F43CC58F9}" destId="{22142A0A-218A-4731-82F7-392977EDB62C}" srcOrd="3" destOrd="0" parTransId="{129074F3-A64E-4923-9869-1E59972AC3CB}" sibTransId="{E9C94348-17C8-4DE4-8BE3-5ABE4E5801D3}"/>
    <dgm:cxn modelId="{37CE748F-9352-45F7-94F5-048B83CA383F}" type="presOf" srcId="{22142A0A-218A-4731-82F7-392977EDB62C}" destId="{B34D7E92-9BF5-476B-9192-9DA24E3CA3EF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AF11D331-605D-435C-9985-55D7979D74A6}" type="presParOf" srcId="{573103A9-89AC-4873-8CB5-0F4B7370B2E1}" destId="{B138FC3C-26E4-427B-B48B-1298D9547C77}" srcOrd="6" destOrd="0" presId="urn:microsoft.com/office/officeart/2008/layout/LinedList"/>
    <dgm:cxn modelId="{E7DE6C1B-2864-4993-80AD-264BB16020C9}" type="presParOf" srcId="{573103A9-89AC-4873-8CB5-0F4B7370B2E1}" destId="{9E6CD10F-6301-496B-B5BB-5DA2D09EC12A}" srcOrd="7" destOrd="0" presId="urn:microsoft.com/office/officeart/2008/layout/LinedList"/>
    <dgm:cxn modelId="{BB56886E-F366-4134-8043-9063C5F91EBB}" type="presParOf" srcId="{9E6CD10F-6301-496B-B5BB-5DA2D09EC12A}" destId="{B34D7E92-9BF5-476B-9192-9DA24E3CA3EF}" srcOrd="0" destOrd="0" presId="urn:microsoft.com/office/officeart/2008/layout/LinedList"/>
    <dgm:cxn modelId="{6AE51E94-16FD-402A-AEE0-63A5481B5AAA}" type="presParOf" srcId="{9E6CD10F-6301-496B-B5BB-5DA2D09EC12A}" destId="{A6655E90-B157-417E-AD04-0C413ACFCD6E}" srcOrd="1" destOrd="0" presId="urn:microsoft.com/office/officeart/2008/layout/LinedList"/>
    <dgm:cxn modelId="{0B8319B9-A001-4929-BF67-CFB04FA16945}" type="presParOf" srcId="{573103A9-89AC-4873-8CB5-0F4B7370B2E1}" destId="{B514687E-679F-4404-A929-C733AA004539}" srcOrd="8" destOrd="0" presId="urn:microsoft.com/office/officeart/2008/layout/LinedList"/>
    <dgm:cxn modelId="{257188D6-0003-435E-A862-DB1729B0A2C3}" type="presParOf" srcId="{573103A9-89AC-4873-8CB5-0F4B7370B2E1}" destId="{80414A13-977F-40A0-BF88-8AEFF7DE361E}" srcOrd="9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DEAB5A35-1128-4DEF-AE18-D024423701D7}" type="presParOf" srcId="{573103A9-89AC-4873-8CB5-0F4B7370B2E1}" destId="{0B062B2C-FD23-461E-89A1-3ECDF7A567C2}" srcOrd="10" destOrd="0" presId="urn:microsoft.com/office/officeart/2008/layout/LinedList"/>
    <dgm:cxn modelId="{055AE2A9-59D6-49A8-A0DB-1D091F45E10E}" type="presParOf" srcId="{573103A9-89AC-4873-8CB5-0F4B7370B2E1}" destId="{1BF4D050-06E8-4B19-AEB8-E6957BD50750}" srcOrd="11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2444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2444"/>
          <a:ext cx="6900512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1 </a:t>
          </a:r>
          <a:r>
            <a:rPr lang="en-GB" sz="2100" kern="1200" dirty="0" smtClean="0"/>
            <a:t>Introduction to Performance Metrics and its types</a:t>
          </a:r>
          <a:endParaRPr lang="en-IN" sz="2100" kern="1200" dirty="0" smtClean="0"/>
        </a:p>
      </dsp:txBody>
      <dsp:txXfrm>
        <a:off x="0" y="2444"/>
        <a:ext cx="6900512" cy="833416"/>
      </dsp:txXfrm>
    </dsp:sp>
    <dsp:sp modelId="{F83A5B86-9D43-4C81-A6D4-87875817B689}">
      <dsp:nvSpPr>
        <dsp:cNvPr id="0" name=""/>
        <dsp:cNvSpPr/>
      </dsp:nvSpPr>
      <dsp:spPr>
        <a:xfrm>
          <a:off x="0" y="83586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835860"/>
          <a:ext cx="6900512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2 </a:t>
          </a:r>
          <a:r>
            <a:rPr lang="en-IN" sz="2100" kern="1200" dirty="0" smtClean="0"/>
            <a:t>Activity-1</a:t>
          </a:r>
          <a:endParaRPr lang="en-IN" sz="2100" kern="1200" dirty="0" smtClean="0"/>
        </a:p>
      </dsp:txBody>
      <dsp:txXfrm>
        <a:off x="0" y="835860"/>
        <a:ext cx="6900512" cy="833416"/>
      </dsp:txXfrm>
    </dsp:sp>
    <dsp:sp modelId="{7EE56E18-6978-43E9-9D4D-E31AA5BEE441}">
      <dsp:nvSpPr>
        <dsp:cNvPr id="0" name=""/>
        <dsp:cNvSpPr/>
      </dsp:nvSpPr>
      <dsp:spPr>
        <a:xfrm>
          <a:off x="0" y="166927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1669277"/>
          <a:ext cx="6900512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3 </a:t>
          </a:r>
          <a:r>
            <a:rPr lang="en-GB" sz="2100" kern="1200" dirty="0" smtClean="0"/>
            <a:t>Key Formulas and Concept (MAE, MSE,  </a:t>
          </a:r>
        </a:p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dirty="0" smtClean="0"/>
            <a:t>  R², Accuracy, Precision, Recall, F1)</a:t>
          </a:r>
          <a:endParaRPr lang="en-IN" sz="2100" kern="1200" dirty="0" smtClean="0"/>
        </a:p>
      </dsp:txBody>
      <dsp:txXfrm>
        <a:off x="0" y="1669277"/>
        <a:ext cx="6900512" cy="833416"/>
      </dsp:txXfrm>
    </dsp:sp>
    <dsp:sp modelId="{B138FC3C-26E4-427B-B48B-1298D9547C77}">
      <dsp:nvSpPr>
        <dsp:cNvPr id="0" name=""/>
        <dsp:cNvSpPr/>
      </dsp:nvSpPr>
      <dsp:spPr>
        <a:xfrm>
          <a:off x="0" y="2502693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D7E92-9BF5-476B-9192-9DA24E3CA3EF}">
      <dsp:nvSpPr>
        <dsp:cNvPr id="0" name=""/>
        <dsp:cNvSpPr/>
      </dsp:nvSpPr>
      <dsp:spPr>
        <a:xfrm>
          <a:off x="0" y="2502694"/>
          <a:ext cx="6900512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>
              <a:solidFill>
                <a:schemeClr val="tx1"/>
              </a:solidFill>
            </a:rPr>
            <a:t>4 Applications and Visual tools</a:t>
          </a:r>
        </a:p>
      </dsp:txBody>
      <dsp:txXfrm>
        <a:off x="0" y="2502694"/>
        <a:ext cx="6900512" cy="833416"/>
      </dsp:txXfrm>
    </dsp:sp>
    <dsp:sp modelId="{B514687E-679F-4404-A929-C733AA004539}">
      <dsp:nvSpPr>
        <dsp:cNvPr id="0" name=""/>
        <dsp:cNvSpPr/>
      </dsp:nvSpPr>
      <dsp:spPr>
        <a:xfrm>
          <a:off x="0" y="3336110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3336110"/>
          <a:ext cx="6900512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5 </a:t>
          </a:r>
          <a:r>
            <a:rPr lang="en-IN" sz="2100" kern="1200" dirty="0" smtClean="0"/>
            <a:t>Activity-2 (Quiz on Wooflash)</a:t>
          </a:r>
          <a:endParaRPr lang="en-US" sz="2100" kern="1200" dirty="0"/>
        </a:p>
      </dsp:txBody>
      <dsp:txXfrm>
        <a:off x="0" y="3336110"/>
        <a:ext cx="6900512" cy="833416"/>
      </dsp:txXfrm>
    </dsp:sp>
    <dsp:sp modelId="{0B062B2C-FD23-461E-89A1-3ECDF7A567C2}">
      <dsp:nvSpPr>
        <dsp:cNvPr id="0" name=""/>
        <dsp:cNvSpPr/>
      </dsp:nvSpPr>
      <dsp:spPr>
        <a:xfrm>
          <a:off x="0" y="4169527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4169527"/>
          <a:ext cx="6900512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6 </a:t>
          </a:r>
          <a:r>
            <a:rPr lang="en-IN" sz="2100" kern="1200" dirty="0" smtClean="0"/>
            <a:t>Review and Reflections</a:t>
          </a:r>
        </a:p>
      </dsp:txBody>
      <dsp:txXfrm>
        <a:off x="0" y="4169527"/>
        <a:ext cx="6900512" cy="8334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909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214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59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2384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9CA9-9F3B-4A67-AA5B-380C2E962F57}" type="datetime1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E24EB-C078-453E-A5F4-DA2F118A2A26}" type="datetime1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46ED3-6FB5-4426-B6E0-C357CB782AF9}" type="datetime1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4000F-6201-47BB-A50B-7BAE86D72D0D}" type="datetime1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7548-90A8-4FC5-8AF7-32616E53B716}" type="datetime1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F728-F3A7-4030-BFA9-C0ABD6F394F8}" type="datetime1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9340-312C-4067-B50B-54D5B75F9787}" type="datetime1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44EE8-4528-4E7F-843F-1F3A5B6D1288}" type="datetime1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F263-77B2-4236-829B-9DD205DEFB29}" type="datetime1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10F1-B85C-4BC0-9594-8A9516063496}" type="datetime1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DE56-AEF4-4519-A894-45112657A480}" type="datetime1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CC16F-BE35-4CB2-9DC2-D0AB6F2AB815}" type="datetime1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smtClean="0"/>
              <a:t>Galgotias-Student Centered Active Learning Ecosystem &amp; Date 14-08-2026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8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GB" sz="3600" b="1" dirty="0">
                <a:latin typeface="Calibri" panose="020F0502020204030204" pitchFamily="34" charset="0"/>
                <a:cs typeface="Calibri" panose="020F0502020204030204" pitchFamily="34" charset="0"/>
              </a:rPr>
              <a:t>Performance metrics </a:t>
            </a: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4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4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Session No.: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04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Name: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Machine Learning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R1UC525B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Instructor Name: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Dr. Sivakumar 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Madeshwaran</a:t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Duration: 50 Minutes</a:t>
            </a:r>
            <a:b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Date of Conduction of Class: </a:t>
            </a:r>
            <a:r>
              <a:rPr lang="en-US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14-08-2026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en-IN" sz="4800" b="1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622C87D-66F3-E0F4-0306-4C9A87A52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8ED013E-C79F-88E6-C380-BA222F110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sp>
        <p:nvSpPr>
          <p:cNvPr id="10" name="Google Shape;97;p11"/>
          <p:cNvSpPr txBox="1">
            <a:spLocks/>
          </p:cNvSpPr>
          <p:nvPr/>
        </p:nvSpPr>
        <p:spPr>
          <a:xfrm>
            <a:off x="4190902" y="176754"/>
            <a:ext cx="2624236" cy="699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3200"/>
            </a:pPr>
            <a:r>
              <a:rPr lang="en-US" sz="2800" b="1" dirty="0" smtClean="0">
                <a:latin typeface="Arial"/>
                <a:ea typeface="Arial"/>
                <a:cs typeface="Arial"/>
                <a:sym typeface="Arial"/>
              </a:rPr>
              <a:t>Recap</a:t>
            </a:r>
            <a:endParaRPr lang="en-US"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EC3368AE-41C6-1C8C-1CBD-5C39D43A69E6}"/>
              </a:ext>
            </a:extLst>
          </p:cNvPr>
          <p:cNvSpPr txBox="1"/>
          <p:nvPr/>
        </p:nvSpPr>
        <p:spPr>
          <a:xfrm>
            <a:off x="628650" y="867686"/>
            <a:ext cx="1100464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Applications of ML Life Cycle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ML is used in healthcare (diagnosis, drug discovery), finance (fraud detection), retail (recommendation systems), and manufacturing (predictive maintenance).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Core phases: </a:t>
            </a:r>
            <a:r>
              <a:rPr lang="en-US" dirty="0"/>
              <a:t>Data Collection → Preprocessing → Model Building → Evaluation → Deployment &amp; Monitoring.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Continuous improvement through feedback and retraining is essential.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History of ML: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1950s: </a:t>
            </a:r>
            <a:r>
              <a:rPr lang="en-US" dirty="0"/>
              <a:t>Early concepts (Turing Test, Checkers-playing program by Arthur Samuel).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1958: </a:t>
            </a:r>
            <a:r>
              <a:rPr lang="en-US" dirty="0"/>
              <a:t>Perceptron introduced by Frank Rosenblatt.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1980s–1990s: </a:t>
            </a:r>
            <a:r>
              <a:rPr lang="en-US" dirty="0"/>
              <a:t>Rise of neural networks, decision trees, and SVMs.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2010s: </a:t>
            </a:r>
            <a:r>
              <a:rPr lang="en-US" dirty="0"/>
              <a:t>Deep learning revolution (</a:t>
            </a:r>
            <a:r>
              <a:rPr lang="en-US" dirty="0" err="1"/>
              <a:t>AlexNet</a:t>
            </a:r>
            <a:r>
              <a:rPr lang="en-US" dirty="0"/>
              <a:t>, GPT, transformers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Reflect on the responses of post session activity</a:t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="" xmlns:a16="http://schemas.microsoft.com/office/drawing/2014/main" id="{B5812380-04B5-06B6-8506-DF79A9EFA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698757"/>
            <a:ext cx="6780700" cy="3458156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CE23A4A-5CE7-2BA1-E1C7-649A5669B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53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Magnifying glass on clear background"/>
          <p:cNvPicPr preferRelativeResize="0"/>
          <p:nvPr/>
        </p:nvPicPr>
        <p:blipFill rotWithShape="1">
          <a:blip r:embed="rId3">
            <a:alphaModFix/>
          </a:blip>
          <a:srcRect l="8345" r="7282" b="-1"/>
          <a:stretch/>
        </p:blipFill>
        <p:spPr>
          <a:xfrm>
            <a:off x="3931920" y="10"/>
            <a:ext cx="82600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481028" y="1101601"/>
            <a:ext cx="10872771" cy="115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Clr>
                <a:schemeClr val="lt1"/>
              </a:buClr>
              <a:buSzPts val="4000"/>
            </a:pPr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“How can we know whether a Machine Learning model is performing well?”</a:t>
            </a:r>
            <a:endParaRPr sz="40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6" name="Google Shape;106;p2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09" name="Google Shape;109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A49C41D1-93F9-4F00-A7D0-D86EB0FE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28888" y="6356350"/>
            <a:ext cx="7300912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5D34F9C-1388-82D8-8D48-0BF8C51BEFDE}"/>
              </a:ext>
            </a:extLst>
          </p:cNvPr>
          <p:cNvSpPr txBox="1"/>
          <p:nvPr/>
        </p:nvSpPr>
        <p:spPr>
          <a:xfrm>
            <a:off x="4519397" y="405155"/>
            <a:ext cx="519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15" name="Google Shape;162;p4" descr="What is an Emoji? - Answered - Twinkl ..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591" y="2728662"/>
            <a:ext cx="2023877" cy="1742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9224" y="3041429"/>
            <a:ext cx="244792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Magnifying glass on clear background"/>
          <p:cNvPicPr preferRelativeResize="0"/>
          <p:nvPr/>
        </p:nvPicPr>
        <p:blipFill rotWithShape="1">
          <a:blip r:embed="rId3">
            <a:alphaModFix/>
          </a:blip>
          <a:srcRect l="8345" r="7282" b="-1"/>
          <a:stretch/>
        </p:blipFill>
        <p:spPr>
          <a:xfrm>
            <a:off x="3931920" y="10"/>
            <a:ext cx="82600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09" name="Google Shape;109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A49C41D1-93F9-4F00-A7D0-D86EB0FE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28888" y="6356350"/>
            <a:ext cx="7300912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5D34F9C-1388-82D8-8D48-0BF8C51BEFDE}"/>
              </a:ext>
            </a:extLst>
          </p:cNvPr>
          <p:cNvSpPr txBox="1"/>
          <p:nvPr/>
        </p:nvSpPr>
        <p:spPr>
          <a:xfrm>
            <a:off x="4005498" y="208109"/>
            <a:ext cx="679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 -Reflections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32" y="1130740"/>
            <a:ext cx="11528366" cy="522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At the end of this session students will be able to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" name="Google Shape;131;p4"/>
          <p:cNvGrpSpPr/>
          <p:nvPr/>
        </p:nvGrpSpPr>
        <p:grpSpPr>
          <a:xfrm>
            <a:off x="336080" y="2417848"/>
            <a:ext cx="11519840" cy="3689404"/>
            <a:chOff x="-296006" y="0"/>
            <a:chExt cx="11519840" cy="3689404"/>
          </a:xfrm>
        </p:grpSpPr>
        <p:sp>
          <p:nvSpPr>
            <p:cNvPr id="132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-247379" y="48627"/>
              <a:ext cx="920452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32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Explain the importance of performance metrics in evaluating machine learning models</a:t>
              </a:r>
              <a:endParaRPr lang="en-GB" sz="2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1983806" y="2077799"/>
              <a:ext cx="9240027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</a:t>
              </a:r>
              <a:r>
                <a:rPr lang="en-IN" sz="28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</a:t>
              </a:r>
              <a:r>
                <a:rPr lang="en-GB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Compute and interpret key metrics (MAE, MSE, R², Accuracy, Precision, Recall, F1) using real dataset examples</a:t>
              </a:r>
              <a:endParaRPr lang="en-GB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8466195" y="1025289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8748318" y="131129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0" name="Google Shape;140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92F137E6-A257-43E9-85A6-31EF956DF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67265" y="6356350"/>
            <a:ext cx="7133947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14-08-2026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99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A1553B-A216-73BB-FAAB-1FF7D4C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Session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41A9FE4B-6F20-1C22-6353-F1166E69B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2667799"/>
              </p:ext>
            </p:extLst>
          </p:nvPr>
        </p:nvGraphicFramePr>
        <p:xfrm>
          <a:off x="4305118" y="1218583"/>
          <a:ext cx="6900512" cy="5005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24FF57-302B-97C8-BD3F-550746DA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A4DDE187-E81D-B835-E4CD-A2B8788BFA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53114F5-F06B-4D82-5258-AB40ED145D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55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51806" y="245794"/>
            <a:ext cx="575552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overview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79376" y="708650"/>
            <a:ext cx="11233248" cy="5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  <a:r>
              <a:rPr kumimoji="0" 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numerical measures used to answer one important question: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“How well is my Machine Learning model performing?”</a:t>
            </a:r>
            <a:endParaRPr kumimoji="0" 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a model predicts whether a patient has a disease, we need to measure whether its predictions are correct.</a:t>
            </a:r>
          </a:p>
          <a:p>
            <a:r>
              <a:rPr lang="en-GB" sz="1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Points </a:t>
            </a:r>
            <a:endParaRPr lang="en-GB" sz="19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give us 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a model.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the model correctly predicts 95 out of 100 cases. </a:t>
            </a:r>
          </a:p>
          <a:p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unseen-data performance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model should perform well not only on training data but also on 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new/unseen data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in model selection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allow us to compare different </a:t>
            </a:r>
            <a:r>
              <a:rPr lang="en-GB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Model A has 90% accuracy and Model B has 96%, Model B may be better—depending on the problem and other metrics. </a:t>
            </a:r>
          </a:p>
          <a:p>
            <a:r>
              <a:rPr lang="en-GB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 to </a:t>
            </a: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model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</a:t>
            </a:r>
            <a:r>
              <a:rPr lang="en-GB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 model is making mistakes.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then change the algorithm, features, or parameters to improve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48598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51806" y="245794"/>
            <a:ext cx="575552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overview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14375" y="1066476"/>
            <a:ext cx="10918923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vs. Regression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metric depends on the type of ML problem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791202"/>
            <a:ext cx="10522608" cy="150584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57226" y="3344663"/>
            <a:ext cx="109189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Example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an ML model predicts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a patient has a disease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important types of mistakes: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says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 patient is actually healthy.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says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 patient actually has the disease.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medical applications,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a real disease (False Negative)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much more serious than giving a false alarm. Therefore,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alone may not be sufficient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metrics such as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Recall, Precision, and F1-score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 important.</a:t>
            </a:r>
          </a:p>
        </p:txBody>
      </p:sp>
    </p:spTree>
    <p:extLst>
      <p:ext uri="{BB962C8B-B14F-4D97-AF65-F5344CB8AC3E}">
        <p14:creationId xmlns:p14="http://schemas.microsoft.com/office/powerpoint/2010/main" val="140212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51806" y="98684"/>
            <a:ext cx="57555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</a:t>
            </a:r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used for regression models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  <p:sp>
        <p:nvSpPr>
          <p:cNvPr id="10" name="Google Shape;171;p8"/>
          <p:cNvSpPr txBox="1"/>
          <p:nvPr/>
        </p:nvSpPr>
        <p:spPr>
          <a:xfrm>
            <a:off x="696286" y="918766"/>
            <a:ext cx="10799428" cy="5401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300" b="1" dirty="0" smtClean="0"/>
              <a:t>1. Mean Absolute Error (MAE)</a:t>
            </a:r>
          </a:p>
          <a:p>
            <a:r>
              <a:rPr lang="en-GB" sz="2300" b="1" dirty="0"/>
              <a:t>Formula:</a:t>
            </a:r>
            <a:endParaRPr lang="en-GB" sz="2300" dirty="0"/>
          </a:p>
          <a:p>
            <a:endParaRPr lang="en-GB" sz="23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300" dirty="0" smtClean="0"/>
              <a:t>Measures </a:t>
            </a:r>
            <a:r>
              <a:rPr lang="en-GB" sz="2300" dirty="0"/>
              <a:t>the </a:t>
            </a:r>
            <a:r>
              <a:rPr lang="en-GB" sz="2300" b="1" dirty="0"/>
              <a:t>average absolute difference</a:t>
            </a:r>
            <a:r>
              <a:rPr lang="en-GB" sz="2300" dirty="0"/>
              <a:t> between actual and predicted values.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300" b="1" dirty="0"/>
              <a:t>Lower MAE = better model.</a:t>
            </a:r>
            <a:r>
              <a:rPr lang="en-GB" sz="23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300" dirty="0"/>
              <a:t>It is easy to understand because it uses the </a:t>
            </a:r>
            <a:r>
              <a:rPr lang="en-GB" sz="2300" b="1" dirty="0"/>
              <a:t>same units as the target</a:t>
            </a:r>
            <a:r>
              <a:rPr lang="en-GB" sz="2300" dirty="0"/>
              <a:t>. </a:t>
            </a:r>
          </a:p>
          <a:p>
            <a:r>
              <a:rPr lang="en-GB" sz="2300" b="1" dirty="0" smtClean="0"/>
              <a:t>Example:</a:t>
            </a:r>
            <a:endParaRPr lang="en-GB" sz="23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300" dirty="0" smtClean="0"/>
              <a:t>Actual </a:t>
            </a:r>
            <a:r>
              <a:rPr lang="en-GB" sz="2300" dirty="0"/>
              <a:t>house </a:t>
            </a:r>
            <a:r>
              <a:rPr lang="en-GB" sz="2300" dirty="0" smtClean="0"/>
              <a:t>price </a:t>
            </a:r>
            <a:r>
              <a:rPr lang="en-GB" sz="2300" dirty="0"/>
              <a:t>= ₹50 </a:t>
            </a:r>
            <a:r>
              <a:rPr lang="en-GB" sz="2300" dirty="0" smtClean="0"/>
              <a:t>lakh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300" dirty="0" smtClean="0"/>
              <a:t>Predicted </a:t>
            </a:r>
            <a:r>
              <a:rPr lang="en-GB" sz="2300" dirty="0"/>
              <a:t>price = ₹48 </a:t>
            </a:r>
            <a:r>
              <a:rPr lang="en-GB" sz="2300" dirty="0" smtClean="0"/>
              <a:t>lakh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300" dirty="0" smtClean="0"/>
              <a:t>Error </a:t>
            </a:r>
            <a:r>
              <a:rPr lang="en-GB" sz="2300" dirty="0"/>
              <a:t>= ₹2 lakh.</a:t>
            </a:r>
          </a:p>
          <a:p>
            <a:r>
              <a:rPr lang="en-GB" sz="2300" dirty="0"/>
              <a:t>If the average error is ₹2 lakh, then </a:t>
            </a:r>
            <a:r>
              <a:rPr lang="en-GB" sz="2300" b="1" dirty="0"/>
              <a:t>MAE = ₹2 lakh</a:t>
            </a:r>
            <a:r>
              <a:rPr lang="en-GB" sz="2300" dirty="0"/>
              <a:t>.</a:t>
            </a:r>
          </a:p>
          <a:p>
            <a:r>
              <a:rPr lang="en-GB" sz="2300" b="1" dirty="0" smtClean="0"/>
              <a:t>Think</a:t>
            </a:r>
            <a:r>
              <a:rPr lang="en-GB" sz="2300" b="1" dirty="0"/>
              <a:t>:</a:t>
            </a:r>
            <a:r>
              <a:rPr lang="en-GB" sz="2300" dirty="0"/>
              <a:t> </a:t>
            </a:r>
            <a:r>
              <a:rPr lang="en-GB" sz="2300" i="1" dirty="0"/>
              <a:t>“On average, how far is my prediction from the actual value?”</a:t>
            </a:r>
            <a:endParaRPr lang="en-GB" sz="23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295" y="949690"/>
            <a:ext cx="3257550" cy="11239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857" y="3853795"/>
            <a:ext cx="402907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2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sp>
        <p:nvSpPr>
          <p:cNvPr id="11" name="Google Shape;190;p30"/>
          <p:cNvSpPr txBox="1">
            <a:spLocks/>
          </p:cNvSpPr>
          <p:nvPr/>
        </p:nvSpPr>
        <p:spPr>
          <a:xfrm>
            <a:off x="632706" y="1066476"/>
            <a:ext cx="11000591" cy="50778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algn="just">
              <a:lnSpc>
                <a:spcPct val="110000"/>
              </a:lnSpc>
              <a:buSzPct val="75630"/>
            </a:pPr>
            <a:r>
              <a:rPr lang="en-GB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Mean Squared Error (MSE</a:t>
            </a:r>
            <a:r>
              <a:rPr lang="en-GB" sz="2200" b="1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GB" sz="2000" b="1" dirty="0"/>
              <a:t>Formula</a:t>
            </a:r>
            <a:r>
              <a:rPr lang="en-GB" sz="2000" b="1" dirty="0" smtClean="0"/>
              <a:t>:</a:t>
            </a:r>
          </a:p>
          <a:p>
            <a:pPr algn="l"/>
            <a:endParaRPr lang="en-GB" sz="2000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sz="2000" dirty="0" smtClean="0"/>
              <a:t>Calculates </a:t>
            </a:r>
            <a:r>
              <a:rPr lang="en-GB" sz="2000" dirty="0"/>
              <a:t>the errors and </a:t>
            </a:r>
            <a:r>
              <a:rPr lang="en-GB" sz="2000" b="1" dirty="0"/>
              <a:t>squares them</a:t>
            </a:r>
            <a:r>
              <a:rPr lang="en-GB" sz="2000" dirty="0"/>
              <a:t>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sz="2000" dirty="0"/>
              <a:t>Large errors receive a </a:t>
            </a:r>
            <a:r>
              <a:rPr lang="en-GB" sz="2000" b="1" dirty="0"/>
              <a:t>much higher penalty</a:t>
            </a:r>
            <a:r>
              <a:rPr lang="en-GB" sz="2000" dirty="0"/>
              <a:t>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sz="2000" b="1" dirty="0"/>
              <a:t>Lower MSE = better model.</a:t>
            </a:r>
            <a:r>
              <a:rPr lang="en-GB" sz="2000" dirty="0"/>
              <a:t> </a:t>
            </a:r>
          </a:p>
          <a:p>
            <a:pPr algn="l"/>
            <a:r>
              <a:rPr lang="en-GB" sz="2000" b="1" dirty="0"/>
              <a:t>Example:</a:t>
            </a:r>
            <a:endParaRPr lang="en-GB" sz="2000" dirty="0"/>
          </a:p>
          <a:p>
            <a:pPr algn="l"/>
            <a:r>
              <a:rPr lang="en-GB" sz="2000" dirty="0"/>
              <a:t>Errors = 2, 3, 10</a:t>
            </a:r>
          </a:p>
          <a:p>
            <a:pPr algn="l"/>
            <a:r>
              <a:rPr lang="en-GB" sz="2000" b="1" dirty="0"/>
              <a:t>Squared errors:</a:t>
            </a:r>
          </a:p>
          <a:p>
            <a:pPr algn="l"/>
            <a:r>
              <a:rPr lang="en-GB" sz="2000" dirty="0" smtClean="0"/>
              <a:t> </a:t>
            </a:r>
          </a:p>
          <a:p>
            <a:pPr algn="l"/>
            <a:r>
              <a:rPr lang="en-GB" sz="2000" dirty="0" smtClean="0"/>
              <a:t>The </a:t>
            </a:r>
            <a:r>
              <a:rPr lang="en-GB" sz="2000" dirty="0"/>
              <a:t>error of 10 becomes </a:t>
            </a:r>
            <a:r>
              <a:rPr lang="en-GB" sz="2000" b="1" dirty="0"/>
              <a:t>100</a:t>
            </a:r>
            <a:r>
              <a:rPr lang="en-GB" sz="2000" dirty="0"/>
              <a:t>, so MSE strongly penalizes large mistakes.</a:t>
            </a:r>
          </a:p>
          <a:p>
            <a:pPr algn="l"/>
            <a:r>
              <a:rPr lang="en-GB" sz="2000" b="1" dirty="0" smtClean="0"/>
              <a:t>Think</a:t>
            </a:r>
            <a:r>
              <a:rPr lang="en-GB" sz="2000" b="1" dirty="0"/>
              <a:t>:</a:t>
            </a:r>
            <a:r>
              <a:rPr lang="en-GB" sz="2000" dirty="0"/>
              <a:t> </a:t>
            </a:r>
            <a:r>
              <a:rPr lang="en-GB" sz="2000" i="1" dirty="0"/>
              <a:t>“Are there any very large prediction errors?”</a:t>
            </a:r>
            <a:endParaRPr lang="en-GB" sz="2000" dirty="0"/>
          </a:p>
          <a:p>
            <a:pPr marL="114300" algn="l">
              <a:lnSpc>
                <a:spcPct val="110000"/>
              </a:lnSpc>
              <a:buSzPct val="75630"/>
            </a:pPr>
            <a:endParaRPr lang="en-GB" sz="2200" b="1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algn="just">
              <a:lnSpc>
                <a:spcPct val="110000"/>
              </a:lnSpc>
              <a:buSzPct val="75630"/>
            </a:pPr>
            <a:endParaRPr lang="en-US" sz="22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51806" y="98684"/>
            <a:ext cx="57555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</a:t>
            </a:r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used for regression models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1600199"/>
            <a:ext cx="2609850" cy="885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757" y="4447736"/>
            <a:ext cx="3174206" cy="75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4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Google Shape;190;p30"/>
              <p:cNvSpPr txBox="1">
                <a:spLocks/>
              </p:cNvSpPr>
              <p:nvPr/>
            </p:nvSpPr>
            <p:spPr>
              <a:xfrm>
                <a:off x="632706" y="1066476"/>
                <a:ext cx="11000591" cy="50778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000" b="1" dirty="0" smtClean="0"/>
                  <a:t>3. Root Mean Squared Error (RMSE)</a:t>
                </a:r>
              </a:p>
              <a:p>
                <a:pPr algn="l"/>
                <a:r>
                  <a:rPr lang="en-GB" sz="2000" b="1" dirty="0" smtClean="0"/>
                  <a:t>Formula:  RMSE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𝑴𝑺𝑬</m:t>
                        </m:r>
                      </m:e>
                    </m:rad>
                  </m:oMath>
                </a14:m>
                <a:endParaRPr lang="en-GB" sz="2200" b="1" dirty="0" smtClean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algn="l"/>
                <a:r>
                  <a:rPr lang="en-GB" sz="2000" dirty="0"/>
                  <a:t>RMSE is simply the </a:t>
                </a:r>
                <a:r>
                  <a:rPr lang="en-GB" sz="2000" b="1" dirty="0"/>
                  <a:t>square root of MSE</a:t>
                </a:r>
                <a:r>
                  <a:rPr lang="en-GB" sz="2000" dirty="0"/>
                  <a:t>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GB" sz="2000" dirty="0"/>
                  <a:t>Like MSE, it gives more importance to large errors. 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GB" sz="2000" dirty="0"/>
                  <a:t>Unlike MSE, RMSE is expressed in the </a:t>
                </a:r>
                <a:r>
                  <a:rPr lang="en-GB" sz="2000" b="1" dirty="0"/>
                  <a:t>same units as the target value</a:t>
                </a:r>
                <a:r>
                  <a:rPr lang="en-GB" sz="2000" dirty="0"/>
                  <a:t>. 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GB" sz="2000" b="1" dirty="0"/>
                  <a:t>Lower RMSE = better model.</a:t>
                </a:r>
                <a:r>
                  <a:rPr lang="en-GB" sz="2000" dirty="0"/>
                  <a:t> </a:t>
                </a:r>
              </a:p>
              <a:p>
                <a:pPr algn="l"/>
                <a:r>
                  <a:rPr lang="en-GB" sz="2000" b="1" dirty="0"/>
                  <a:t>Example:</a:t>
                </a:r>
                <a:r>
                  <a:rPr lang="en-GB" sz="2000" dirty="0"/>
                  <a:t/>
                </a:r>
                <a:br>
                  <a:rPr lang="en-GB" sz="2000" dirty="0"/>
                </a:br>
                <a:r>
                  <a:rPr lang="en-GB" sz="2000" dirty="0"/>
                  <a:t>If</a:t>
                </a:r>
                <a:r>
                  <a:rPr lang="en-GB" sz="2000" dirty="0" smtClean="0"/>
                  <a:t>: MSE = 25</a:t>
                </a:r>
              </a:p>
              <a:p>
                <a:pPr algn="l"/>
                <a:r>
                  <a:rPr lang="en-GB" sz="2000" dirty="0" smtClean="0"/>
                  <a:t>THEN RMSE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𝟐𝟓</m:t>
                        </m:r>
                      </m:e>
                    </m:rad>
                  </m:oMath>
                </a14:m>
                <a:r>
                  <a:rPr lang="en-GB" sz="2000" dirty="0" smtClean="0"/>
                  <a:t> = 5</a:t>
                </a:r>
              </a:p>
              <a:p>
                <a:pPr algn="l"/>
                <a:r>
                  <a:rPr lang="en-GB" sz="2000" b="1" dirty="0"/>
                  <a:t>Think:</a:t>
                </a:r>
                <a:r>
                  <a:rPr lang="en-GB" sz="2000" dirty="0"/>
                  <a:t> </a:t>
                </a:r>
                <a:r>
                  <a:rPr lang="en-GB" sz="2000" i="1" dirty="0"/>
                  <a:t>“What is the typical size of my prediction error, while strongly considering large errors?”</a:t>
                </a:r>
                <a:endParaRPr lang="en-GB" sz="2000" dirty="0"/>
              </a:p>
              <a:p>
                <a:pPr marL="114300" algn="just">
                  <a:lnSpc>
                    <a:spcPct val="110000"/>
                  </a:lnSpc>
                  <a:buSzPct val="75630"/>
                </a:pPr>
                <a:endParaRPr lang="en-US" sz="22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Google Shape;190;p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06" y="1066476"/>
                <a:ext cx="11000591" cy="5077838"/>
              </a:xfrm>
              <a:prstGeom prst="rect">
                <a:avLst/>
              </a:prstGeom>
              <a:blipFill rotWithShape="0">
                <a:blip r:embed="rId4"/>
                <a:stretch>
                  <a:fillRect l="-610" r="-9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451806" y="98684"/>
            <a:ext cx="57555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</a:t>
            </a:r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used for regression models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636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sp>
        <p:nvSpPr>
          <p:cNvPr id="11" name="Google Shape;190;p30"/>
          <p:cNvSpPr txBox="1">
            <a:spLocks/>
          </p:cNvSpPr>
          <p:nvPr/>
        </p:nvSpPr>
        <p:spPr>
          <a:xfrm>
            <a:off x="632706" y="1066476"/>
            <a:ext cx="11000591" cy="50778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dirty="0"/>
              <a:t>4. R-Squared (R²)</a:t>
            </a:r>
          </a:p>
          <a:p>
            <a:pPr algn="l"/>
            <a:r>
              <a:rPr lang="en-IN" sz="2000" b="1" dirty="0"/>
              <a:t>Formula</a:t>
            </a:r>
            <a:r>
              <a:rPr lang="en-IN" sz="2000" b="1" dirty="0" smtClean="0"/>
              <a:t>: </a:t>
            </a:r>
          </a:p>
          <a:p>
            <a:endParaRPr lang="en-GB" sz="2000" dirty="0" smtClean="0"/>
          </a:p>
          <a:p>
            <a:pPr algn="l"/>
            <a:r>
              <a:rPr lang="en-GB" sz="2000" dirty="0" smtClean="0"/>
              <a:t>R² </a:t>
            </a:r>
            <a:r>
              <a:rPr lang="en-GB" sz="2000" dirty="0"/>
              <a:t>tells us </a:t>
            </a:r>
            <a:r>
              <a:rPr lang="en-GB" sz="2000" b="1" dirty="0"/>
              <a:t>how much of the variation in the target variable is explained by the model</a:t>
            </a:r>
            <a:r>
              <a:rPr lang="en-GB" sz="2000" dirty="0"/>
              <a:t>.</a:t>
            </a:r>
          </a:p>
          <a:p>
            <a:pPr algn="l"/>
            <a:r>
              <a:rPr lang="en-GB" sz="2000" b="1" dirty="0"/>
              <a:t>For </a:t>
            </a:r>
            <a:r>
              <a:rPr lang="en-GB" sz="2000" b="1" dirty="0" smtClean="0"/>
              <a:t>Example:</a:t>
            </a:r>
          </a:p>
          <a:p>
            <a:pPr algn="l"/>
            <a:r>
              <a:rPr lang="en-GB" sz="2000" b="1" dirty="0"/>
              <a:t>R² = 1.0</a:t>
            </a:r>
            <a:r>
              <a:rPr lang="en-GB" sz="2000" dirty="0"/>
              <a:t> → Perfect prediction </a:t>
            </a:r>
          </a:p>
          <a:p>
            <a:pPr algn="l"/>
            <a:r>
              <a:rPr lang="en-GB" sz="2000" b="1" dirty="0"/>
              <a:t>R² = 0.90</a:t>
            </a:r>
            <a:r>
              <a:rPr lang="en-GB" sz="2000" dirty="0"/>
              <a:t> → Model explains 90% of the variation </a:t>
            </a:r>
          </a:p>
          <a:p>
            <a:pPr algn="l"/>
            <a:r>
              <a:rPr lang="en-GB" sz="2000" b="1" dirty="0"/>
              <a:t>R² = 0.50</a:t>
            </a:r>
            <a:r>
              <a:rPr lang="en-GB" sz="2000" dirty="0"/>
              <a:t> → Model explains 50% of the variation </a:t>
            </a:r>
          </a:p>
          <a:p>
            <a:pPr algn="l"/>
            <a:r>
              <a:rPr lang="en-GB" sz="2000" b="1" dirty="0"/>
              <a:t>R² = 0</a:t>
            </a:r>
            <a:r>
              <a:rPr lang="en-GB" sz="2000" dirty="0"/>
              <a:t> → No improvement over simply predicting the mean </a:t>
            </a:r>
            <a:endParaRPr lang="en-GB" sz="2000" dirty="0" smtClean="0"/>
          </a:p>
          <a:p>
            <a:pPr algn="l"/>
            <a:endParaRPr lang="en-GB" sz="2000" dirty="0"/>
          </a:p>
          <a:p>
            <a:pPr algn="l"/>
            <a:r>
              <a:rPr lang="en-GB" sz="2000" b="1" dirty="0" smtClean="0"/>
              <a:t>Think</a:t>
            </a:r>
            <a:r>
              <a:rPr lang="en-GB" sz="2000" b="1" dirty="0"/>
              <a:t>:</a:t>
            </a:r>
            <a:r>
              <a:rPr lang="en-GB" sz="2000" dirty="0"/>
              <a:t> </a:t>
            </a:r>
            <a:r>
              <a:rPr lang="en-GB" sz="2000" i="1" dirty="0"/>
              <a:t>“How well does my model explain the data?”</a:t>
            </a:r>
            <a:endParaRPr lang="en-GB" sz="2000" dirty="0"/>
          </a:p>
          <a:p>
            <a:pPr algn="l"/>
            <a:endParaRPr lang="en-GB" sz="2000" dirty="0"/>
          </a:p>
          <a:p>
            <a:pPr algn="l"/>
            <a:endParaRPr lang="en-IN" sz="2000" dirty="0"/>
          </a:p>
        </p:txBody>
      </p:sp>
      <p:sp>
        <p:nvSpPr>
          <p:cNvPr id="10" name="Rectangle 9"/>
          <p:cNvSpPr/>
          <p:nvPr/>
        </p:nvSpPr>
        <p:spPr>
          <a:xfrm>
            <a:off x="4451806" y="98684"/>
            <a:ext cx="57555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</a:t>
            </a:r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used for regression models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566" y="1306552"/>
            <a:ext cx="32099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6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sp>
        <p:nvSpPr>
          <p:cNvPr id="11" name="Google Shape;190;p30"/>
          <p:cNvSpPr txBox="1">
            <a:spLocks/>
          </p:cNvSpPr>
          <p:nvPr/>
        </p:nvSpPr>
        <p:spPr>
          <a:xfrm>
            <a:off x="465308" y="1072846"/>
            <a:ext cx="11000591" cy="50778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/>
              <a:t>5. Mean Absolute Percentage Error (MAPE)</a:t>
            </a:r>
          </a:p>
          <a:p>
            <a:pPr algn="l"/>
            <a:r>
              <a:rPr lang="en-GB" sz="2000" dirty="0"/>
              <a:t>MAPE tells us the </a:t>
            </a:r>
            <a:r>
              <a:rPr lang="en-GB" sz="2000" b="1" dirty="0"/>
              <a:t>average prediction error as a percentage</a:t>
            </a:r>
            <a:r>
              <a:rPr lang="en-GB" sz="2000" dirty="0"/>
              <a:t>.</a:t>
            </a:r>
          </a:p>
          <a:p>
            <a:pPr algn="l"/>
            <a:r>
              <a:rPr lang="en-GB" sz="2000" b="1" dirty="0" smtClean="0"/>
              <a:t>Formula</a:t>
            </a:r>
          </a:p>
          <a:p>
            <a:pPr algn="l"/>
            <a:endParaRPr lang="en-GB" sz="2000" b="1" dirty="0"/>
          </a:p>
          <a:p>
            <a:pPr algn="l"/>
            <a:r>
              <a:rPr lang="en-GB" sz="2000" b="1" dirty="0"/>
              <a:t>Here:</a:t>
            </a:r>
          </a:p>
          <a:p>
            <a:pPr algn="l"/>
            <a:r>
              <a:rPr lang="en-GB" sz="2000" dirty="0" err="1"/>
              <a:t>yi</a:t>
            </a:r>
            <a:r>
              <a:rPr lang="en-GB" sz="2000" dirty="0"/>
              <a:t>​ = </a:t>
            </a:r>
            <a:r>
              <a:rPr lang="en-GB" sz="2000" b="1" dirty="0"/>
              <a:t>actual value</a:t>
            </a:r>
            <a:r>
              <a:rPr lang="en-GB" sz="2000" dirty="0"/>
              <a:t> </a:t>
            </a:r>
          </a:p>
          <a:p>
            <a:pPr algn="l"/>
            <a:r>
              <a:rPr lang="en-GB" sz="2000" dirty="0" smtClean="0"/>
              <a:t>​  = </a:t>
            </a:r>
            <a:r>
              <a:rPr lang="en-GB" sz="2000" b="1" dirty="0"/>
              <a:t>predicted value</a:t>
            </a:r>
            <a:r>
              <a:rPr lang="en-GB" sz="2000" dirty="0"/>
              <a:t> </a:t>
            </a:r>
          </a:p>
          <a:p>
            <a:pPr algn="l"/>
            <a:r>
              <a:rPr lang="en-GB" sz="2000" dirty="0"/>
              <a:t>n = number of observations </a:t>
            </a:r>
          </a:p>
          <a:p>
            <a:pPr algn="l"/>
            <a:endParaRPr lang="en-GB" sz="2000" b="1" dirty="0" smtClean="0"/>
          </a:p>
          <a:p>
            <a:pPr algn="l"/>
            <a:endParaRPr lang="en-GB" sz="2000" b="1" dirty="0"/>
          </a:p>
          <a:p>
            <a:pPr algn="l"/>
            <a:endParaRPr lang="en-GB" sz="2000" dirty="0"/>
          </a:p>
          <a:p>
            <a:pPr algn="l"/>
            <a:endParaRPr lang="en-IN" sz="2000" dirty="0"/>
          </a:p>
        </p:txBody>
      </p:sp>
      <p:sp>
        <p:nvSpPr>
          <p:cNvPr id="10" name="Rectangle 9"/>
          <p:cNvSpPr/>
          <p:nvPr/>
        </p:nvSpPr>
        <p:spPr>
          <a:xfrm>
            <a:off x="4451806" y="98684"/>
            <a:ext cx="57555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</a:t>
            </a:r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used for regression models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8731" y="1872906"/>
            <a:ext cx="3486150" cy="1162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08" y="3611765"/>
            <a:ext cx="4286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9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sp>
        <p:nvSpPr>
          <p:cNvPr id="11" name="Google Shape;190;p30"/>
          <p:cNvSpPr txBox="1">
            <a:spLocks/>
          </p:cNvSpPr>
          <p:nvPr/>
        </p:nvSpPr>
        <p:spPr>
          <a:xfrm>
            <a:off x="465308" y="1072846"/>
            <a:ext cx="11000591" cy="50778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/>
              <a:t>Simple Example</a:t>
            </a:r>
          </a:p>
          <a:p>
            <a:pPr algn="l"/>
            <a:r>
              <a:rPr lang="en-GB" sz="2000" dirty="0"/>
              <a:t>Suppose the actual house price is </a:t>
            </a:r>
            <a:r>
              <a:rPr lang="en-GB" sz="2000" b="1" dirty="0"/>
              <a:t>₹50 lakh</a:t>
            </a:r>
            <a:r>
              <a:rPr lang="en-GB" sz="2000" dirty="0"/>
              <a:t> and the predicted price is </a:t>
            </a:r>
            <a:r>
              <a:rPr lang="en-GB" sz="2000" b="1" dirty="0"/>
              <a:t>₹45 lakh</a:t>
            </a:r>
            <a:r>
              <a:rPr lang="en-GB" sz="2000" dirty="0"/>
              <a:t>.</a:t>
            </a:r>
          </a:p>
          <a:p>
            <a:pPr algn="l"/>
            <a:endParaRPr lang="en-GB" sz="2000" b="1" dirty="0"/>
          </a:p>
          <a:p>
            <a:pPr algn="l"/>
            <a:endParaRPr lang="en-GB" sz="2000" dirty="0" smtClean="0"/>
          </a:p>
          <a:p>
            <a:pPr algn="l"/>
            <a:endParaRPr lang="en-GB" sz="2000" dirty="0" smtClean="0"/>
          </a:p>
          <a:p>
            <a:pPr algn="l"/>
            <a:r>
              <a:rPr lang="en-GB" sz="2000" dirty="0" smtClean="0"/>
              <a:t>So</a:t>
            </a:r>
            <a:r>
              <a:rPr lang="en-GB" sz="2000" dirty="0"/>
              <a:t>, the prediction has a </a:t>
            </a:r>
            <a:r>
              <a:rPr lang="en-GB" sz="2000" b="1" dirty="0"/>
              <a:t>10% error</a:t>
            </a:r>
            <a:r>
              <a:rPr lang="en-GB" sz="2000" dirty="0"/>
              <a:t>.</a:t>
            </a:r>
          </a:p>
          <a:p>
            <a:pPr algn="l"/>
            <a:r>
              <a:rPr lang="en-GB" sz="2000" b="1" dirty="0" smtClean="0"/>
              <a:t>Remember:</a:t>
            </a:r>
          </a:p>
          <a:p>
            <a:pPr algn="l"/>
            <a:r>
              <a:rPr lang="en-GB" sz="2000" dirty="0"/>
              <a:t/>
            </a:r>
            <a:br>
              <a:rPr lang="en-GB" sz="2000" dirty="0"/>
            </a:br>
            <a:r>
              <a:rPr lang="en-GB" sz="2000" b="1" dirty="0"/>
              <a:t>MAPE = “On average, how many percent wrong are my predictions?”</a:t>
            </a:r>
            <a:endParaRPr lang="en-GB" sz="2000" dirty="0"/>
          </a:p>
          <a:p>
            <a:pPr algn="l"/>
            <a:r>
              <a:rPr lang="en-GB" sz="2000" b="1" dirty="0"/>
              <a:t>Lower MAPE = better model.</a:t>
            </a:r>
            <a:endParaRPr lang="en-GB" sz="2000" dirty="0"/>
          </a:p>
          <a:p>
            <a:pPr algn="l"/>
            <a:r>
              <a:rPr lang="en-GB" sz="2000" b="1" dirty="0" smtClean="0"/>
              <a:t>Important</a:t>
            </a:r>
            <a:r>
              <a:rPr lang="en-GB" sz="2000" b="1" dirty="0"/>
              <a:t>:</a:t>
            </a:r>
            <a:r>
              <a:rPr lang="en-GB" sz="2000" dirty="0"/>
              <a:t> MAPE becomes problematic when the actual value </a:t>
            </a:r>
            <a:r>
              <a:rPr lang="en-GB" sz="2000" dirty="0" smtClean="0"/>
              <a:t>y​</a:t>
            </a:r>
            <a:r>
              <a:rPr lang="en-GB" sz="2000" baseline="-25000" dirty="0" err="1" smtClean="0"/>
              <a:t>i</a:t>
            </a:r>
            <a:r>
              <a:rPr lang="en-GB" sz="2000" dirty="0" smtClean="0"/>
              <a:t> </a:t>
            </a:r>
            <a:r>
              <a:rPr lang="en-GB" sz="2000" dirty="0"/>
              <a:t>is </a:t>
            </a:r>
            <a:r>
              <a:rPr lang="en-GB" sz="2000" b="1" dirty="0"/>
              <a:t>zero or very close to zero</a:t>
            </a:r>
            <a:r>
              <a:rPr lang="en-GB" sz="2000" dirty="0"/>
              <a:t>, because we divide by y​</a:t>
            </a:r>
            <a:r>
              <a:rPr lang="en-GB" sz="2000" baseline="-25000" dirty="0" err="1" smtClean="0"/>
              <a:t>i</a:t>
            </a:r>
            <a:r>
              <a:rPr lang="en-GB" sz="2000" dirty="0" smtClean="0"/>
              <a:t>​</a:t>
            </a:r>
            <a:r>
              <a:rPr lang="en-GB" sz="2000" dirty="0"/>
              <a:t>.</a:t>
            </a:r>
          </a:p>
          <a:p>
            <a:pPr algn="l"/>
            <a:endParaRPr lang="en-GB" sz="2000" b="1" dirty="0"/>
          </a:p>
          <a:p>
            <a:pPr algn="l"/>
            <a:endParaRPr lang="en-GB" sz="2000" dirty="0"/>
          </a:p>
          <a:p>
            <a:pPr algn="l"/>
            <a:endParaRPr lang="en-IN" sz="2000" dirty="0"/>
          </a:p>
        </p:txBody>
      </p:sp>
      <p:sp>
        <p:nvSpPr>
          <p:cNvPr id="10" name="Rectangle 9"/>
          <p:cNvSpPr/>
          <p:nvPr/>
        </p:nvSpPr>
        <p:spPr>
          <a:xfrm>
            <a:off x="4451806" y="98684"/>
            <a:ext cx="57555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</a:t>
            </a:r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used for regression models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708" y="1890713"/>
            <a:ext cx="3476625" cy="14668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517" y="2043113"/>
            <a:ext cx="348615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9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sp>
        <p:nvSpPr>
          <p:cNvPr id="11" name="Google Shape;190;p30"/>
          <p:cNvSpPr txBox="1">
            <a:spLocks/>
          </p:cNvSpPr>
          <p:nvPr/>
        </p:nvSpPr>
        <p:spPr>
          <a:xfrm>
            <a:off x="465308" y="1072846"/>
            <a:ext cx="11000591" cy="50778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/>
              <a:t>6. Pearson Correlation Coefficient (r)</a:t>
            </a:r>
          </a:p>
          <a:p>
            <a:pPr algn="l"/>
            <a:r>
              <a:rPr lang="en-GB" sz="2000" dirty="0"/>
              <a:t>Pearson's r measures the </a:t>
            </a:r>
            <a:r>
              <a:rPr lang="en-GB" sz="2000" b="1" dirty="0"/>
              <a:t>strength and direction of the linear relationship</a:t>
            </a:r>
            <a:r>
              <a:rPr lang="en-GB" sz="2000" dirty="0"/>
              <a:t> between the actual values and predicted values.</a:t>
            </a:r>
          </a:p>
          <a:p>
            <a:pPr algn="l"/>
            <a:r>
              <a:rPr lang="en-GB" sz="2000" dirty="0"/>
              <a:t>It tells us whether the predictions </a:t>
            </a:r>
            <a:r>
              <a:rPr lang="en-GB" sz="2000" b="1" dirty="0"/>
              <a:t>move in the same direction as the actual values</a:t>
            </a:r>
            <a:r>
              <a:rPr lang="en-GB" sz="2000" dirty="0"/>
              <a:t>.</a:t>
            </a:r>
          </a:p>
          <a:p>
            <a:pPr algn="l"/>
            <a:r>
              <a:rPr lang="en-GB" sz="2000" b="1" dirty="0"/>
              <a:t>Value of r</a:t>
            </a:r>
          </a:p>
          <a:p>
            <a:pPr algn="l"/>
            <a:endParaRPr lang="en-GB" sz="2000" b="1" dirty="0"/>
          </a:p>
          <a:p>
            <a:pPr algn="l"/>
            <a:endParaRPr lang="en-GB" sz="2000" dirty="0"/>
          </a:p>
          <a:p>
            <a:pPr algn="l"/>
            <a:endParaRPr lang="en-IN" sz="2000" dirty="0"/>
          </a:p>
        </p:txBody>
      </p:sp>
      <p:sp>
        <p:nvSpPr>
          <p:cNvPr id="10" name="Rectangle 9"/>
          <p:cNvSpPr/>
          <p:nvPr/>
        </p:nvSpPr>
        <p:spPr>
          <a:xfrm>
            <a:off x="4451806" y="98684"/>
            <a:ext cx="57555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</a:t>
            </a:r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used for regression models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75" y="2843213"/>
            <a:ext cx="2143125" cy="66675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926418"/>
              </p:ext>
            </p:extLst>
          </p:nvPr>
        </p:nvGraphicFramePr>
        <p:xfrm>
          <a:off x="680332" y="3611765"/>
          <a:ext cx="9526994" cy="1463040"/>
        </p:xfrm>
        <a:graphic>
          <a:graphicData uri="http://schemas.openxmlformats.org/drawingml/2006/table">
            <a:tbl>
              <a:tblPr/>
              <a:tblGrid>
                <a:gridCol w="4763497"/>
                <a:gridCol w="4763497"/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r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+1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Perfect positive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 linear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−1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Perfect negative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640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sp>
        <p:nvSpPr>
          <p:cNvPr id="11" name="Google Shape;190;p30"/>
          <p:cNvSpPr txBox="1">
            <a:spLocks/>
          </p:cNvSpPr>
          <p:nvPr/>
        </p:nvSpPr>
        <p:spPr>
          <a:xfrm>
            <a:off x="465308" y="1072846"/>
            <a:ext cx="11350455" cy="528350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/>
              <a:t>Simple Example</a:t>
            </a:r>
          </a:p>
          <a:p>
            <a:pPr algn="l"/>
            <a:r>
              <a:rPr lang="en-GB" sz="2000" dirty="0"/>
              <a:t>Suppose actual values increase:</a:t>
            </a:r>
          </a:p>
          <a:p>
            <a:pPr algn="l"/>
            <a:r>
              <a:rPr lang="en-GB" sz="2000" b="1" dirty="0"/>
              <a:t>10 → 20 → 30 → 40</a:t>
            </a:r>
            <a:endParaRPr lang="en-GB" sz="2000" dirty="0"/>
          </a:p>
          <a:p>
            <a:pPr algn="l"/>
            <a:r>
              <a:rPr lang="en-GB" sz="2000" dirty="0"/>
              <a:t>and predictions also increase:</a:t>
            </a:r>
          </a:p>
          <a:p>
            <a:pPr algn="l"/>
            <a:r>
              <a:rPr lang="en-GB" sz="2000" b="1" dirty="0"/>
              <a:t>11 → 19 → 31 → 39</a:t>
            </a:r>
            <a:endParaRPr lang="en-GB" sz="2000" dirty="0"/>
          </a:p>
          <a:p>
            <a:pPr algn="l"/>
            <a:r>
              <a:rPr lang="en-GB" sz="2000" dirty="0"/>
              <a:t>The predictions follow the same pattern as the actual values, so </a:t>
            </a:r>
            <a:r>
              <a:rPr lang="en-GB" sz="2000" b="1" dirty="0"/>
              <a:t>r will be close to +1</a:t>
            </a:r>
            <a:r>
              <a:rPr lang="en-GB" sz="2000" dirty="0"/>
              <a:t>.</a:t>
            </a:r>
          </a:p>
          <a:p>
            <a:pPr algn="l"/>
            <a:r>
              <a:rPr lang="en-GB" sz="2000" b="1" dirty="0"/>
              <a:t>Important Difference</a:t>
            </a:r>
          </a:p>
          <a:p>
            <a:pPr algn="l"/>
            <a:r>
              <a:rPr lang="en-GB" sz="2000" dirty="0"/>
              <a:t>Pearson r is </a:t>
            </a:r>
            <a:r>
              <a:rPr lang="en-GB" sz="2000" b="1" dirty="0"/>
              <a:t>not exactly the same as R²</a:t>
            </a:r>
            <a:r>
              <a:rPr lang="en-GB" sz="2000" dirty="0"/>
              <a:t>.</a:t>
            </a:r>
          </a:p>
          <a:p>
            <a:pPr algn="l"/>
            <a:r>
              <a:rPr lang="en-GB" sz="2000" b="1" dirty="0"/>
              <a:t>R²</a:t>
            </a:r>
            <a:r>
              <a:rPr lang="en-GB" sz="2000" dirty="0"/>
              <a:t> → How much variation is explained by the model. </a:t>
            </a:r>
          </a:p>
          <a:p>
            <a:pPr algn="l"/>
            <a:r>
              <a:rPr lang="en-GB" sz="2000" b="1" dirty="0"/>
              <a:t>r</a:t>
            </a:r>
            <a:r>
              <a:rPr lang="en-GB" sz="2000" dirty="0"/>
              <a:t> → How strongly actual and predicted values are linearly related. </a:t>
            </a:r>
          </a:p>
          <a:p>
            <a:pPr algn="l"/>
            <a:r>
              <a:rPr lang="en-GB" sz="2000" b="1" dirty="0" smtClean="0"/>
              <a:t>Remember</a:t>
            </a:r>
            <a:r>
              <a:rPr lang="en-GB" sz="2000" b="1" dirty="0"/>
              <a:t>:</a:t>
            </a:r>
            <a:r>
              <a:rPr lang="en-GB" sz="2000" dirty="0"/>
              <a:t/>
            </a:r>
            <a:br>
              <a:rPr lang="en-GB" sz="2000" dirty="0"/>
            </a:br>
            <a:r>
              <a:rPr lang="en-GB" sz="2000" b="1" dirty="0"/>
              <a:t>Pearson r = “Do my predictions follow the same pattern as the actual values?”</a:t>
            </a:r>
            <a:endParaRPr lang="en-GB" sz="2000" dirty="0"/>
          </a:p>
          <a:p>
            <a:pPr algn="l"/>
            <a:endParaRPr lang="en-GB" sz="2000" b="1" dirty="0"/>
          </a:p>
          <a:p>
            <a:pPr algn="l"/>
            <a:endParaRPr lang="en-GB" sz="2000" dirty="0"/>
          </a:p>
          <a:p>
            <a:pPr algn="l"/>
            <a:endParaRPr lang="en-IN" sz="2000" dirty="0"/>
          </a:p>
        </p:txBody>
      </p:sp>
      <p:sp>
        <p:nvSpPr>
          <p:cNvPr id="10" name="Rectangle 9"/>
          <p:cNvSpPr/>
          <p:nvPr/>
        </p:nvSpPr>
        <p:spPr>
          <a:xfrm>
            <a:off x="4451806" y="98684"/>
            <a:ext cx="57555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</a:t>
            </a:r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used for regression models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570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59E48F2F-F23A-7E58-1C57-CB4038C2F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62" y="1122363"/>
            <a:ext cx="11213536" cy="523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5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AAE84FB-5A41-0E08-39A0-069E1A1F3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8" y="854440"/>
            <a:ext cx="10013632" cy="550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1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C791CCB-0E41-878E-81F3-68F88F5FA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80" y="960458"/>
            <a:ext cx="10225720" cy="550191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48426" y="5426179"/>
            <a:ext cx="35242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2">
                    <a:lumMod val="50000"/>
                  </a:schemeClr>
                </a:solidFill>
              </a:rPr>
              <a:t>ROC</a:t>
            </a:r>
            <a:r>
              <a:rPr lang="en-GB" sz="1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sz="1600" dirty="0" smtClean="0">
                <a:solidFill>
                  <a:schemeClr val="bg2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GB" sz="16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sz="1600" b="1" dirty="0">
                <a:solidFill>
                  <a:schemeClr val="bg2">
                    <a:lumMod val="50000"/>
                  </a:schemeClr>
                </a:solidFill>
              </a:rPr>
              <a:t>Receiver Operating Characteristic</a:t>
            </a:r>
            <a:r>
              <a:rPr lang="en-GB" sz="16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35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0C61901-A9DC-5A28-448C-6F1BB4628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19" y="854440"/>
            <a:ext cx="9182706" cy="511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8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D773959D-D865-5C39-CF87-A8E7D8705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58" y="854440"/>
            <a:ext cx="9702041" cy="550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0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1C58F2F-8251-4EFA-8848-59DDBB0CA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35" y="847749"/>
            <a:ext cx="9331565" cy="550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8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24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1DE118E-5E41-A440-5FE4-4E07AF3E8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22" y="854440"/>
            <a:ext cx="9912253" cy="550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2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DA3F06D-055F-16BC-91E1-C349D7472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32" y="1066476"/>
            <a:ext cx="9857243" cy="526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5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26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00566" y="114202"/>
            <a:ext cx="676743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Activity 2: Think -Pair -Share</a:t>
            </a:r>
            <a:endParaRPr lang="en-IN" sz="3200" b="1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sp>
        <p:nvSpPr>
          <p:cNvPr id="10" name="Google Shape;199;p11"/>
          <p:cNvSpPr txBox="1">
            <a:spLocks/>
          </p:cNvSpPr>
          <p:nvPr/>
        </p:nvSpPr>
        <p:spPr>
          <a:xfrm>
            <a:off x="592854" y="1191420"/>
            <a:ext cx="11040444" cy="47093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Accuracy vs. F1 (Classification)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Think:</a:t>
            </a:r>
            <a:r>
              <a:rPr lang="en-US" dirty="0"/>
              <a:t> </a:t>
            </a:r>
            <a:r>
              <a:rPr lang="en-US" i="1" dirty="0"/>
              <a:t>“Is Accuracy always the best metric for classification? Why or why not?”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algn="l"/>
            <a:r>
              <a:rPr lang="en-US" b="1" dirty="0"/>
              <a:t>Pair:</a:t>
            </a:r>
            <a:r>
              <a:rPr lang="en-US" dirty="0"/>
              <a:t> With a partner, discuss a case where Accuracy is misleading (e.g., imbalanced EEG dataset with 90% Neutral emotions).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algn="l"/>
            <a:r>
              <a:rPr lang="en-US" b="1" dirty="0"/>
              <a:t>Share:</a:t>
            </a:r>
            <a:r>
              <a:rPr lang="en-US" dirty="0"/>
              <a:t> Groups present why </a:t>
            </a:r>
            <a:r>
              <a:rPr lang="en-US" b="1" dirty="0"/>
              <a:t>F1-score or ROC-AUC</a:t>
            </a:r>
            <a:r>
              <a:rPr lang="en-US" dirty="0"/>
              <a:t> would be better.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1901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1002834"/>
            <a:ext cx="9144000" cy="540216"/>
          </a:xfrm>
        </p:spPr>
        <p:txBody>
          <a:bodyPr>
            <a:normAutofit fontScale="90000"/>
          </a:bodyPr>
          <a:lstStyle/>
          <a:p>
            <a:r>
              <a:rPr lang="en-IN" sz="4400" b="1" dirty="0"/>
              <a:t>Summary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200A3D7-8C56-079A-BFFF-58D27E7ED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D9EA7F2-800A-75BD-66CD-5055F4802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445" y="1585669"/>
            <a:ext cx="8360509" cy="472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2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C8EF4F-6060-143D-E2D3-D39BCB3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5" y="749508"/>
            <a:ext cx="9718111" cy="1576446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/>
              <a:t>Ensure attainment of LOs in alignment to the learning activities:</a:t>
            </a:r>
            <a:r>
              <a:rPr lang="en-IN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outcomes (1-2)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5C8336F-1062-6386-8BEE-9A71FD3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E29D7986-4818-A798-4420-A7D3A24FA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grpSp>
        <p:nvGrpSpPr>
          <p:cNvPr id="16" name="Google Shape;131;p4"/>
          <p:cNvGrpSpPr/>
          <p:nvPr/>
        </p:nvGrpSpPr>
        <p:grpSpPr>
          <a:xfrm>
            <a:off x="336080" y="2417848"/>
            <a:ext cx="11519840" cy="3689404"/>
            <a:chOff x="-296006" y="0"/>
            <a:chExt cx="11519840" cy="3689404"/>
          </a:xfrm>
        </p:grpSpPr>
        <p:sp>
          <p:nvSpPr>
            <p:cNvPr id="17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Google Shape;133;p4"/>
            <p:cNvSpPr txBox="1"/>
            <p:nvPr/>
          </p:nvSpPr>
          <p:spPr>
            <a:xfrm>
              <a:off x="-247379" y="48627"/>
              <a:ext cx="920452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32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Explain the importance of performance metrics in evaluating machine learning models</a:t>
              </a:r>
              <a:endParaRPr lang="en-GB" sz="2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9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Google Shape;135;p4"/>
            <p:cNvSpPr txBox="1"/>
            <p:nvPr/>
          </p:nvSpPr>
          <p:spPr>
            <a:xfrm>
              <a:off x="1983806" y="2077799"/>
              <a:ext cx="9240027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</a:t>
              </a:r>
              <a:r>
                <a:rPr lang="en-IN" sz="28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</a:t>
              </a:r>
              <a:r>
                <a:rPr lang="en-GB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Compute and interpret key metrics (MAE, MSE, R², Accuracy, Precision, Recall, F1) using real dataset examples</a:t>
              </a:r>
              <a:endParaRPr lang="en-GB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1" name="Google Shape;136;p4"/>
            <p:cNvSpPr/>
            <p:nvPr/>
          </p:nvSpPr>
          <p:spPr>
            <a:xfrm>
              <a:off x="8466195" y="1025289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Google Shape;137;p4"/>
            <p:cNvSpPr txBox="1"/>
            <p:nvPr/>
          </p:nvSpPr>
          <p:spPr>
            <a:xfrm>
              <a:off x="8748318" y="131129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09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75" y="854440"/>
            <a:ext cx="9144000" cy="859381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Georgia" panose="02040502050405020303" pitchFamily="18" charset="0"/>
              </a:rPr>
              <a:t>Post </a:t>
            </a:r>
            <a:r>
              <a:rPr lang="en-US" sz="4400" dirty="0">
                <a:latin typeface="Georgia" panose="02040502050405020303" pitchFamily="18" charset="0"/>
              </a:rPr>
              <a:t>S</a:t>
            </a:r>
            <a:r>
              <a:rPr lang="en-US" sz="4400" dirty="0" smtClean="0">
                <a:latin typeface="Georgia" panose="02040502050405020303" pitchFamily="18" charset="0"/>
              </a:rPr>
              <a:t>ession Activity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01523D9-5DDB-3527-A0E3-5779C8EBF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645" y="2211171"/>
            <a:ext cx="3383756" cy="338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73" y="1128467"/>
            <a:ext cx="10510759" cy="824524"/>
          </a:xfrm>
        </p:spPr>
        <p:txBody>
          <a:bodyPr>
            <a:noAutofit/>
          </a:bodyPr>
          <a:lstStyle/>
          <a:p>
            <a:r>
              <a:rPr lang="en-IN" sz="5400" dirty="0">
                <a:latin typeface="Georgia" panose="02040502050405020303" pitchFamily="18" charset="0"/>
              </a:rPr>
              <a:t>Information about the next lesson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42963" y="2678991"/>
            <a:ext cx="10790335" cy="1655762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GB" sz="2800" b="1" dirty="0"/>
              <a:t>Machine Learning Approaches overview (Regression, Classification, Clustering, Reinforcement Learning, Genetic Algorithm), Issues in Machine Learning</a:t>
            </a:r>
            <a:endParaRPr lang="en-IN" sz="28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834257-EC96-D536-3BBD-72E7CFA6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22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F6F593-41A2-5797-581D-24AD95F1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0691" y="1575601"/>
            <a:ext cx="4805996" cy="129711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Review and Reflection from students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506AAFE-4113-97E4-34C4-18F6BEDE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31</a:t>
            </a:fld>
            <a:endParaRPr lang="en-IN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2D872DDF-4447-626A-EA2D-F25500CB53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DEA843D-98A8-0F4E-0617-582CE9651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89D1390B-7E13-4B4F-9CB2-391063412E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8" name="Freeform: Shape 13">
              <a:extLst>
                <a:ext uri="{FF2B5EF4-FFF2-40B4-BE49-F238E27FC236}">
                  <a16:creationId xmlns="" xmlns:a16="http://schemas.microsoft.com/office/drawing/2014/main" id="{9E720206-AA49-4786-A932-A2650DE0918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4">
              <a:extLst>
                <a:ext uri="{FF2B5EF4-FFF2-40B4-BE49-F238E27FC236}">
                  <a16:creationId xmlns="" xmlns:a16="http://schemas.microsoft.com/office/drawing/2014/main" id="{C72F6EE6-EDE9-45A5-8F6D-02B9B7CB2C2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5">
              <a:extLst>
                <a:ext uri="{FF2B5EF4-FFF2-40B4-BE49-F238E27FC236}">
                  <a16:creationId xmlns="" xmlns:a16="http://schemas.microsoft.com/office/drawing/2014/main" id="{C093DC50-3BD7-46B1-A300-CD207E152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Graphic 5" descr="Smiling Face with No Fill">
            <a:extLst>
              <a:ext uri="{FF2B5EF4-FFF2-40B4-BE49-F238E27FC236}">
                <a16:creationId xmlns="" xmlns:a16="http://schemas.microsoft.com/office/drawing/2014/main" id="{74418C2F-62A7-9D29-C346-38DEE04406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sp>
        <p:nvSpPr>
          <p:cNvPr id="23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14-08-2026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1139" y="3109912"/>
            <a:ext cx="27051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3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4054</TotalTime>
  <Words>1494</Words>
  <Application>Microsoft Office PowerPoint</Application>
  <PresentationFormat>Widescreen</PresentationFormat>
  <Paragraphs>254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Cambria Math</vt:lpstr>
      <vt:lpstr>Georgia</vt:lpstr>
      <vt:lpstr>Times New Roman</vt:lpstr>
      <vt:lpstr>Wingdings</vt:lpstr>
      <vt:lpstr>Office Theme</vt:lpstr>
      <vt:lpstr>Performance metrics overview    Session No.: 04 Course Name: Machine Learning Course Code: R1UC525B Instructor Name: Dr. Sivakumar Madeshwaran Duration: 50 Minutes Date of Conduction of Class: 14-08-2026 </vt:lpstr>
      <vt:lpstr>PowerPoint Presentation</vt:lpstr>
      <vt:lpstr>Reflect on the responses of post session activity  </vt:lpstr>
      <vt:lpstr>“How can we know whether a Machine Learning model is performing well?”</vt:lpstr>
      <vt:lpstr>PowerPoint Presentation</vt:lpstr>
      <vt:lpstr>At the end of this session students will be able to </vt:lpstr>
      <vt:lpstr>Session Outline</vt:lpstr>
      <vt:lpstr> 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Summary</vt:lpstr>
      <vt:lpstr>Ensure attainment of LOs in alignment to the learning activities: outcomes (1-2)</vt:lpstr>
      <vt:lpstr>Post Session Activity</vt:lpstr>
      <vt:lpstr>Information about the next lesson</vt:lpstr>
      <vt:lpstr>Review and Reflection from students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web:  WWW, Web Browser, Client Server and Communication   Session No.: Course Name:  Course Code: Instructor Name: Duration: Date of Conduction of Class:  </dc:title>
  <dc:creator>Deepak Gupta</dc:creator>
  <cp:lastModifiedBy>Microsoft account</cp:lastModifiedBy>
  <cp:revision>187</cp:revision>
  <dcterms:created xsi:type="dcterms:W3CDTF">2024-08-22T06:33:55Z</dcterms:created>
  <dcterms:modified xsi:type="dcterms:W3CDTF">2026-08-14T07:08:46Z</dcterms:modified>
</cp:coreProperties>
</file>