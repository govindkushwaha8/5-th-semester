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2" r:id="rId3"/>
    <p:sldId id="283" r:id="rId4"/>
    <p:sldId id="298" r:id="rId5"/>
    <p:sldId id="300" r:id="rId6"/>
    <p:sldId id="299" r:id="rId7"/>
    <p:sldId id="285" r:id="rId8"/>
    <p:sldId id="350" r:id="rId9"/>
    <p:sldId id="359" r:id="rId10"/>
    <p:sldId id="349" r:id="rId11"/>
    <p:sldId id="368" r:id="rId12"/>
    <p:sldId id="341" r:id="rId13"/>
    <p:sldId id="370" r:id="rId14"/>
    <p:sldId id="371" r:id="rId15"/>
    <p:sldId id="373" r:id="rId16"/>
    <p:sldId id="374" r:id="rId17"/>
    <p:sldId id="375" r:id="rId18"/>
    <p:sldId id="376" r:id="rId19"/>
    <p:sldId id="377" r:id="rId20"/>
    <p:sldId id="369" r:id="rId21"/>
    <p:sldId id="351" r:id="rId22"/>
    <p:sldId id="284" r:id="rId23"/>
    <p:sldId id="289" r:id="rId24"/>
    <p:sldId id="290" r:id="rId25"/>
    <p:sldId id="281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CE2BF-E837-4849-B11C-0944C199F6A4}" v="228" dt="2024-09-19T16:05:47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94"/>
  </p:normalViewPr>
  <p:slideViewPr>
    <p:cSldViewPr snapToGrid="0">
      <p:cViewPr varScale="1">
        <p:scale>
          <a:sx n="67" d="100"/>
          <a:sy n="67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 smtClean="0"/>
            <a:t>1 </a:t>
          </a:r>
          <a:r>
            <a:rPr lang="en-IN" dirty="0" smtClean="0"/>
            <a:t>Supervised Learning Basics</a:t>
          </a:r>
          <a:endParaRPr lang="en-IN" dirty="0" smtClean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 smtClean="0"/>
            <a:t>3 </a:t>
          </a:r>
          <a:r>
            <a:rPr lang="en-IN" dirty="0" smtClean="0"/>
            <a:t>Activity-1 (</a:t>
          </a:r>
          <a:r>
            <a:rPr lang="en-US" dirty="0" smtClean="0"/>
            <a:t>Think –Pair -Share</a:t>
          </a:r>
          <a:r>
            <a:rPr lang="en-IN" dirty="0" smtClean="0"/>
            <a:t>)</a:t>
          </a:r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 smtClean="0"/>
            <a:t>4 Activity-2 (Quiz on Wooflash)</a:t>
          </a:r>
          <a:endParaRPr lang="en-IN" dirty="0" smtClean="0"/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 smtClean="0"/>
            <a:t>5 Review and Reflections</a:t>
          </a:r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113434A6-C49A-4D7C-9CB2-B4A9C5F944C5}">
      <dgm:prSet/>
      <dgm:spPr/>
      <dgm:t>
        <a:bodyPr/>
        <a:lstStyle/>
        <a:p>
          <a:r>
            <a:rPr lang="en-US" dirty="0" smtClean="0"/>
            <a:t>2 Problem Types in Supervised Learning</a:t>
          </a:r>
        </a:p>
        <a:p>
          <a:r>
            <a:rPr lang="en-US" dirty="0" smtClean="0"/>
            <a:t>  Regression &amp; Classification</a:t>
          </a:r>
          <a:endParaRPr lang="en-IN" dirty="0" smtClean="0"/>
        </a:p>
      </dgm:t>
    </dgm:pt>
    <dgm:pt modelId="{92A00AA5-8654-4E10-B99A-653D5D186B0F}" type="parTrans" cxnId="{733CCB97-D0A1-4EAB-89EE-BFBD61CB67A1}">
      <dgm:prSet/>
      <dgm:spPr/>
      <dgm:t>
        <a:bodyPr/>
        <a:lstStyle/>
        <a:p>
          <a:endParaRPr lang="en-IN"/>
        </a:p>
      </dgm:t>
    </dgm:pt>
    <dgm:pt modelId="{2502FDD1-8A4B-4C67-80BF-8DE9EC8614C5}" type="sibTrans" cxnId="{733CCB97-D0A1-4EAB-89EE-BFBD61CB67A1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6FF76B5C-2320-4CB5-9844-D984662B1716}" type="pres">
      <dgm:prSet presAssocID="{C8BD7C71-8F1B-400D-96A3-6B553A93EB7F}" presName="thickLine" presStyleLbl="alignNode1" presStyleIdx="0" presStyleCnt="5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5"/>
      <dgm:spPr/>
      <dgm:t>
        <a:bodyPr/>
        <a:lstStyle/>
        <a:p>
          <a:endParaRPr lang="en-IN"/>
        </a:p>
      </dgm:t>
    </dgm:pt>
    <dgm:pt modelId="{608B7948-37DA-4DDD-A56D-16AA8CC3AD50}" type="pres">
      <dgm:prSet presAssocID="{C8BD7C71-8F1B-400D-96A3-6B553A93EB7F}" presName="vert1" presStyleCnt="0"/>
      <dgm:spPr/>
    </dgm:pt>
    <dgm:pt modelId="{48957150-DC50-40B5-836F-D85E79EE67F6}" type="pres">
      <dgm:prSet presAssocID="{113434A6-C49A-4D7C-9CB2-B4A9C5F944C5}" presName="thickLine" presStyleLbl="alignNode1" presStyleIdx="1" presStyleCnt="5"/>
      <dgm:spPr/>
    </dgm:pt>
    <dgm:pt modelId="{32844BB1-992F-409D-BD7F-6070AB5679B8}" type="pres">
      <dgm:prSet presAssocID="{113434A6-C49A-4D7C-9CB2-B4A9C5F944C5}" presName="horz1" presStyleCnt="0"/>
      <dgm:spPr/>
    </dgm:pt>
    <dgm:pt modelId="{41F167DF-C041-4918-B0F4-C91997FECF79}" type="pres">
      <dgm:prSet presAssocID="{113434A6-C49A-4D7C-9CB2-B4A9C5F944C5}" presName="tx1" presStyleLbl="revTx" presStyleIdx="1" presStyleCnt="5"/>
      <dgm:spPr/>
      <dgm:t>
        <a:bodyPr/>
        <a:lstStyle/>
        <a:p>
          <a:endParaRPr lang="en-IN"/>
        </a:p>
      </dgm:t>
    </dgm:pt>
    <dgm:pt modelId="{7EF4DE97-DCED-467C-BB32-58E23AF80BEC}" type="pres">
      <dgm:prSet presAssocID="{113434A6-C49A-4D7C-9CB2-B4A9C5F944C5}" presName="vert1" presStyleCnt="0"/>
      <dgm:spPr/>
    </dgm:pt>
    <dgm:pt modelId="{F83A5B86-9D43-4C81-A6D4-87875817B689}" type="pres">
      <dgm:prSet presAssocID="{311F9A05-A7F4-4328-B319-DBCDF0DF0E82}" presName="thickLine" presStyleLbl="alignNode1" presStyleIdx="2" presStyleCnt="5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2" presStyleCnt="5"/>
      <dgm:spPr/>
      <dgm:t>
        <a:bodyPr/>
        <a:lstStyle/>
        <a:p>
          <a:endParaRPr lang="en-IN"/>
        </a:p>
      </dgm:t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3" presStyleCnt="5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3" presStyleCnt="5"/>
      <dgm:spPr/>
      <dgm:t>
        <a:bodyPr/>
        <a:lstStyle/>
        <a:p>
          <a:endParaRPr lang="en-IN"/>
        </a:p>
      </dgm:t>
    </dgm:pt>
    <dgm:pt modelId="{0E51C315-1B46-45D6-B4D4-E44AF2F7FE47}" type="pres">
      <dgm:prSet presAssocID="{81CB55E0-0FB6-485C-B15D-9BD278F78C6F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5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5"/>
      <dgm:spPr/>
      <dgm:t>
        <a:bodyPr/>
        <a:lstStyle/>
        <a:p>
          <a:endParaRPr lang="en-IN"/>
        </a:p>
      </dgm:t>
    </dgm:pt>
    <dgm:pt modelId="{88DBC881-0983-4C91-8705-CB8A16D50941}" type="pres">
      <dgm:prSet presAssocID="{BA2E5375-FD77-47B4-A888-7387932E6D62}" presName="vert1" presStyleCnt="0"/>
      <dgm:spPr/>
    </dgm:pt>
  </dgm:ptLst>
  <dgm:cxnLst>
    <dgm:cxn modelId="{A3BFF44A-0E2D-410C-B9EE-7AA1A8351732}" type="presOf" srcId="{113434A6-C49A-4D7C-9CB2-B4A9C5F944C5}" destId="{41F167DF-C041-4918-B0F4-C91997FECF79}" srcOrd="0" destOrd="0" presId="urn:microsoft.com/office/officeart/2008/layout/LinedList"/>
    <dgm:cxn modelId="{B28E7539-702F-4403-B38C-CCE2EC9E181E}" srcId="{B64DB52A-CA4F-4852-B41E-6A1F43CC58F9}" destId="{81CB55E0-0FB6-485C-B15D-9BD278F78C6F}" srcOrd="3" destOrd="0" parTransId="{81E23C2F-5B75-4C87-B80F-F92D751EF2D3}" sibTransId="{CA453529-0F48-4EF3-8F16-E732FB1811C3}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6DCFA649-9D6E-469B-AACA-1BA847263E9A}" srcId="{B64DB52A-CA4F-4852-B41E-6A1F43CC58F9}" destId="{311F9A05-A7F4-4328-B319-DBCDF0DF0E82}" srcOrd="2" destOrd="0" parTransId="{23B85C74-2F21-4685-BD89-BB563657B099}" sibTransId="{91F4A534-BBDE-4EB5-BAE5-EACEB7D0B868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733CCB97-D0A1-4EAB-89EE-BFBD61CB67A1}" srcId="{B64DB52A-CA4F-4852-B41E-6A1F43CC58F9}" destId="{113434A6-C49A-4D7C-9CB2-B4A9C5F944C5}" srcOrd="1" destOrd="0" parTransId="{92A00AA5-8654-4E10-B99A-653D5D186B0F}" sibTransId="{2502FDD1-8A4B-4C67-80BF-8DE9EC8614C5}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E837E2BC-1ECD-4C77-B5CC-A4986F333759}" type="presParOf" srcId="{573103A9-89AC-4873-8CB5-0F4B7370B2E1}" destId="{48957150-DC50-40B5-836F-D85E79EE67F6}" srcOrd="2" destOrd="0" presId="urn:microsoft.com/office/officeart/2008/layout/LinedList"/>
    <dgm:cxn modelId="{5E47C682-50E9-4990-8EB5-217D7ACB83C7}" type="presParOf" srcId="{573103A9-89AC-4873-8CB5-0F4B7370B2E1}" destId="{32844BB1-992F-409D-BD7F-6070AB5679B8}" srcOrd="3" destOrd="0" presId="urn:microsoft.com/office/officeart/2008/layout/LinedList"/>
    <dgm:cxn modelId="{E94BB4C5-76FD-408B-BFB6-4E69F2544C67}" type="presParOf" srcId="{32844BB1-992F-409D-BD7F-6070AB5679B8}" destId="{41F167DF-C041-4918-B0F4-C91997FECF79}" srcOrd="0" destOrd="0" presId="urn:microsoft.com/office/officeart/2008/layout/LinedList"/>
    <dgm:cxn modelId="{B68A403B-A903-4D2B-8B89-656A92A80AF6}" type="presParOf" srcId="{32844BB1-992F-409D-BD7F-6070AB5679B8}" destId="{7EF4DE97-DCED-467C-BB32-58E23AF80BEC}" srcOrd="1" destOrd="0" presId="urn:microsoft.com/office/officeart/2008/layout/LinedList"/>
    <dgm:cxn modelId="{09135F7C-D882-4001-9420-48C6F669E5A1}" type="presParOf" srcId="{573103A9-89AC-4873-8CB5-0F4B7370B2E1}" destId="{F83A5B86-9D43-4C81-A6D4-87875817B689}" srcOrd="4" destOrd="0" presId="urn:microsoft.com/office/officeart/2008/layout/LinedList"/>
    <dgm:cxn modelId="{42A74311-A9B5-4722-908E-E69DF0F7B3F2}" type="presParOf" srcId="{573103A9-89AC-4873-8CB5-0F4B7370B2E1}" destId="{3BC975C1-0C99-4F97-8C52-C1CFA0BAF551}" srcOrd="5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6" destOrd="0" presId="urn:microsoft.com/office/officeart/2008/layout/LinedList"/>
    <dgm:cxn modelId="{5A60FA20-ADA2-431F-8796-1BE8C988B2D2}" type="presParOf" srcId="{573103A9-89AC-4873-8CB5-0F4B7370B2E1}" destId="{447FCB44-517C-43F4-BE59-391C36D21C9C}" srcOrd="7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 smtClean="0"/>
            <a:t>1 </a:t>
          </a:r>
          <a:r>
            <a:rPr lang="en-IN" dirty="0" smtClean="0"/>
            <a:t>Supervised Learning Basics</a:t>
          </a:r>
          <a:endParaRPr lang="en-IN" dirty="0" smtClean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 smtClean="0"/>
            <a:t>3 </a:t>
          </a:r>
          <a:r>
            <a:rPr lang="en-IN" dirty="0" smtClean="0"/>
            <a:t>Activity-1 (</a:t>
          </a:r>
          <a:r>
            <a:rPr lang="en-US" dirty="0" smtClean="0"/>
            <a:t>Think –Pair -Share</a:t>
          </a:r>
          <a:r>
            <a:rPr lang="en-IN" dirty="0" smtClean="0"/>
            <a:t>)</a:t>
          </a:r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 smtClean="0"/>
            <a:t>4 Activity-2 (Quiz on Wooflash)</a:t>
          </a:r>
          <a:endParaRPr lang="en-IN" dirty="0" smtClean="0"/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 smtClean="0"/>
            <a:t>5 Review and Reflections</a:t>
          </a:r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113434A6-C49A-4D7C-9CB2-B4A9C5F944C5}">
      <dgm:prSet/>
      <dgm:spPr/>
      <dgm:t>
        <a:bodyPr/>
        <a:lstStyle/>
        <a:p>
          <a:r>
            <a:rPr lang="en-US" dirty="0" smtClean="0"/>
            <a:t>2 Problem Types in Supervised Learning</a:t>
          </a:r>
        </a:p>
        <a:p>
          <a:r>
            <a:rPr lang="en-US" dirty="0" smtClean="0"/>
            <a:t>  Regression &amp; Classification</a:t>
          </a:r>
          <a:endParaRPr lang="en-IN" dirty="0" smtClean="0"/>
        </a:p>
      </dgm:t>
    </dgm:pt>
    <dgm:pt modelId="{92A00AA5-8654-4E10-B99A-653D5D186B0F}" type="parTrans" cxnId="{733CCB97-D0A1-4EAB-89EE-BFBD61CB67A1}">
      <dgm:prSet/>
      <dgm:spPr/>
      <dgm:t>
        <a:bodyPr/>
        <a:lstStyle/>
        <a:p>
          <a:endParaRPr lang="en-IN"/>
        </a:p>
      </dgm:t>
    </dgm:pt>
    <dgm:pt modelId="{2502FDD1-8A4B-4C67-80BF-8DE9EC8614C5}" type="sibTrans" cxnId="{733CCB97-D0A1-4EAB-89EE-BFBD61CB67A1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6FF76B5C-2320-4CB5-9844-D984662B1716}" type="pres">
      <dgm:prSet presAssocID="{C8BD7C71-8F1B-400D-96A3-6B553A93EB7F}" presName="thickLine" presStyleLbl="alignNode1" presStyleIdx="0" presStyleCnt="5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5"/>
      <dgm:spPr/>
      <dgm:t>
        <a:bodyPr/>
        <a:lstStyle/>
        <a:p>
          <a:endParaRPr lang="en-IN"/>
        </a:p>
      </dgm:t>
    </dgm:pt>
    <dgm:pt modelId="{608B7948-37DA-4DDD-A56D-16AA8CC3AD50}" type="pres">
      <dgm:prSet presAssocID="{C8BD7C71-8F1B-400D-96A3-6B553A93EB7F}" presName="vert1" presStyleCnt="0"/>
      <dgm:spPr/>
    </dgm:pt>
    <dgm:pt modelId="{48957150-DC50-40B5-836F-D85E79EE67F6}" type="pres">
      <dgm:prSet presAssocID="{113434A6-C49A-4D7C-9CB2-B4A9C5F944C5}" presName="thickLine" presStyleLbl="alignNode1" presStyleIdx="1" presStyleCnt="5"/>
      <dgm:spPr/>
    </dgm:pt>
    <dgm:pt modelId="{32844BB1-992F-409D-BD7F-6070AB5679B8}" type="pres">
      <dgm:prSet presAssocID="{113434A6-C49A-4D7C-9CB2-B4A9C5F944C5}" presName="horz1" presStyleCnt="0"/>
      <dgm:spPr/>
    </dgm:pt>
    <dgm:pt modelId="{41F167DF-C041-4918-B0F4-C91997FECF79}" type="pres">
      <dgm:prSet presAssocID="{113434A6-C49A-4D7C-9CB2-B4A9C5F944C5}" presName="tx1" presStyleLbl="revTx" presStyleIdx="1" presStyleCnt="5"/>
      <dgm:spPr/>
      <dgm:t>
        <a:bodyPr/>
        <a:lstStyle/>
        <a:p>
          <a:endParaRPr lang="en-IN"/>
        </a:p>
      </dgm:t>
    </dgm:pt>
    <dgm:pt modelId="{7EF4DE97-DCED-467C-BB32-58E23AF80BEC}" type="pres">
      <dgm:prSet presAssocID="{113434A6-C49A-4D7C-9CB2-B4A9C5F944C5}" presName="vert1" presStyleCnt="0"/>
      <dgm:spPr/>
    </dgm:pt>
    <dgm:pt modelId="{F83A5B86-9D43-4C81-A6D4-87875817B689}" type="pres">
      <dgm:prSet presAssocID="{311F9A05-A7F4-4328-B319-DBCDF0DF0E82}" presName="thickLine" presStyleLbl="alignNode1" presStyleIdx="2" presStyleCnt="5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2" presStyleCnt="5"/>
      <dgm:spPr/>
      <dgm:t>
        <a:bodyPr/>
        <a:lstStyle/>
        <a:p>
          <a:endParaRPr lang="en-IN"/>
        </a:p>
      </dgm:t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3" presStyleCnt="5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3" presStyleCnt="5"/>
      <dgm:spPr/>
      <dgm:t>
        <a:bodyPr/>
        <a:lstStyle/>
        <a:p>
          <a:endParaRPr lang="en-IN"/>
        </a:p>
      </dgm:t>
    </dgm:pt>
    <dgm:pt modelId="{0E51C315-1B46-45D6-B4D4-E44AF2F7FE47}" type="pres">
      <dgm:prSet presAssocID="{81CB55E0-0FB6-485C-B15D-9BD278F78C6F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5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5"/>
      <dgm:spPr/>
      <dgm:t>
        <a:bodyPr/>
        <a:lstStyle/>
        <a:p>
          <a:endParaRPr lang="en-IN"/>
        </a:p>
      </dgm:t>
    </dgm:pt>
    <dgm:pt modelId="{88DBC881-0983-4C91-8705-CB8A16D50941}" type="pres">
      <dgm:prSet presAssocID="{BA2E5375-FD77-47B4-A888-7387932E6D62}" presName="vert1" presStyleCnt="0"/>
      <dgm:spPr/>
    </dgm:pt>
  </dgm:ptLst>
  <dgm:cxnLst>
    <dgm:cxn modelId="{44A00D67-BABB-485C-A37E-4A52A89EBB9F}" type="presOf" srcId="{311F9A05-A7F4-4328-B319-DBCDF0DF0E82}" destId="{7BF0A7F7-0F37-4B11-9AED-B46FE7E128D8}" srcOrd="0" destOrd="0" presId="urn:microsoft.com/office/officeart/2008/layout/LinedList"/>
    <dgm:cxn modelId="{63F70C04-A91E-4D0F-9C4F-A3394E62D35F}" type="presOf" srcId="{BA2E5375-FD77-47B4-A888-7387932E6D62}" destId="{D26876CA-709E-4928-AAF2-4734D1DACD6D}" srcOrd="0" destOrd="0" presId="urn:microsoft.com/office/officeart/2008/layout/LinedList"/>
    <dgm:cxn modelId="{733CCB97-D0A1-4EAB-89EE-BFBD61CB67A1}" srcId="{B64DB52A-CA4F-4852-B41E-6A1F43CC58F9}" destId="{113434A6-C49A-4D7C-9CB2-B4A9C5F944C5}" srcOrd="1" destOrd="0" parTransId="{92A00AA5-8654-4E10-B99A-653D5D186B0F}" sibTransId="{2502FDD1-8A4B-4C67-80BF-8DE9EC8614C5}"/>
    <dgm:cxn modelId="{9DF9F5D0-1C7F-4F17-8B09-E2515AF95543}" type="presOf" srcId="{B64DB52A-CA4F-4852-B41E-6A1F43CC58F9}" destId="{573103A9-89AC-4873-8CB5-0F4B7370B2E1}" srcOrd="0" destOrd="0" presId="urn:microsoft.com/office/officeart/2008/layout/LinedList"/>
    <dgm:cxn modelId="{549ED1DC-C65B-4073-AD2C-97A72B2F0808}" type="presOf" srcId="{81CB55E0-0FB6-485C-B15D-9BD278F78C6F}" destId="{89436931-860B-40AD-8DCE-CEE0F56E60ED}" srcOrd="0" destOrd="0" presId="urn:microsoft.com/office/officeart/2008/layout/LinedList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AAC76844-E721-4BD9-996D-04679AF11EA8}" type="presOf" srcId="{113434A6-C49A-4D7C-9CB2-B4A9C5F944C5}" destId="{41F167DF-C041-4918-B0F4-C91997FECF79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33366019-026C-420C-A034-626187EDF537}" type="presOf" srcId="{C8BD7C71-8F1B-400D-96A3-6B553A93EB7F}" destId="{CBF4003A-096B-4C8D-8E4F-9D9EAB681D72}" srcOrd="0" destOrd="0" presId="urn:microsoft.com/office/officeart/2008/layout/LinedList"/>
    <dgm:cxn modelId="{6DCFA649-9D6E-469B-AACA-1BA847263E9A}" srcId="{B64DB52A-CA4F-4852-B41E-6A1F43CC58F9}" destId="{311F9A05-A7F4-4328-B319-DBCDF0DF0E82}" srcOrd="2" destOrd="0" parTransId="{23B85C74-2F21-4685-BD89-BB563657B099}" sibTransId="{91F4A534-BBDE-4EB5-BAE5-EACEB7D0B868}"/>
    <dgm:cxn modelId="{B28E7539-702F-4403-B38C-CCE2EC9E181E}" srcId="{B64DB52A-CA4F-4852-B41E-6A1F43CC58F9}" destId="{81CB55E0-0FB6-485C-B15D-9BD278F78C6F}" srcOrd="3" destOrd="0" parTransId="{81E23C2F-5B75-4C87-B80F-F92D751EF2D3}" sibTransId="{CA453529-0F48-4EF3-8F16-E732FB1811C3}"/>
    <dgm:cxn modelId="{A3849B76-1374-4695-AA69-BEE8799D338A}" type="presParOf" srcId="{573103A9-89AC-4873-8CB5-0F4B7370B2E1}" destId="{6FF76B5C-2320-4CB5-9844-D984662B1716}" srcOrd="0" destOrd="0" presId="urn:microsoft.com/office/officeart/2008/layout/LinedList"/>
    <dgm:cxn modelId="{8C6C035B-6E3C-45BA-B578-D5ABD64F4F53}" type="presParOf" srcId="{573103A9-89AC-4873-8CB5-0F4B7370B2E1}" destId="{41C87863-73DE-4F9B-A76B-880D805954CA}" srcOrd="1" destOrd="0" presId="urn:microsoft.com/office/officeart/2008/layout/LinedList"/>
    <dgm:cxn modelId="{0ED60B92-EE51-4256-9835-0045411D108E}" type="presParOf" srcId="{41C87863-73DE-4F9B-A76B-880D805954CA}" destId="{CBF4003A-096B-4C8D-8E4F-9D9EAB681D72}" srcOrd="0" destOrd="0" presId="urn:microsoft.com/office/officeart/2008/layout/LinedList"/>
    <dgm:cxn modelId="{28715F7F-D234-4B55-8BAE-4FDFD4E16ADD}" type="presParOf" srcId="{41C87863-73DE-4F9B-A76B-880D805954CA}" destId="{608B7948-37DA-4DDD-A56D-16AA8CC3AD50}" srcOrd="1" destOrd="0" presId="urn:microsoft.com/office/officeart/2008/layout/LinedList"/>
    <dgm:cxn modelId="{7CCFC310-2310-4C01-BFF5-E6CECD11915E}" type="presParOf" srcId="{573103A9-89AC-4873-8CB5-0F4B7370B2E1}" destId="{48957150-DC50-40B5-836F-D85E79EE67F6}" srcOrd="2" destOrd="0" presId="urn:microsoft.com/office/officeart/2008/layout/LinedList"/>
    <dgm:cxn modelId="{0807273F-5F4A-4C35-AEA6-D5A5CB845305}" type="presParOf" srcId="{573103A9-89AC-4873-8CB5-0F4B7370B2E1}" destId="{32844BB1-992F-409D-BD7F-6070AB5679B8}" srcOrd="3" destOrd="0" presId="urn:microsoft.com/office/officeart/2008/layout/LinedList"/>
    <dgm:cxn modelId="{FB957894-A319-4518-B4B1-3B60824BDAE0}" type="presParOf" srcId="{32844BB1-992F-409D-BD7F-6070AB5679B8}" destId="{41F167DF-C041-4918-B0F4-C91997FECF79}" srcOrd="0" destOrd="0" presId="urn:microsoft.com/office/officeart/2008/layout/LinedList"/>
    <dgm:cxn modelId="{CC1EE541-33E6-4B7F-9269-805974EAA94A}" type="presParOf" srcId="{32844BB1-992F-409D-BD7F-6070AB5679B8}" destId="{7EF4DE97-DCED-467C-BB32-58E23AF80BEC}" srcOrd="1" destOrd="0" presId="urn:microsoft.com/office/officeart/2008/layout/LinedList"/>
    <dgm:cxn modelId="{81E63D7A-A7DE-459C-879A-24C1A7782C0A}" type="presParOf" srcId="{573103A9-89AC-4873-8CB5-0F4B7370B2E1}" destId="{F83A5B86-9D43-4C81-A6D4-87875817B689}" srcOrd="4" destOrd="0" presId="urn:microsoft.com/office/officeart/2008/layout/LinedList"/>
    <dgm:cxn modelId="{00B86569-CCCE-4869-A72B-9971135452C9}" type="presParOf" srcId="{573103A9-89AC-4873-8CB5-0F4B7370B2E1}" destId="{3BC975C1-0C99-4F97-8C52-C1CFA0BAF551}" srcOrd="5" destOrd="0" presId="urn:microsoft.com/office/officeart/2008/layout/LinedList"/>
    <dgm:cxn modelId="{34C9E65B-0058-4C47-98C2-50AC0E4E80DB}" type="presParOf" srcId="{3BC975C1-0C99-4F97-8C52-C1CFA0BAF551}" destId="{7BF0A7F7-0F37-4B11-9AED-B46FE7E128D8}" srcOrd="0" destOrd="0" presId="urn:microsoft.com/office/officeart/2008/layout/LinedList"/>
    <dgm:cxn modelId="{E9AFA941-B3BD-4313-B43C-CE63B4F9B029}" type="presParOf" srcId="{3BC975C1-0C99-4F97-8C52-C1CFA0BAF551}" destId="{AA11931C-C560-424D-BE37-4872DC1B2048}" srcOrd="1" destOrd="0" presId="urn:microsoft.com/office/officeart/2008/layout/LinedList"/>
    <dgm:cxn modelId="{5C3BB25C-3C82-46A5-BA2E-07F44925833C}" type="presParOf" srcId="{573103A9-89AC-4873-8CB5-0F4B7370B2E1}" destId="{7EE56E18-6978-43E9-9D4D-E31AA5BEE441}" srcOrd="6" destOrd="0" presId="urn:microsoft.com/office/officeart/2008/layout/LinedList"/>
    <dgm:cxn modelId="{C22FC0E3-DD4B-48F5-BE12-0C8DA2660DBB}" type="presParOf" srcId="{573103A9-89AC-4873-8CB5-0F4B7370B2E1}" destId="{447FCB44-517C-43F4-BE59-391C36D21C9C}" srcOrd="7" destOrd="0" presId="urn:microsoft.com/office/officeart/2008/layout/LinedList"/>
    <dgm:cxn modelId="{AEC60F11-C008-4ECC-B1AD-835FC724BD37}" type="presParOf" srcId="{447FCB44-517C-43F4-BE59-391C36D21C9C}" destId="{89436931-860B-40AD-8DCE-CEE0F56E60ED}" srcOrd="0" destOrd="0" presId="urn:microsoft.com/office/officeart/2008/layout/LinedList"/>
    <dgm:cxn modelId="{64AC107A-7951-4466-89A4-A955FEA0979E}" type="presParOf" srcId="{447FCB44-517C-43F4-BE59-391C36D21C9C}" destId="{0E51C315-1B46-45D6-B4D4-E44AF2F7FE47}" srcOrd="1" destOrd="0" presId="urn:microsoft.com/office/officeart/2008/layout/LinedList"/>
    <dgm:cxn modelId="{EA23FDF3-E982-49CB-91D6-DEBD6CF4BAD0}" type="presParOf" srcId="{573103A9-89AC-4873-8CB5-0F4B7370B2E1}" destId="{0B062B2C-FD23-461E-89A1-3ECDF7A567C2}" srcOrd="8" destOrd="0" presId="urn:microsoft.com/office/officeart/2008/layout/LinedList"/>
    <dgm:cxn modelId="{A9F23ED6-5B4B-4704-A1DA-077B1EB6F44A}" type="presParOf" srcId="{573103A9-89AC-4873-8CB5-0F4B7370B2E1}" destId="{1BF4D050-06E8-4B19-AEB8-E6957BD50750}" srcOrd="9" destOrd="0" presId="urn:microsoft.com/office/officeart/2008/layout/LinedList"/>
    <dgm:cxn modelId="{358C68E0-2224-416D-9DB3-8B11211A4783}" type="presParOf" srcId="{1BF4D050-06E8-4B19-AEB8-E6957BD50750}" destId="{D26876CA-709E-4928-AAF2-4734D1DACD6D}" srcOrd="0" destOrd="0" presId="urn:microsoft.com/office/officeart/2008/layout/LinedList"/>
    <dgm:cxn modelId="{0BC27AA9-6D07-4E25-B5E9-9ACC4E9B6277}" type="presParOf" srcId="{1BF4D050-06E8-4B19-AEB8-E6957BD50750}" destId="{88DBC881-0983-4C91-8705-CB8A16D5094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611"/>
          <a:ext cx="743920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611"/>
          <a:ext cx="7439207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dirty="0" smtClean="0"/>
            <a:t>1 </a:t>
          </a:r>
          <a:r>
            <a:rPr lang="en-IN" sz="2500" kern="1200" dirty="0" smtClean="0"/>
            <a:t>Supervised Learning Basics</a:t>
          </a:r>
          <a:endParaRPr lang="en-IN" sz="2500" kern="1200" dirty="0" smtClean="0"/>
        </a:p>
      </dsp:txBody>
      <dsp:txXfrm>
        <a:off x="0" y="611"/>
        <a:ext cx="7439207" cy="1000833"/>
      </dsp:txXfrm>
    </dsp:sp>
    <dsp:sp modelId="{48957150-DC50-40B5-836F-D85E79EE67F6}">
      <dsp:nvSpPr>
        <dsp:cNvPr id="0" name=""/>
        <dsp:cNvSpPr/>
      </dsp:nvSpPr>
      <dsp:spPr>
        <a:xfrm>
          <a:off x="0" y="1001444"/>
          <a:ext cx="743920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167DF-C041-4918-B0F4-C91997FECF79}">
      <dsp:nvSpPr>
        <dsp:cNvPr id="0" name=""/>
        <dsp:cNvSpPr/>
      </dsp:nvSpPr>
      <dsp:spPr>
        <a:xfrm>
          <a:off x="0" y="1001444"/>
          <a:ext cx="7439207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2 Problem Types in Supervised Learning</a:t>
          </a:r>
        </a:p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  Regression &amp; Classification</a:t>
          </a:r>
          <a:endParaRPr lang="en-IN" sz="2500" kern="1200" dirty="0" smtClean="0"/>
        </a:p>
      </dsp:txBody>
      <dsp:txXfrm>
        <a:off x="0" y="1001444"/>
        <a:ext cx="7439207" cy="1000833"/>
      </dsp:txXfrm>
    </dsp:sp>
    <dsp:sp modelId="{F83A5B86-9D43-4C81-A6D4-87875817B689}">
      <dsp:nvSpPr>
        <dsp:cNvPr id="0" name=""/>
        <dsp:cNvSpPr/>
      </dsp:nvSpPr>
      <dsp:spPr>
        <a:xfrm>
          <a:off x="0" y="2002277"/>
          <a:ext cx="743920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2002277"/>
          <a:ext cx="7439207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dirty="0" smtClean="0"/>
            <a:t>3 </a:t>
          </a:r>
          <a:r>
            <a:rPr lang="en-IN" sz="2500" kern="1200" dirty="0" smtClean="0"/>
            <a:t>Activity-1 (</a:t>
          </a:r>
          <a:r>
            <a:rPr lang="en-US" sz="2500" kern="1200" dirty="0" smtClean="0"/>
            <a:t>Think –Pair -Share</a:t>
          </a:r>
          <a:r>
            <a:rPr lang="en-IN" sz="2500" kern="1200" dirty="0" smtClean="0"/>
            <a:t>)</a:t>
          </a:r>
        </a:p>
      </dsp:txBody>
      <dsp:txXfrm>
        <a:off x="0" y="2002277"/>
        <a:ext cx="7439207" cy="1000833"/>
      </dsp:txXfrm>
    </dsp:sp>
    <dsp:sp modelId="{7EE56E18-6978-43E9-9D4D-E31AA5BEE441}">
      <dsp:nvSpPr>
        <dsp:cNvPr id="0" name=""/>
        <dsp:cNvSpPr/>
      </dsp:nvSpPr>
      <dsp:spPr>
        <a:xfrm>
          <a:off x="0" y="3003110"/>
          <a:ext cx="743920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3003110"/>
          <a:ext cx="7439207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dirty="0" smtClean="0"/>
            <a:t>4 Activity-2 (Quiz on Wooflash)</a:t>
          </a:r>
          <a:endParaRPr lang="en-IN" sz="2500" kern="1200" dirty="0" smtClean="0"/>
        </a:p>
      </dsp:txBody>
      <dsp:txXfrm>
        <a:off x="0" y="3003110"/>
        <a:ext cx="7439207" cy="1000833"/>
      </dsp:txXfrm>
    </dsp:sp>
    <dsp:sp modelId="{0B062B2C-FD23-461E-89A1-3ECDF7A567C2}">
      <dsp:nvSpPr>
        <dsp:cNvPr id="0" name=""/>
        <dsp:cNvSpPr/>
      </dsp:nvSpPr>
      <dsp:spPr>
        <a:xfrm>
          <a:off x="0" y="4003943"/>
          <a:ext cx="743920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4003943"/>
          <a:ext cx="7439207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dirty="0" smtClean="0"/>
            <a:t>5 Review and Reflections</a:t>
          </a:r>
        </a:p>
      </dsp:txBody>
      <dsp:txXfrm>
        <a:off x="0" y="4003943"/>
        <a:ext cx="7439207" cy="10008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490"/>
          <a:ext cx="743920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490"/>
          <a:ext cx="7439207" cy="803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1 </a:t>
          </a:r>
          <a:r>
            <a:rPr lang="en-IN" sz="2000" kern="1200" dirty="0" smtClean="0"/>
            <a:t>Supervised Learning Basics</a:t>
          </a:r>
          <a:endParaRPr lang="en-IN" sz="2000" kern="1200" dirty="0" smtClean="0"/>
        </a:p>
      </dsp:txBody>
      <dsp:txXfrm>
        <a:off x="0" y="490"/>
        <a:ext cx="7439207" cy="803919"/>
      </dsp:txXfrm>
    </dsp:sp>
    <dsp:sp modelId="{48957150-DC50-40B5-836F-D85E79EE67F6}">
      <dsp:nvSpPr>
        <dsp:cNvPr id="0" name=""/>
        <dsp:cNvSpPr/>
      </dsp:nvSpPr>
      <dsp:spPr>
        <a:xfrm>
          <a:off x="0" y="804409"/>
          <a:ext cx="743920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167DF-C041-4918-B0F4-C91997FECF79}">
      <dsp:nvSpPr>
        <dsp:cNvPr id="0" name=""/>
        <dsp:cNvSpPr/>
      </dsp:nvSpPr>
      <dsp:spPr>
        <a:xfrm>
          <a:off x="0" y="804409"/>
          <a:ext cx="7439207" cy="803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 Problem Types in Supervised Learning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  Regression &amp; Classification</a:t>
          </a:r>
          <a:endParaRPr lang="en-IN" sz="2000" kern="1200" dirty="0" smtClean="0"/>
        </a:p>
      </dsp:txBody>
      <dsp:txXfrm>
        <a:off x="0" y="804409"/>
        <a:ext cx="7439207" cy="803919"/>
      </dsp:txXfrm>
    </dsp:sp>
    <dsp:sp modelId="{F83A5B86-9D43-4C81-A6D4-87875817B689}">
      <dsp:nvSpPr>
        <dsp:cNvPr id="0" name=""/>
        <dsp:cNvSpPr/>
      </dsp:nvSpPr>
      <dsp:spPr>
        <a:xfrm>
          <a:off x="0" y="1608328"/>
          <a:ext cx="743920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1608328"/>
          <a:ext cx="7439207" cy="803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3 </a:t>
          </a:r>
          <a:r>
            <a:rPr lang="en-IN" sz="2000" kern="1200" dirty="0" smtClean="0"/>
            <a:t>Activity-1 (</a:t>
          </a:r>
          <a:r>
            <a:rPr lang="en-US" sz="2000" kern="1200" dirty="0" smtClean="0"/>
            <a:t>Think –Pair -Share</a:t>
          </a:r>
          <a:r>
            <a:rPr lang="en-IN" sz="2000" kern="1200" dirty="0" smtClean="0"/>
            <a:t>)</a:t>
          </a:r>
        </a:p>
      </dsp:txBody>
      <dsp:txXfrm>
        <a:off x="0" y="1608328"/>
        <a:ext cx="7439207" cy="803919"/>
      </dsp:txXfrm>
    </dsp:sp>
    <dsp:sp modelId="{7EE56E18-6978-43E9-9D4D-E31AA5BEE441}">
      <dsp:nvSpPr>
        <dsp:cNvPr id="0" name=""/>
        <dsp:cNvSpPr/>
      </dsp:nvSpPr>
      <dsp:spPr>
        <a:xfrm>
          <a:off x="0" y="2412248"/>
          <a:ext cx="743920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2412248"/>
          <a:ext cx="7439207" cy="803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4 Activity-2 (Quiz on Wooflash)</a:t>
          </a:r>
          <a:endParaRPr lang="en-IN" sz="2000" kern="1200" dirty="0" smtClean="0"/>
        </a:p>
      </dsp:txBody>
      <dsp:txXfrm>
        <a:off x="0" y="2412248"/>
        <a:ext cx="7439207" cy="803919"/>
      </dsp:txXfrm>
    </dsp:sp>
    <dsp:sp modelId="{0B062B2C-FD23-461E-89A1-3ECDF7A567C2}">
      <dsp:nvSpPr>
        <dsp:cNvPr id="0" name=""/>
        <dsp:cNvSpPr/>
      </dsp:nvSpPr>
      <dsp:spPr>
        <a:xfrm>
          <a:off x="0" y="3216167"/>
          <a:ext cx="743920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3216167"/>
          <a:ext cx="7439207" cy="803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5 Review and Reflections</a:t>
          </a:r>
        </a:p>
      </dsp:txBody>
      <dsp:txXfrm>
        <a:off x="0" y="3216167"/>
        <a:ext cx="7439207" cy="803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909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214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59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384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363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327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828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144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513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271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868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571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011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2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42A3-2962-4FC1-882C-B4325EA4BCB4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87F5D-5CF9-4AC7-9C7E-171797A0766B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77A1C-5E7F-41D5-90FC-A7BB33F02F52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B68F-2B53-494C-86E2-B83E9D2C1FCB}" type="datetime1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FE292-04D1-456E-938E-B850DFCC34A9}" type="datetime1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1062B-DE24-4946-8B4F-3C694223997B}" type="datetime1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153-2CD7-4DA5-8134-A022ACA77D0B}" type="datetime1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E853-0004-46D3-9F19-61665FD57C59}" type="datetime1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2881-61A1-4F8B-9911-45905A4A27B8}" type="datetime1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517C-15A9-4AD4-BF46-889A08C5A2CE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46D77-85F0-4CCE-889F-C4B22FAC8662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47CF8-3DC4-427A-8AA5-19F44A4181AC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20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GB" sz="3600" b="1" dirty="0">
                <a:latin typeface="Calibri" panose="020F0502020204030204" pitchFamily="34" charset="0"/>
                <a:cs typeface="Calibri" panose="020F0502020204030204" pitchFamily="34" charset="0"/>
              </a:rPr>
              <a:t>Supervised Learning: regression and classification problems, Simple Linear Regression</a:t>
            </a: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Session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No.: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08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Machine Learning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R1UC525B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Instructor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Dr. Sivakumar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Madeshwaran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Duration: 50 Minutes</a:t>
            </a:r>
            <a:b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r>
              <a:rPr lang="en-US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08-09-2026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en-IN" sz="4800" b="1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622C87D-66F3-E0F4-0306-4C9A87A52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8ED013E-C79F-88E6-C380-BA222F11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sp>
        <p:nvSpPr>
          <p:cNvPr id="10" name="Google Shape;97;p11"/>
          <p:cNvSpPr txBox="1">
            <a:spLocks/>
          </p:cNvSpPr>
          <p:nvPr/>
        </p:nvSpPr>
        <p:spPr>
          <a:xfrm>
            <a:off x="4262339" y="264619"/>
            <a:ext cx="6167536" cy="699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3200"/>
            </a:pPr>
            <a:r>
              <a:rPr lang="en-US" sz="2800" b="1" dirty="0" smtClean="0">
                <a:latin typeface="Arial"/>
                <a:ea typeface="Arial"/>
                <a:cs typeface="Arial"/>
                <a:sym typeface="Arial"/>
              </a:rPr>
              <a:t>Recap of Previous Lecture</a:t>
            </a:r>
            <a:endParaRPr lang="en-US"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515;p37"/>
          <p:cNvSpPr txBox="1">
            <a:spLocks/>
          </p:cNvSpPr>
          <p:nvPr/>
        </p:nvSpPr>
        <p:spPr>
          <a:xfrm>
            <a:off x="680332" y="140095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just">
              <a:spcBef>
                <a:spcPts val="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Classification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is a supervised learning task where models predict categorical outputs based on input features.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Types include </a:t>
            </a: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Multi-class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Multi-label Classification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Training–testing split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is essential for evaluating model performance and avoiding bias.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Overfitting &amp; </a:t>
            </a:r>
            <a:r>
              <a:rPr lang="en-GB" b="1" dirty="0" err="1" smtClean="0"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are major challenges — models must balance complexity and generalization.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Different algorithms (Logistic Regression, </a:t>
            </a:r>
            <a:r>
              <a:rPr lang="en-GB" dirty="0" err="1" smtClean="0">
                <a:latin typeface="Arial"/>
                <a:ea typeface="Arial"/>
                <a:cs typeface="Arial"/>
                <a:sym typeface="Arial"/>
              </a:rPr>
              <a:t>kNN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, Decision Trees, Random Forest, SVM, Naïve Bayes, Neural Networks) are used depending on the problem.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A well-designed classification model helps in accurate decision-making, but proper evaluation and control of overfitting/</a:t>
            </a:r>
            <a:r>
              <a:rPr lang="en-GB" dirty="0" err="1" smtClean="0"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are key to reliable performance.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Reflect on the responses of post session activity</a:t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B5812380-04B5-06B6-8506-DF79A9EFA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698757"/>
            <a:ext cx="6780700" cy="3458156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CE23A4A-5CE7-2BA1-E1C7-649A5669B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53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481028" y="1101601"/>
            <a:ext cx="10872771" cy="115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Clr>
                <a:schemeClr val="lt1"/>
              </a:buClr>
              <a:buSzPts val="4000"/>
            </a:pPr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“If we know the number of hours a student studies, can we predict their exam marks?”</a:t>
            </a:r>
            <a:endParaRPr sz="40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5D34F9C-1388-82D8-8D48-0BF8C51BEFDE}"/>
              </a:ext>
            </a:extLst>
          </p:cNvPr>
          <p:cNvSpPr txBox="1"/>
          <p:nvPr/>
        </p:nvSpPr>
        <p:spPr>
          <a:xfrm>
            <a:off x="4519397" y="405155"/>
            <a:ext cx="519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15" name="Google Shape;162;p4" descr="What is an Emoji? - Answered - Twinkl ..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591" y="2728662"/>
            <a:ext cx="2023877" cy="202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3060" y="2954338"/>
            <a:ext cx="26289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endParaRPr sz="28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5D34F9C-1388-82D8-8D48-0BF8C51BEFDE}"/>
              </a:ext>
            </a:extLst>
          </p:cNvPr>
          <p:cNvSpPr txBox="1"/>
          <p:nvPr/>
        </p:nvSpPr>
        <p:spPr>
          <a:xfrm>
            <a:off x="4005498" y="208109"/>
            <a:ext cx="679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 -Reflections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1283469"/>
            <a:ext cx="11385648" cy="448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 the end of this session students will be able to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32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Differentiate between regression and classification problems in supervised learning and identify suitable real-world applications for each.</a:t>
              </a: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Apply Simple Linear Regression to model the relationship between an input variable and a continuous output, and interpret the regression line and predictions.</a:t>
              </a: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0" name="Google Shape;140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92F137E6-A257-43E9-85A6-31EF956DF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67265" y="6356350"/>
            <a:ext cx="7133947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99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A1553B-A216-73BB-FAAB-1FF7D4C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Session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41A9FE4B-6F20-1C22-6353-F1166E69B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338868"/>
              </p:ext>
            </p:extLst>
          </p:nvPr>
        </p:nvGraphicFramePr>
        <p:xfrm>
          <a:off x="3914593" y="1218583"/>
          <a:ext cx="7439207" cy="5005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24FF57-302B-97C8-BD3F-550746DA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A4DDE187-E81D-B835-E4CD-A2B8788BFA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3114F5-F06B-4D82-5258-AB40ED145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55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Supervised Learning Basics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04824" y="1073958"/>
            <a:ext cx="1117133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learning from examples where the correct answer is already known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800" dirty="0"/>
              <a:t>The data contains</a:t>
            </a:r>
            <a:r>
              <a:rPr lang="en-GB" sz="2800" dirty="0" smtClean="0"/>
              <a:t>: </a:t>
            </a:r>
            <a:r>
              <a:rPr lang="en-GB" sz="2800" b="1" dirty="0" smtClean="0"/>
              <a:t>Input </a:t>
            </a:r>
            <a:r>
              <a:rPr lang="en-GB" sz="2800" b="1" dirty="0"/>
              <a:t>(X) → Known Output (Y)</a:t>
            </a:r>
            <a:endParaRPr lang="en-GB" sz="2800" dirty="0"/>
          </a:p>
          <a:p>
            <a:r>
              <a:rPr lang="en-IN" sz="2800" dirty="0"/>
              <a:t>For example</a:t>
            </a:r>
            <a:r>
              <a:rPr lang="en-IN" sz="2800" dirty="0" smtClean="0"/>
              <a:t>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194673"/>
              </p:ext>
            </p:extLst>
          </p:nvPr>
        </p:nvGraphicFramePr>
        <p:xfrm>
          <a:off x="3858719" y="2470115"/>
          <a:ext cx="5176838" cy="1981200"/>
        </p:xfrm>
        <a:graphic>
          <a:graphicData uri="http://schemas.openxmlformats.org/drawingml/2006/table">
            <a:tbl>
              <a:tblPr/>
              <a:tblGrid>
                <a:gridCol w="2588419"/>
                <a:gridCol w="258841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607087" y="4566621"/>
            <a:ext cx="1096680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the relationship between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hours and marks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Then, if we give: Study Hours = 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predict the expected marks.</a:t>
            </a:r>
          </a:p>
        </p:txBody>
      </p:sp>
    </p:spTree>
    <p:extLst>
      <p:ext uri="{BB962C8B-B14F-4D97-AF65-F5344CB8AC3E}">
        <p14:creationId xmlns:p14="http://schemas.microsoft.com/office/powerpoint/2010/main" val="27792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600" y="0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75804" y="175756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Supervised Learning Basics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874732"/>
            <a:ext cx="11786400" cy="548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1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Supervised Learning Basics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pic>
        <p:nvPicPr>
          <p:cNvPr id="10" name="Google Shape;316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441" y="1188159"/>
            <a:ext cx="10576359" cy="48299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599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Supervised </a:t>
            </a:r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learning problems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04826" y="854440"/>
            <a:ext cx="71961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is mainly divided into</a:t>
            </a: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60" y="1910613"/>
            <a:ext cx="5151474" cy="43044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50996" y="1416527"/>
            <a:ext cx="2321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 Classification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51486" y="1363845"/>
            <a:ext cx="2272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AutoNum type="alphaUcPeriod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en-GB" dirty="0"/>
              <a:t>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36" y="1904729"/>
            <a:ext cx="5186363" cy="431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2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34" y="240615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530020" y="392775"/>
            <a:ext cx="56426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Learning Activity-1: </a:t>
            </a:r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MCQ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524659" y="920396"/>
            <a:ext cx="1082914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What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main purpose of supervised learning?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To find hidden patterns without labels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To learn from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and predict outputs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To group similar data points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To randomly generate new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4658" y="2674722"/>
            <a:ext cx="112665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2.Which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following is an example of a classification problem?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Predicting house price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Predicting temperature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Predicting whether an email is spam or not spam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Predicting a student's exact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4657" y="4377037"/>
            <a:ext cx="112665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3.Which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following is a common problem in supervised learning?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Overfitting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Data leakage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Insufficient training data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All of the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20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34" y="240615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339520" y="114202"/>
            <a:ext cx="56426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Learning Activity-1: </a:t>
            </a:r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Think-pair-share</a:t>
            </a:r>
          </a:p>
          <a:p>
            <a:pPr algn="ctr"/>
            <a:r>
              <a:rPr lang="en-GB" sz="2400" b="1" dirty="0" smtClean="0">
                <a:latin typeface="Arial"/>
                <a:cs typeface="Arial"/>
                <a:sym typeface="Arial"/>
              </a:rPr>
              <a:t>Reflections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524659" y="920396"/>
            <a:ext cx="1082914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What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main purpose of supervised learning?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To find hidden patterns without labels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To learn from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and predict outputs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To group similar data points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To randomly generate new data</a:t>
            </a:r>
          </a:p>
          <a:p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Answer: B. To learn from </a:t>
            </a:r>
            <a:r>
              <a:rPr lang="en-GB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and predict outputs</a:t>
            </a:r>
            <a:endPara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4658" y="2674722"/>
            <a:ext cx="112665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2.Which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following is an example of a classification problem?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Predicting house price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Predicting temperature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Predicting whether an email is spam or not spam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Predicting a student's exact marks</a:t>
            </a:r>
          </a:p>
          <a:p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Answer: C. Predicting whether an email is spam or not spam</a:t>
            </a:r>
            <a:endPara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4657" y="4377037"/>
            <a:ext cx="112665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3.Which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following is a common problem in supervised learning?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Overfitting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Data leakage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Insufficient training data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All of the above</a:t>
            </a:r>
          </a:p>
          <a:p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Answer: D. All of the above</a:t>
            </a:r>
            <a:endPara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1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Simple </a:t>
            </a:r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Linear </a:t>
            </a:r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Regression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240506" y="920236"/>
            <a:ext cx="1143565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Regression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simplest regression algorithms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input variable (X)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output variable (Y</a:t>
            </a: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want to predict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 based on house area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House area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House price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collect data such as: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454149"/>
              </p:ext>
            </p:extLst>
          </p:nvPr>
        </p:nvGraphicFramePr>
        <p:xfrm>
          <a:off x="1845098" y="3597892"/>
          <a:ext cx="6886576" cy="2377440"/>
        </p:xfrm>
        <a:graphic>
          <a:graphicData uri="http://schemas.openxmlformats.org/drawingml/2006/table">
            <a:tbl>
              <a:tblPr/>
              <a:tblGrid>
                <a:gridCol w="3443288"/>
                <a:gridCol w="3443288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 Area (</a:t>
                      </a:r>
                      <a:r>
                        <a:rPr lang="en-IN" sz="20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sq.ft</a:t>
                      </a:r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47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Simple </a:t>
            </a:r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Linear </a:t>
            </a:r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Regression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8F1D419-410F-F798-8607-93F6DF977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24" y="1057275"/>
            <a:ext cx="11014363" cy="506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2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Simple </a:t>
            </a:r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Linear </a:t>
            </a:r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Regression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0A195C4-E58A-4EFB-09BA-60A09061E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40" y="1033218"/>
            <a:ext cx="11247120" cy="509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1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Simple </a:t>
            </a:r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Linear </a:t>
            </a:r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Regression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A694EBE-6040-61FC-34A8-C32D42E3A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884" y="977336"/>
            <a:ext cx="11360276" cy="538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15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Simple </a:t>
            </a:r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Linear </a:t>
            </a:r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Regression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01D7960-D776-EE0E-2482-0EE6E582B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96" y="1028700"/>
            <a:ext cx="11351964" cy="527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9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Simple </a:t>
            </a:r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Linear </a:t>
            </a:r>
            <a:r>
              <a:rPr lang="en-GB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Regression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7442639-7FB5-FC21-8A72-20C6C07FC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3" y="1063111"/>
            <a:ext cx="11347547" cy="506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1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34" y="240615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530020" y="392775"/>
            <a:ext cx="56426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Learning </a:t>
            </a:r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Activity-2: </a:t>
            </a:r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Think-pair-share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733424" y="1311756"/>
            <a:ext cx="1082914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college wants to use Machine Learning to predict whether a student will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or Fail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attendance, assignment marks, and study hours.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68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530020" y="298769"/>
            <a:ext cx="56426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Learning </a:t>
            </a:r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Activity-2: </a:t>
            </a:r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Think-pair-share</a:t>
            </a:r>
            <a:endParaRPr lang="en-IN" sz="2400" dirty="0"/>
          </a:p>
        </p:txBody>
      </p:sp>
      <p:sp>
        <p:nvSpPr>
          <p:cNvPr id="10" name="Google Shape;334;p21"/>
          <p:cNvSpPr txBox="1">
            <a:spLocks/>
          </p:cNvSpPr>
          <p:nvPr/>
        </p:nvSpPr>
        <p:spPr>
          <a:xfrm>
            <a:off x="2243139" y="1964010"/>
            <a:ext cx="7567803" cy="16445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 b="1" dirty="0" smtClean="0">
                <a:solidFill>
                  <a:schemeClr val="dk2"/>
                </a:solidFill>
              </a:rPr>
              <a:t>Reflection of</a:t>
            </a:r>
            <a:br>
              <a:rPr lang="en-US" sz="4000" b="1" dirty="0" smtClean="0">
                <a:solidFill>
                  <a:schemeClr val="dk2"/>
                </a:solidFill>
              </a:rPr>
            </a:br>
            <a:r>
              <a:rPr lang="en-US" sz="4000" b="1" dirty="0" smtClean="0">
                <a:solidFill>
                  <a:schemeClr val="dk2"/>
                </a:solidFill>
              </a:rPr>
              <a:t>Learning </a:t>
            </a:r>
            <a:r>
              <a:rPr lang="en-US" sz="4000" b="1" dirty="0" smtClean="0">
                <a:solidFill>
                  <a:schemeClr val="dk2"/>
                </a:solidFill>
              </a:rPr>
              <a:t>Activity-2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60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FC14F6-7B57-DCCF-E6C1-F00D5A0C0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2061" y="256690"/>
            <a:ext cx="3781425" cy="540216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Summary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200A3D7-8C56-079A-BFFF-58D27E7ED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xmlns="" id="{41A9FE4B-6F20-1C22-6353-F1166E69B9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7673859"/>
              </p:ext>
            </p:extLst>
          </p:nvPr>
        </p:nvGraphicFramePr>
        <p:xfrm>
          <a:off x="2628718" y="1451536"/>
          <a:ext cx="7439207" cy="4020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5" y="749508"/>
            <a:ext cx="9718111" cy="1576446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Ensure attainment of LOs in alignment to the learning activities:</a:t>
            </a:r>
            <a:r>
              <a:rPr lang="en-I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 (1-2)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5C8336F-1062-6386-8BEE-9A71FD3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E29D7986-4818-A798-4420-A7D3A24FA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grpSp>
        <p:nvGrpSpPr>
          <p:cNvPr id="16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7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Differentiate between regression and classification problems in supervised learning and identify suitable real-world applications for each.</a:t>
              </a:r>
            </a:p>
          </p:txBody>
        </p:sp>
        <p:sp>
          <p:nvSpPr>
            <p:cNvPr id="19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Apply Simple Linear Regression to model the relationship between an input variable and a continuous output, and interpret the regression line and predictions.</a:t>
              </a:r>
            </a:p>
          </p:txBody>
        </p:sp>
        <p:sp>
          <p:nvSpPr>
            <p:cNvPr id="21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09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5" y="854440"/>
            <a:ext cx="9144000" cy="859381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Georgia" panose="02040502050405020303" pitchFamily="18" charset="0"/>
              </a:rPr>
              <a:t>Post </a:t>
            </a:r>
            <a:r>
              <a:rPr lang="en-US" sz="4400" dirty="0">
                <a:latin typeface="Georgia" panose="02040502050405020303" pitchFamily="18" charset="0"/>
              </a:rPr>
              <a:t>S</a:t>
            </a:r>
            <a:r>
              <a:rPr lang="en-US" sz="4400" dirty="0" smtClean="0">
                <a:latin typeface="Georgia" panose="02040502050405020303" pitchFamily="18" charset="0"/>
              </a:rPr>
              <a:t>ession Activity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01523D9-5DDB-3527-A0E3-5779C8EBF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190750"/>
            <a:ext cx="2871788" cy="287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73" y="1128467"/>
            <a:ext cx="10510759" cy="824524"/>
          </a:xfrm>
        </p:spPr>
        <p:txBody>
          <a:bodyPr>
            <a:noAutofit/>
          </a:bodyPr>
          <a:lstStyle/>
          <a:p>
            <a:r>
              <a:rPr lang="en-IN" sz="5400" dirty="0">
                <a:latin typeface="Georgia" panose="02040502050405020303" pitchFamily="18" charset="0"/>
              </a:rPr>
              <a:t>Information about the next lesson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71654" y="2613842"/>
            <a:ext cx="9586912" cy="1278647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GB" sz="3200" b="1" dirty="0"/>
              <a:t>Multiple Linear Regression</a:t>
            </a:r>
            <a:endParaRPr lang="en-IN" sz="32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D834257-EC96-D536-3BBD-72E7CFA6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22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F6F593-41A2-5797-581D-24AD95F1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0691" y="1575601"/>
            <a:ext cx="4805996" cy="12971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Review and Reflection from students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506AAFE-4113-97E4-34C4-18F6BED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26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2D872DDF-4447-626A-EA2D-F25500CB5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DEA843D-98A8-0F4E-0617-582CE9651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89D1390B-7E13-4B4F-9CB2-391063412E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8" name="Freeform: Shape 13">
              <a:extLst>
                <a:ext uri="{FF2B5EF4-FFF2-40B4-BE49-F238E27FC236}">
                  <a16:creationId xmlns:a16="http://schemas.microsoft.com/office/drawing/2014/main" xmlns="" id="{9E720206-AA49-4786-A932-A2650DE091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4">
              <a:extLst>
                <a:ext uri="{FF2B5EF4-FFF2-40B4-BE49-F238E27FC236}">
                  <a16:creationId xmlns:a16="http://schemas.microsoft.com/office/drawing/2014/main" xmlns="" id="{C72F6EE6-EDE9-45A5-8F6D-02B9B7CB2C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5">
              <a:extLst>
                <a:ext uri="{FF2B5EF4-FFF2-40B4-BE49-F238E27FC236}">
                  <a16:creationId xmlns:a16="http://schemas.microsoft.com/office/drawing/2014/main" xmlns="" id="{C093DC50-3BD7-46B1-A300-CD207E152FF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Graphic 5" descr="Smiling Face with No Fill">
            <a:extLst>
              <a:ext uri="{FF2B5EF4-FFF2-40B4-BE49-F238E27FC236}">
                <a16:creationId xmlns:a16="http://schemas.microsoft.com/office/drawing/2014/main" xmlns="" id="{74418C2F-62A7-9D29-C346-38DEE0440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3350" y="3271986"/>
            <a:ext cx="26765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5690</TotalTime>
  <Words>912</Words>
  <Application>Microsoft Office PowerPoint</Application>
  <PresentationFormat>Widescreen</PresentationFormat>
  <Paragraphs>172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Georgia</vt:lpstr>
      <vt:lpstr>Times New Roman</vt:lpstr>
      <vt:lpstr>Wingdings</vt:lpstr>
      <vt:lpstr>Office Theme</vt:lpstr>
      <vt:lpstr>Supervised Learning: regression and classification problems, Simple Linear Regression   Session No.: 08 Course Name: Machine Learning Course Code: R1UC525B Instructor Name: Dr. Sivakumar Madeshwaran Duration: 50 Minutes Date of Conduction of Class: 08-09-2026 </vt:lpstr>
      <vt:lpstr>PowerPoint Presentation</vt:lpstr>
      <vt:lpstr>Reflect on the responses of post session activity  </vt:lpstr>
      <vt:lpstr>“If we know the number of hours a student studies, can we predict their exam marks?”</vt:lpstr>
      <vt:lpstr>PowerPoint Presentation</vt:lpstr>
      <vt:lpstr>At the end of this session students will be able to </vt:lpstr>
      <vt:lpstr>Session Outline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Ensure attainment of LOs in alignment to the learning activities: outcomes (1-2)</vt:lpstr>
      <vt:lpstr>Post Session Activity</vt:lpstr>
      <vt:lpstr>Information about the next lesson</vt:lpstr>
      <vt:lpstr>Review and Reflection from students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web:  WWW, Web Browser, Client Server and Communication   Session No.: Course Name:  Course Code: Instructor Name: Duration: Date of Conduction of Class:  </dc:title>
  <dc:creator>Deepak Gupta</dc:creator>
  <cp:lastModifiedBy>Microsoft account</cp:lastModifiedBy>
  <cp:revision>302</cp:revision>
  <dcterms:created xsi:type="dcterms:W3CDTF">2024-08-22T06:33:55Z</dcterms:created>
  <dcterms:modified xsi:type="dcterms:W3CDTF">2026-09-07T11:58:32Z</dcterms:modified>
</cp:coreProperties>
</file>