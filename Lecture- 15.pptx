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7" r:id="rId2"/>
    <p:sldId id="258" r:id="rId3"/>
    <p:sldId id="259" r:id="rId4"/>
    <p:sldId id="287" r:id="rId5"/>
    <p:sldId id="282" r:id="rId6"/>
    <p:sldId id="260" r:id="rId7"/>
    <p:sldId id="276"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14"/>
    <p:restoredTop sz="95807"/>
  </p:normalViewPr>
  <p:slideViewPr>
    <p:cSldViewPr snapToGrid="0">
      <p:cViewPr varScale="1">
        <p:scale>
          <a:sx n="78" d="100"/>
          <a:sy n="78"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vProcess5" loCatId="process" qsTypeId="urn:microsoft.com/office/officeart/2005/8/quickstyle/simple1#1" qsCatId="simple" csTypeId="urn:microsoft.com/office/officeart/2005/8/colors/colorful2#1" csCatId="colorful" phldr="1"/>
      <dgm:spPr/>
      <dgm:t>
        <a:bodyPr/>
        <a:lstStyle/>
        <a:p>
          <a:endParaRPr lang="en-US"/>
        </a:p>
      </dgm:t>
    </dgm:pt>
    <dgm:pt modelId="{A3B4F848-7886-4B10-8E34-39E0B844A474}">
      <dgm:prSet custT="1"/>
      <dgm:spPr/>
      <dgm:t>
        <a:bodyPr/>
        <a:lstStyle/>
        <a:p>
          <a:pPr marL="355600" indent="0" algn="just" defTabSz="1030288"/>
          <a:r>
            <a:rPr lang="en-IN" sz="2800" dirty="0">
              <a:latin typeface="Times New Roman" panose="02020603050405020304" pitchFamily="18" charset="0"/>
              <a:cs typeface="Times New Roman" panose="02020603050405020304" pitchFamily="18" charset="0"/>
            </a:rPr>
            <a:t>Learning Outcome 1:Explain the purpose of </a:t>
          </a:r>
          <a:r>
            <a:rPr lang="en-IN" sz="2800" b="1" dirty="0"/>
            <a:t>System Testing &amp; Acceptance Testing</a:t>
          </a:r>
          <a:endParaRPr lang="en-US" sz="2800" dirty="0">
            <a:latin typeface="Times New Roman" panose="02020603050405020304" pitchFamily="18" charset="0"/>
            <a:cs typeface="Times New Roman" panose="02020603050405020304" pitchFamily="18" charset="0"/>
          </a:endParaRP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CD4A4803-2F0F-9245-80E8-444A982E7CF8}">
      <dgm:prSet/>
      <dgm:spPr/>
      <dgm:t>
        <a:bodyPr/>
        <a:lstStyle/>
        <a:p>
          <a:r>
            <a:rPr lang="en-IN" dirty="0">
              <a:latin typeface="Times New Roman" panose="02020603050405020304" pitchFamily="18" charset="0"/>
              <a:cs typeface="Times New Roman" panose="02020603050405020304" pitchFamily="18" charset="0"/>
            </a:rPr>
            <a:t>Learning Outcome 2: Differentiate between </a:t>
          </a:r>
          <a:r>
            <a:rPr lang="en-IN" b="1" dirty="0"/>
            <a:t>System Testing Acceptance Testing</a:t>
          </a:r>
          <a:endParaRPr lang="en-US" dirty="0">
            <a:latin typeface="Times New Roman" panose="02020603050405020304" pitchFamily="18" charset="0"/>
            <a:cs typeface="Times New Roman" panose="02020603050405020304" pitchFamily="18" charset="0"/>
          </a:endParaRPr>
        </a:p>
      </dgm:t>
    </dgm:pt>
    <dgm:pt modelId="{57658A3E-511E-7541-BAD9-7E0F312A55A5}" type="parTrans" cxnId="{B4BDC481-DC64-BE4D-8CCE-7B88273C1A41}">
      <dgm:prSet/>
      <dgm:spPr/>
      <dgm:t>
        <a:bodyPr/>
        <a:lstStyle/>
        <a:p>
          <a:endParaRPr lang="en-GB"/>
        </a:p>
      </dgm:t>
    </dgm:pt>
    <dgm:pt modelId="{EF8FD1A9-B092-4F43-8476-FC03B290D9E6}" type="sibTrans" cxnId="{B4BDC481-DC64-BE4D-8CCE-7B88273C1A41}">
      <dgm:prSet/>
      <dgm:spPr/>
      <dgm:t>
        <a:bodyPr/>
        <a:lstStyle/>
        <a:p>
          <a:endParaRPr lang="en-GB"/>
        </a:p>
      </dgm:t>
    </dgm:pt>
    <dgm:pt modelId="{E218E0F1-97EC-4D60-8F4A-A6E21D910199}" type="pres">
      <dgm:prSet presAssocID="{B7ED251F-A7A3-4D25-B004-4241BE03EDC3}" presName="outerComposite" presStyleCnt="0">
        <dgm:presLayoutVars>
          <dgm:chMax val="5"/>
          <dgm:dir/>
          <dgm:resizeHandles val="exact"/>
        </dgm:presLayoutVars>
      </dgm:prSet>
      <dgm:spPr/>
    </dgm:pt>
    <dgm:pt modelId="{353F2BDB-A1CE-4ECD-BC0F-35AD5A327550}" type="pres">
      <dgm:prSet presAssocID="{B7ED251F-A7A3-4D25-B004-4241BE03EDC3}" presName="dummyMaxCanvas" presStyleCnt="0">
        <dgm:presLayoutVars/>
      </dgm:prSet>
      <dgm:spPr/>
    </dgm:pt>
    <dgm:pt modelId="{910118FD-242E-7E4D-BD7E-BFEDDCC7F725}" type="pres">
      <dgm:prSet presAssocID="{B7ED251F-A7A3-4D25-B004-4241BE03EDC3}" presName="TwoNodes_1" presStyleLbl="node1" presStyleIdx="0" presStyleCnt="2">
        <dgm:presLayoutVars>
          <dgm:bulletEnabled val="1"/>
        </dgm:presLayoutVars>
      </dgm:prSet>
      <dgm:spPr/>
    </dgm:pt>
    <dgm:pt modelId="{BC8AD009-32A0-1A45-88BD-F73B489890EC}" type="pres">
      <dgm:prSet presAssocID="{B7ED251F-A7A3-4D25-B004-4241BE03EDC3}" presName="TwoNodes_2" presStyleLbl="node1" presStyleIdx="1" presStyleCnt="2">
        <dgm:presLayoutVars>
          <dgm:bulletEnabled val="1"/>
        </dgm:presLayoutVars>
      </dgm:prSet>
      <dgm:spPr/>
    </dgm:pt>
    <dgm:pt modelId="{A253E6B7-A78A-F34C-9134-A0FE6D4AA709}" type="pres">
      <dgm:prSet presAssocID="{B7ED251F-A7A3-4D25-B004-4241BE03EDC3}" presName="TwoConn_1-2" presStyleLbl="fgAccFollowNode1" presStyleIdx="0" presStyleCnt="1">
        <dgm:presLayoutVars>
          <dgm:bulletEnabled val="1"/>
        </dgm:presLayoutVars>
      </dgm:prSet>
      <dgm:spPr/>
    </dgm:pt>
    <dgm:pt modelId="{01BDEC0E-E012-B24D-8F5A-4F6282368492}" type="pres">
      <dgm:prSet presAssocID="{B7ED251F-A7A3-4D25-B004-4241BE03EDC3}" presName="TwoNodes_1_text" presStyleLbl="node1" presStyleIdx="1" presStyleCnt="2">
        <dgm:presLayoutVars>
          <dgm:bulletEnabled val="1"/>
        </dgm:presLayoutVars>
      </dgm:prSet>
      <dgm:spPr/>
    </dgm:pt>
    <dgm:pt modelId="{EF306E26-F55E-0941-8B7D-DAD9C3185B11}" type="pres">
      <dgm:prSet presAssocID="{B7ED251F-A7A3-4D25-B004-4241BE03EDC3}" presName="TwoNodes_2_text" presStyleLbl="node1" presStyleIdx="1" presStyleCnt="2">
        <dgm:presLayoutVars>
          <dgm:bulletEnabled val="1"/>
        </dgm:presLayoutVars>
      </dgm:prSet>
      <dgm:spPr/>
    </dgm:pt>
  </dgm:ptLst>
  <dgm:cxnLst>
    <dgm:cxn modelId="{08A81826-7273-44A3-AF99-B781181E27AF}" type="presOf" srcId="{B7ED251F-A7A3-4D25-B004-4241BE03EDC3}" destId="{E218E0F1-97EC-4D60-8F4A-A6E21D910199}" srcOrd="0" destOrd="0" presId="urn:microsoft.com/office/officeart/2005/8/layout/vProcess5"/>
    <dgm:cxn modelId="{F352CE66-A1CB-134D-B43C-402C0B338CDE}" type="presOf" srcId="{A3B4F848-7886-4B10-8E34-39E0B844A474}" destId="{910118FD-242E-7E4D-BD7E-BFEDDCC7F725}" srcOrd="0" destOrd="0" presId="urn:microsoft.com/office/officeart/2005/8/layout/vProcess5"/>
    <dgm:cxn modelId="{A4C7DD66-3DCE-8A44-9975-FDCC0F278A0B}" type="presOf" srcId="{3DE2F17F-758E-4FA7-AB6B-444F38F1FFC4}" destId="{A253E6B7-A78A-F34C-9134-A0FE6D4AA709}" srcOrd="0" destOrd="0" presId="urn:microsoft.com/office/officeart/2005/8/layout/vProcess5"/>
    <dgm:cxn modelId="{B4BDC481-DC64-BE4D-8CCE-7B88273C1A41}" srcId="{B7ED251F-A7A3-4D25-B004-4241BE03EDC3}" destId="{CD4A4803-2F0F-9245-80E8-444A982E7CF8}" srcOrd="1" destOrd="0" parTransId="{57658A3E-511E-7541-BAD9-7E0F312A55A5}" sibTransId="{EF8FD1A9-B092-4F43-8476-FC03B290D9E6}"/>
    <dgm:cxn modelId="{62A0299E-0244-0F47-93AB-DD4FFB48634C}" type="presOf" srcId="{A3B4F848-7886-4B10-8E34-39E0B844A474}" destId="{01BDEC0E-E012-B24D-8F5A-4F6282368492}" srcOrd="1" destOrd="0" presId="urn:microsoft.com/office/officeart/2005/8/layout/vProcess5"/>
    <dgm:cxn modelId="{01798AA5-1FBA-A542-9469-A87DA3F99E5C}" type="presOf" srcId="{CD4A4803-2F0F-9245-80E8-444A982E7CF8}" destId="{EF306E26-F55E-0941-8B7D-DAD9C3185B11}" srcOrd="1" destOrd="0" presId="urn:microsoft.com/office/officeart/2005/8/layout/vProcess5"/>
    <dgm:cxn modelId="{10F4C3C1-D8D4-465A-A58C-B8F418AC919B}" srcId="{B7ED251F-A7A3-4D25-B004-4241BE03EDC3}" destId="{A3B4F848-7886-4B10-8E34-39E0B844A474}" srcOrd="0" destOrd="0" parTransId="{421929F8-4756-4702-AAD7-7A5185D82904}" sibTransId="{3DE2F17F-758E-4FA7-AB6B-444F38F1FFC4}"/>
    <dgm:cxn modelId="{39F4A3D4-102B-CE4E-AD08-06C9E01DA548}" type="presOf" srcId="{CD4A4803-2F0F-9245-80E8-444A982E7CF8}" destId="{BC8AD009-32A0-1A45-88BD-F73B489890EC}" srcOrd="0" destOrd="0" presId="urn:microsoft.com/office/officeart/2005/8/layout/vProcess5"/>
    <dgm:cxn modelId="{61E78557-A66C-4CE5-B60F-73372A952247}" type="presParOf" srcId="{E218E0F1-97EC-4D60-8F4A-A6E21D910199}" destId="{353F2BDB-A1CE-4ECD-BC0F-35AD5A327550}" srcOrd="0" destOrd="0" presId="urn:microsoft.com/office/officeart/2005/8/layout/vProcess5"/>
    <dgm:cxn modelId="{FB9ABE54-3974-8D41-97C8-6632D51DA4DC}" type="presParOf" srcId="{E218E0F1-97EC-4D60-8F4A-A6E21D910199}" destId="{910118FD-242E-7E4D-BD7E-BFEDDCC7F725}" srcOrd="1" destOrd="0" presId="urn:microsoft.com/office/officeart/2005/8/layout/vProcess5"/>
    <dgm:cxn modelId="{DE7E29B2-391B-E24C-9A9B-848AE04909E1}" type="presParOf" srcId="{E218E0F1-97EC-4D60-8F4A-A6E21D910199}" destId="{BC8AD009-32A0-1A45-88BD-F73B489890EC}" srcOrd="2" destOrd="0" presId="urn:microsoft.com/office/officeart/2005/8/layout/vProcess5"/>
    <dgm:cxn modelId="{FF609240-B18E-3144-AABD-AB2A5D3CF52C}" type="presParOf" srcId="{E218E0F1-97EC-4D60-8F4A-A6E21D910199}" destId="{A253E6B7-A78A-F34C-9134-A0FE6D4AA709}" srcOrd="3" destOrd="0" presId="urn:microsoft.com/office/officeart/2005/8/layout/vProcess5"/>
    <dgm:cxn modelId="{B74B8680-EDBC-174A-9E2F-5D13FADCE917}" type="presParOf" srcId="{E218E0F1-97EC-4D60-8F4A-A6E21D910199}" destId="{01BDEC0E-E012-B24D-8F5A-4F6282368492}" srcOrd="4" destOrd="0" presId="urn:microsoft.com/office/officeart/2005/8/layout/vProcess5"/>
    <dgm:cxn modelId="{5081CD40-0DAB-3246-8805-4772C0AECD40}" type="presParOf" srcId="{E218E0F1-97EC-4D60-8F4A-A6E21D910199}" destId="{EF306E26-F55E-0941-8B7D-DAD9C3185B11}"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0118FD-242E-7E4D-BD7E-BFEDDCC7F725}">
      <dsp:nvSpPr>
        <dsp:cNvPr id="0" name=""/>
        <dsp:cNvSpPr/>
      </dsp:nvSpPr>
      <dsp:spPr>
        <a:xfrm>
          <a:off x="0" y="0"/>
          <a:ext cx="9288654" cy="166023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355600" lvl="0" indent="0" algn="just" defTabSz="1030288">
            <a:lnSpc>
              <a:spcPct val="90000"/>
            </a:lnSpc>
            <a:spcBef>
              <a:spcPct val="0"/>
            </a:spcBef>
            <a:spcAft>
              <a:spcPct val="35000"/>
            </a:spcAft>
            <a:buNone/>
          </a:pPr>
          <a:r>
            <a:rPr lang="en-IN" sz="2800" kern="1200" dirty="0">
              <a:latin typeface="Times New Roman" panose="02020603050405020304" pitchFamily="18" charset="0"/>
              <a:cs typeface="Times New Roman" panose="02020603050405020304" pitchFamily="18" charset="0"/>
            </a:rPr>
            <a:t>Learning Outcome 1:Explain the purpose of </a:t>
          </a:r>
          <a:r>
            <a:rPr lang="en-IN" sz="2800" b="1" kern="1200" dirty="0"/>
            <a:t>System Testing &amp; Acceptance Testing</a:t>
          </a:r>
          <a:endParaRPr lang="en-US" sz="2800" kern="1200" dirty="0">
            <a:latin typeface="Times New Roman" panose="02020603050405020304" pitchFamily="18" charset="0"/>
            <a:cs typeface="Times New Roman" panose="02020603050405020304" pitchFamily="18" charset="0"/>
          </a:endParaRPr>
        </a:p>
      </dsp:txBody>
      <dsp:txXfrm>
        <a:off x="48627" y="48627"/>
        <a:ext cx="7572674" cy="1562978"/>
      </dsp:txXfrm>
    </dsp:sp>
    <dsp:sp modelId="{BC8AD009-32A0-1A45-88BD-F73B489890EC}">
      <dsp:nvSpPr>
        <dsp:cNvPr id="0" name=""/>
        <dsp:cNvSpPr/>
      </dsp:nvSpPr>
      <dsp:spPr>
        <a:xfrm>
          <a:off x="1639174" y="2029172"/>
          <a:ext cx="9288654" cy="1660232"/>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IN" sz="3200" kern="1200" dirty="0">
              <a:latin typeface="Times New Roman" panose="02020603050405020304" pitchFamily="18" charset="0"/>
              <a:cs typeface="Times New Roman" panose="02020603050405020304" pitchFamily="18" charset="0"/>
            </a:rPr>
            <a:t>Learning Outcome 2: Differentiate between </a:t>
          </a:r>
          <a:r>
            <a:rPr lang="en-IN" sz="3200" b="1" kern="1200" dirty="0"/>
            <a:t>System Testing Acceptance Testing</a:t>
          </a:r>
          <a:endParaRPr lang="en-US" sz="3200" kern="1200" dirty="0">
            <a:latin typeface="Times New Roman" panose="02020603050405020304" pitchFamily="18" charset="0"/>
            <a:cs typeface="Times New Roman" panose="02020603050405020304" pitchFamily="18" charset="0"/>
          </a:endParaRPr>
        </a:p>
      </dsp:txBody>
      <dsp:txXfrm>
        <a:off x="1687801" y="2077799"/>
        <a:ext cx="6473075" cy="1562978"/>
      </dsp:txXfrm>
    </dsp:sp>
    <dsp:sp modelId="{A253E6B7-A78A-F34C-9134-A0FE6D4AA709}">
      <dsp:nvSpPr>
        <dsp:cNvPr id="0" name=""/>
        <dsp:cNvSpPr/>
      </dsp:nvSpPr>
      <dsp:spPr>
        <a:xfrm>
          <a:off x="8209503" y="1305127"/>
          <a:ext cx="1079150" cy="1079150"/>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452312" y="1305127"/>
        <a:ext cx="593532" cy="81206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CBA807-49AB-7A45-8E58-EBB4CF7918E9}"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959D2-AC9F-6443-B5A2-386D1E6C7E2C}" type="slidenum">
              <a:rPr lang="en-US" smtClean="0"/>
              <a:t>‹#›</a:t>
            </a:fld>
            <a:endParaRPr lang="en-US"/>
          </a:p>
        </p:txBody>
      </p:sp>
    </p:spTree>
    <p:extLst>
      <p:ext uri="{BB962C8B-B14F-4D97-AF65-F5344CB8AC3E}">
        <p14:creationId xmlns:p14="http://schemas.microsoft.com/office/powerpoint/2010/main" val="3377523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962603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65B3-E87B-7AC9-4B2E-4ADAAA3FBAE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34082EC-3924-CE97-E4B7-75B8377753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5C928D2-B9E3-4B2A-25B1-80CADF0F532A}"/>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5" name="Footer Placeholder 4">
            <a:extLst>
              <a:ext uri="{FF2B5EF4-FFF2-40B4-BE49-F238E27FC236}">
                <a16:creationId xmlns:a16="http://schemas.microsoft.com/office/drawing/2014/main" id="{207B7247-EFC3-436A-2385-32A13BD12C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FED97-6FBE-DEC6-EE4F-E8A259FD2807}"/>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3120072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BADC7-4C1C-1B7C-4B33-5DCFF4D98D4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8B9A93F-2926-6910-A310-0E43BCCE44B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BBF881-3C74-1C2B-5D46-582FC0CBAFA0}"/>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5" name="Footer Placeholder 4">
            <a:extLst>
              <a:ext uri="{FF2B5EF4-FFF2-40B4-BE49-F238E27FC236}">
                <a16:creationId xmlns:a16="http://schemas.microsoft.com/office/drawing/2014/main" id="{A6BD905A-D2BB-D07D-E845-94C9AB5C60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89666D-DE80-BAA8-7431-2F91417D0263}"/>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3006817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87EA0-3D80-1EA6-9821-135481F7F85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F4216F8-E1BC-67BA-8542-47CAF4CE3C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A7ED481-760E-7089-85E2-614D91DB8CC7}"/>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5" name="Footer Placeholder 4">
            <a:extLst>
              <a:ext uri="{FF2B5EF4-FFF2-40B4-BE49-F238E27FC236}">
                <a16:creationId xmlns:a16="http://schemas.microsoft.com/office/drawing/2014/main" id="{A78764B0-F470-B5A7-E405-3911A5EAD2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6261E4-56CE-1A2F-F438-CB48E545CECC}"/>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1135386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E1F1-BCEE-503D-872B-5630BD075CF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357527E-D539-6E9C-57F1-2DF7D7A9EE3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864E4F9-9756-B4E3-E2F9-CF8A2657CEF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7A74FA7-92F0-CDC4-5801-160FDF365EC1}"/>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6" name="Footer Placeholder 5">
            <a:extLst>
              <a:ext uri="{FF2B5EF4-FFF2-40B4-BE49-F238E27FC236}">
                <a16:creationId xmlns:a16="http://schemas.microsoft.com/office/drawing/2014/main" id="{1F272835-B7AC-9DBD-FC2A-2FBE008203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FAAD2-3B19-BC13-3F90-FD2AE43834DE}"/>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3953762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F81AF-0889-619E-E709-F6EE4634912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6CB52C3-2E50-65AE-062E-D6050E97C1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DDB1D6D-5E3A-B6D3-5D26-EA7B28154B2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B3DB212-608F-57F3-9072-6A595A2DD3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8BE6A45-E32D-8414-7B6A-87FDD3E4EE0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18D63C5-8C64-07D3-5165-C14A8CA2F385}"/>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8" name="Footer Placeholder 7">
            <a:extLst>
              <a:ext uri="{FF2B5EF4-FFF2-40B4-BE49-F238E27FC236}">
                <a16:creationId xmlns:a16="http://schemas.microsoft.com/office/drawing/2014/main" id="{F6525906-D605-CCFC-19F1-B3198D3F45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E9F7FA-1584-09E5-160C-D1B6157F98D1}"/>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394067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E530D-C6B3-A67C-D180-61C38564FD8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87F3889-A11C-B722-40DD-CAC7F3A885AC}"/>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4" name="Footer Placeholder 3">
            <a:extLst>
              <a:ext uri="{FF2B5EF4-FFF2-40B4-BE49-F238E27FC236}">
                <a16:creationId xmlns:a16="http://schemas.microsoft.com/office/drawing/2014/main" id="{7065D8E5-7369-3776-64EC-212F0ABB4F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945E25-C84E-C86D-9C8C-88E19EEEEEBA}"/>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17004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71B3A4-1CA2-56DD-9E80-32CFDAEAA40C}"/>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3" name="Footer Placeholder 2">
            <a:extLst>
              <a:ext uri="{FF2B5EF4-FFF2-40B4-BE49-F238E27FC236}">
                <a16:creationId xmlns:a16="http://schemas.microsoft.com/office/drawing/2014/main" id="{A82A0ECF-92DB-E05A-AEB7-040FE19587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408B54-CA94-D7F8-4E53-05DF63741958}"/>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2389789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7431A-9F2A-F139-A645-9E7D38F5194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C2F29E6-9515-FF9C-327F-265268ED5C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84F38E5-789A-95D7-97EB-E4840F38BC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257241A-1D2F-2C5A-F771-2397405D3520}"/>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6" name="Footer Placeholder 5">
            <a:extLst>
              <a:ext uri="{FF2B5EF4-FFF2-40B4-BE49-F238E27FC236}">
                <a16:creationId xmlns:a16="http://schemas.microsoft.com/office/drawing/2014/main" id="{EA2209A6-FC2D-4F2E-27CD-138D414120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9F00BC-36E5-B604-74F7-8F8DB2C21500}"/>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2100923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A1A0C-2459-DDFF-D517-B0FC6D77F8A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0ADB6A-01A9-CF2A-6C59-D4D1884CD7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7A0854-11A9-6DDE-A98C-79DC5F3EE5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067B99-863D-141D-1B5E-6D6224E5C033}"/>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6" name="Footer Placeholder 5">
            <a:extLst>
              <a:ext uri="{FF2B5EF4-FFF2-40B4-BE49-F238E27FC236}">
                <a16:creationId xmlns:a16="http://schemas.microsoft.com/office/drawing/2014/main" id="{23C93EFD-EB70-CD0E-C3CD-F7AFCB4B1E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07C49F-DEE4-2F4B-76E3-76A50F4FAACB}"/>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80658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A6992-3400-5DED-536B-5A0E0C29E9B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E8519A9-3EB3-FE4D-BB99-3E3E4C8E1B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627FA0D-89FF-3676-0893-DDE82C2A395E}"/>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5" name="Footer Placeholder 4">
            <a:extLst>
              <a:ext uri="{FF2B5EF4-FFF2-40B4-BE49-F238E27FC236}">
                <a16:creationId xmlns:a16="http://schemas.microsoft.com/office/drawing/2014/main" id="{9729138C-E01B-43DC-B300-3FCCFE1140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3D4448-7B90-2390-C864-00B8797F9E9F}"/>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96612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1107C8-E5D5-C15D-98D3-139F429AA84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B7B646-6A84-DCD8-C408-5FD3B5CFAAA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AADB2A3-8600-8966-381F-FD24F61DFC26}"/>
              </a:ext>
            </a:extLst>
          </p:cNvPr>
          <p:cNvSpPr>
            <a:spLocks noGrp="1"/>
          </p:cNvSpPr>
          <p:nvPr>
            <p:ph type="dt" sz="half" idx="10"/>
          </p:nvPr>
        </p:nvSpPr>
        <p:spPr/>
        <p:txBody>
          <a:bodyPr/>
          <a:lstStyle/>
          <a:p>
            <a:fld id="{73A3D658-4F02-4D44-9CED-16B6303F750A}" type="datetimeFigureOut">
              <a:rPr lang="en-US" smtClean="0"/>
              <a:t>10/3/2026</a:t>
            </a:fld>
            <a:endParaRPr lang="en-US"/>
          </a:p>
        </p:txBody>
      </p:sp>
      <p:sp>
        <p:nvSpPr>
          <p:cNvPr id="5" name="Footer Placeholder 4">
            <a:extLst>
              <a:ext uri="{FF2B5EF4-FFF2-40B4-BE49-F238E27FC236}">
                <a16:creationId xmlns:a16="http://schemas.microsoft.com/office/drawing/2014/main" id="{BF04F07A-2668-090F-6FD9-01E3D8FFFC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54C673-D83A-794E-FB56-4FAA83A2350B}"/>
              </a:ext>
            </a:extLst>
          </p:cNvPr>
          <p:cNvSpPr>
            <a:spLocks noGrp="1"/>
          </p:cNvSpPr>
          <p:nvPr>
            <p:ph type="sldNum" sz="quarter" idx="12"/>
          </p:nvPr>
        </p:nvSpPr>
        <p:spPr/>
        <p:txBody>
          <a:bodyPr/>
          <a:lstStyle/>
          <a:p>
            <a:fld id="{CBBABA09-F83D-C24F-81DF-8B2B244E5969}" type="slidenum">
              <a:rPr lang="en-US" smtClean="0"/>
              <a:t>‹#›</a:t>
            </a:fld>
            <a:endParaRPr lang="en-US"/>
          </a:p>
        </p:txBody>
      </p:sp>
    </p:spTree>
    <p:extLst>
      <p:ext uri="{BB962C8B-B14F-4D97-AF65-F5344CB8AC3E}">
        <p14:creationId xmlns:p14="http://schemas.microsoft.com/office/powerpoint/2010/main" val="996680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3499A5-E5F9-E1D0-E81B-D718D1DFFA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B8D080F-92C2-0BB5-6577-4F224E714D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0C8CDC4-5EA7-27C3-EACD-0838D9C16C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A3D658-4F02-4D44-9CED-16B6303F750A}" type="datetimeFigureOut">
              <a:rPr lang="en-US" smtClean="0"/>
              <a:t>10/3/2026</a:t>
            </a:fld>
            <a:endParaRPr lang="en-US"/>
          </a:p>
        </p:txBody>
      </p:sp>
      <p:sp>
        <p:nvSpPr>
          <p:cNvPr id="5" name="Footer Placeholder 4">
            <a:extLst>
              <a:ext uri="{FF2B5EF4-FFF2-40B4-BE49-F238E27FC236}">
                <a16:creationId xmlns:a16="http://schemas.microsoft.com/office/drawing/2014/main" id="{65869C22-1921-7C24-67A9-0678AAB28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69BC08-52A6-0C84-0C6B-CF4C0AEE08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BABA09-F83D-C24F-81DF-8B2B244E5969}" type="slidenum">
              <a:rPr lang="en-US" smtClean="0"/>
              <a:t>‹#›</a:t>
            </a:fld>
            <a:endParaRPr lang="en-US"/>
          </a:p>
        </p:txBody>
      </p:sp>
    </p:spTree>
    <p:extLst>
      <p:ext uri="{BB962C8B-B14F-4D97-AF65-F5344CB8AC3E}">
        <p14:creationId xmlns:p14="http://schemas.microsoft.com/office/powerpoint/2010/main" val="1404857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diagramLayout" Target="../diagrams/layout1.xml"/><Relationship Id="rId7" Type="http://schemas.openxmlformats.org/officeDocument/2006/relationships/image" Target="../media/image5.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513100" y="1367222"/>
            <a:ext cx="10922100" cy="4647204"/>
          </a:xfrm>
          <a:prstGeom prst="rect">
            <a:avLst/>
          </a:prstGeom>
          <a:noFill/>
          <a:ln>
            <a:noFill/>
          </a:ln>
        </p:spPr>
        <p:txBody>
          <a:bodyPr spcFirstLastPara="1" wrap="square" lIns="91425" tIns="45700" rIns="91425" bIns="45700" anchor="b" anchorCtr="0">
            <a:normAutofit fontScale="90000"/>
          </a:bodyPr>
          <a:lstStyle/>
          <a:p>
            <a:pPr lvl="0" algn="l">
              <a:buSzPct val="100000"/>
            </a:pPr>
            <a:r>
              <a:rPr lang="en-IN" sz="4000" b="1" dirty="0">
                <a:latin typeface="Times New Roman" panose="02020603050405020304" pitchFamily="18" charset="0"/>
                <a:cs typeface="Times New Roman" panose="02020603050405020304" pitchFamily="18" charset="0"/>
              </a:rPr>
              <a:t>Testing Methodologies: System and Acceptance Testing</a:t>
            </a:r>
            <a:br>
              <a:rPr lang="en-IN" sz="4000" dirty="0"/>
            </a:br>
            <a:r>
              <a:rPr lang="en-IN" sz="4000" b="1" dirty="0">
                <a:latin typeface="Times New Roman" panose="02020603050405020304" pitchFamily="18" charset="0"/>
                <a:cs typeface="Times New Roman" panose="02020603050405020304" pitchFamily="18" charset="0"/>
              </a:rPr>
              <a:t>Testing</a:t>
            </a:r>
            <a:br>
              <a:rPr lang="en-IN" sz="4000" dirty="0"/>
            </a:br>
            <a:br>
              <a:rPr lang="en-IN" sz="5300" dirty="0">
                <a:latin typeface="Times New Roman"/>
                <a:ea typeface="Times New Roman"/>
                <a:cs typeface="Times New Roman"/>
                <a:sym typeface="Times New Roman"/>
              </a:rPr>
            </a:br>
            <a:r>
              <a:rPr lang="en-IN" sz="2200" b="1" i="0" u="none" strike="noStrike" dirty="0">
                <a:solidFill>
                  <a:srgbClr val="000000"/>
                </a:solidFill>
                <a:latin typeface="+mj-lt"/>
                <a:ea typeface="Georgia"/>
                <a:cs typeface="Georgia"/>
                <a:sym typeface="Georgia"/>
              </a:rPr>
              <a:t>Session No.: 15</a:t>
            </a:r>
            <a:br>
              <a:rPr lang="en-IN" sz="2200" b="1" i="0" u="none" strike="noStrike" dirty="0">
                <a:solidFill>
                  <a:srgbClr val="000000"/>
                </a:solidFill>
                <a:latin typeface="+mj-lt"/>
                <a:ea typeface="Georgia"/>
                <a:cs typeface="Georgia"/>
                <a:sym typeface="Georgia"/>
              </a:rPr>
            </a:br>
            <a:r>
              <a:rPr lang="en-IN" sz="2200" b="1" i="0" u="none" strike="noStrike" dirty="0">
                <a:solidFill>
                  <a:srgbClr val="000000"/>
                </a:solidFill>
                <a:latin typeface="+mj-lt"/>
                <a:ea typeface="Georgia"/>
                <a:cs typeface="Georgia"/>
                <a:sym typeface="Georgia"/>
              </a:rPr>
              <a:t>Course Name: </a:t>
            </a:r>
            <a:r>
              <a:rPr lang="en-IN" sz="2200" b="1" dirty="0">
                <a:solidFill>
                  <a:srgbClr val="000000"/>
                </a:solidFill>
                <a:latin typeface="+mj-lt"/>
                <a:ea typeface="Georgia"/>
                <a:cs typeface="Georgia"/>
                <a:sym typeface="Georgia"/>
              </a:rPr>
              <a:t>Software Engineering </a:t>
            </a:r>
            <a:br>
              <a:rPr lang="en-IN" sz="2200" b="1" dirty="0">
                <a:solidFill>
                  <a:srgbClr val="000000"/>
                </a:solidFill>
                <a:latin typeface="+mj-lt"/>
                <a:ea typeface="Georgia"/>
                <a:cs typeface="Georgia"/>
                <a:sym typeface="Georgia"/>
              </a:rPr>
            </a:br>
            <a:r>
              <a:rPr lang="en-IN" sz="2200" b="1" i="0" u="none" strike="noStrike" dirty="0">
                <a:solidFill>
                  <a:srgbClr val="000000"/>
                </a:solidFill>
                <a:latin typeface="+mj-lt"/>
                <a:ea typeface="Georgia"/>
                <a:cs typeface="Georgia"/>
                <a:sym typeface="Georgia"/>
              </a:rPr>
              <a:t>Course </a:t>
            </a:r>
            <a:r>
              <a:rPr lang="en-IN" sz="2200" b="1" dirty="0">
                <a:solidFill>
                  <a:srgbClr val="000000"/>
                </a:solidFill>
                <a:latin typeface="+mj-lt"/>
                <a:ea typeface="Georgia"/>
                <a:cs typeface="Georgia"/>
                <a:sym typeface="Georgia"/>
              </a:rPr>
              <a:t>Code: </a:t>
            </a:r>
            <a:r>
              <a:rPr lang="en-IN" sz="2400" b="1" dirty="0">
                <a:solidFill>
                  <a:srgbClr val="000000"/>
                </a:solidFill>
                <a:latin typeface="Times New Roman" panose="02020603050405020304" pitchFamily="18" charset="0"/>
                <a:ea typeface="Georgia"/>
                <a:cs typeface="Times New Roman" panose="02020603050405020304" pitchFamily="18" charset="0"/>
                <a:sym typeface="Georgia"/>
              </a:rPr>
              <a:t>R1UC542B </a:t>
            </a:r>
            <a:br>
              <a:rPr lang="en-IN" sz="2400" b="1" dirty="0">
                <a:solidFill>
                  <a:srgbClr val="000000"/>
                </a:solidFill>
                <a:latin typeface="Times New Roman" panose="02020603050405020304" pitchFamily="18" charset="0"/>
                <a:ea typeface="Georgia"/>
                <a:cs typeface="Times New Roman" panose="02020603050405020304" pitchFamily="18" charset="0"/>
                <a:sym typeface="Georgia"/>
              </a:rPr>
            </a:br>
            <a:r>
              <a:rPr lang="en-IN" sz="2200" b="1" dirty="0">
                <a:solidFill>
                  <a:srgbClr val="000000"/>
                </a:solidFill>
                <a:ea typeface="Georgia"/>
                <a:cs typeface="Times New Roman" panose="02020603050405020304" pitchFamily="18" charset="0"/>
                <a:sym typeface="Georgia"/>
              </a:rPr>
              <a:t>Faculty</a:t>
            </a:r>
            <a:r>
              <a:rPr lang="en-IN" sz="2200" b="1" i="0" u="none" strike="noStrike" dirty="0">
                <a:solidFill>
                  <a:srgbClr val="000000"/>
                </a:solidFill>
                <a:latin typeface="+mj-lt"/>
                <a:ea typeface="Georgia"/>
                <a:cs typeface="Georgia"/>
                <a:sym typeface="Georgia"/>
              </a:rPr>
              <a:t> Name: Dr Monalisa Panigrahi</a:t>
            </a:r>
            <a:br>
              <a:rPr lang="en-IN" sz="2200" b="1" i="0" u="none" strike="noStrike" dirty="0">
                <a:solidFill>
                  <a:srgbClr val="000000"/>
                </a:solidFill>
                <a:latin typeface="+mj-lt"/>
                <a:ea typeface="Georgia"/>
                <a:cs typeface="Georgia"/>
                <a:sym typeface="Georgia"/>
              </a:rPr>
            </a:br>
            <a:r>
              <a:rPr lang="en-IN" sz="2200" b="1" i="0" u="none" strike="noStrike" dirty="0">
                <a:solidFill>
                  <a:srgbClr val="000000"/>
                </a:solidFill>
                <a:latin typeface="+mj-lt"/>
                <a:ea typeface="Georgia"/>
                <a:cs typeface="Georgia"/>
                <a:sym typeface="Georgia"/>
              </a:rPr>
              <a:t>Duration: 50 minutes</a:t>
            </a:r>
            <a:br>
              <a:rPr lang="en-IN" sz="1800" b="1" dirty="0">
                <a:latin typeface="Georgia"/>
                <a:ea typeface="Georgia"/>
                <a:cs typeface="Georgia"/>
                <a:sym typeface="Georgia"/>
              </a:rPr>
            </a:br>
            <a:br>
              <a:rPr lang="en-IN" sz="1800" b="1" dirty="0">
                <a:latin typeface="Georgia"/>
                <a:ea typeface="Georgia"/>
                <a:cs typeface="Georgia"/>
                <a:sym typeface="Georgia"/>
              </a:rPr>
            </a:br>
            <a:endParaRPr sz="4800" b="1" dirty="0">
              <a:latin typeface="Georgia"/>
              <a:ea typeface="Georgia"/>
              <a:cs typeface="Georgia"/>
              <a:sym typeface="Georgia"/>
            </a:endParaRPr>
          </a:p>
        </p:txBody>
      </p:sp>
      <p:sp>
        <p:nvSpPr>
          <p:cNvPr id="89" name="Google Shape;8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90" name="Google Shape;9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a:t>
            </a:fld>
            <a:endParaRPr/>
          </a:p>
        </p:txBody>
      </p:sp>
      <p:pic>
        <p:nvPicPr>
          <p:cNvPr id="91" name="Google Shape;91;p13" descr="A blue circle with text and words&#10;&#10;Description automatically generated"/>
          <p:cNvPicPr preferRelativeResize="0"/>
          <p:nvPr/>
        </p:nvPicPr>
        <p:blipFill rotWithShape="1">
          <a:blip r:embed="rId3">
            <a:alphaModFix/>
          </a:blip>
          <a:srcRect/>
          <a:stretch/>
        </p:blipFill>
        <p:spPr>
          <a:xfrm>
            <a:off x="10758565" y="176753"/>
            <a:ext cx="1190469" cy="1190469"/>
          </a:xfrm>
          <a:prstGeom prst="rect">
            <a:avLst/>
          </a:prstGeom>
          <a:noFill/>
          <a:ln>
            <a:noFill/>
          </a:ln>
        </p:spPr>
      </p:pic>
      <p:pic>
        <p:nvPicPr>
          <p:cNvPr id="92" name="Google Shape;92;p13"/>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93" name="Google Shape;93;p13"/>
          <p:cNvSpPr txBox="1"/>
          <p:nvPr/>
        </p:nvSpPr>
        <p:spPr>
          <a:xfrm>
            <a:off x="3048000" y="3246792"/>
            <a:ext cx="6096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p:txBody>
      </p:sp>
      <p:sp>
        <p:nvSpPr>
          <p:cNvPr id="94" name="Google Shape;94;p13"/>
          <p:cNvSpPr txBox="1"/>
          <p:nvPr/>
        </p:nvSpPr>
        <p:spPr>
          <a:xfrm>
            <a:off x="3048000" y="3246792"/>
            <a:ext cx="60960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803575" y="1080525"/>
            <a:ext cx="10494600" cy="6432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21000"/>
              <a:buFont typeface="Play"/>
              <a:buNone/>
            </a:pPr>
            <a:br>
              <a:rPr lang="en-IN" dirty="0"/>
            </a:br>
            <a:r>
              <a:rPr lang="en-IN" dirty="0"/>
              <a:t>Lets Revise:</a:t>
            </a:r>
            <a:br>
              <a:rPr lang="en-IN" dirty="0"/>
            </a:br>
            <a:endParaRPr sz="4000" dirty="0"/>
          </a:p>
        </p:txBody>
      </p:sp>
      <p:sp>
        <p:nvSpPr>
          <p:cNvPr id="100" name="Google Shape;10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01" name="Google Shape;10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a:t>
            </a:fld>
            <a:endParaRPr/>
          </a:p>
        </p:txBody>
      </p:sp>
      <p:pic>
        <p:nvPicPr>
          <p:cNvPr id="102" name="Google Shape;102;p14"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03" name="Google Shape;103;p14"/>
          <p:cNvPicPr preferRelativeResize="0"/>
          <p:nvPr/>
        </p:nvPicPr>
        <p:blipFill rotWithShape="1">
          <a:blip r:embed="rId4">
            <a:alphaModFix/>
          </a:blip>
          <a:srcRect/>
          <a:stretch/>
        </p:blipFill>
        <p:spPr>
          <a:xfrm>
            <a:off x="104932" y="114202"/>
            <a:ext cx="3795634" cy="740238"/>
          </a:xfrm>
          <a:prstGeom prst="rect">
            <a:avLst/>
          </a:prstGeom>
          <a:noFill/>
          <a:ln>
            <a:noFill/>
          </a:ln>
        </p:spPr>
      </p:pic>
      <p:grpSp>
        <p:nvGrpSpPr>
          <p:cNvPr id="104" name="Google Shape;104;p14"/>
          <p:cNvGrpSpPr/>
          <p:nvPr/>
        </p:nvGrpSpPr>
        <p:grpSpPr>
          <a:xfrm>
            <a:off x="1857544" y="2309783"/>
            <a:ext cx="7266096" cy="2238433"/>
            <a:chOff x="2840926" y="858498"/>
            <a:chExt cx="3434295" cy="1731612"/>
          </a:xfrm>
        </p:grpSpPr>
        <p:sp>
          <p:nvSpPr>
            <p:cNvPr id="115" name="Google Shape;115;p14"/>
            <p:cNvSpPr/>
            <p:nvPr/>
          </p:nvSpPr>
          <p:spPr>
            <a:xfrm>
              <a:off x="2840926" y="1785510"/>
              <a:ext cx="3396000" cy="804600"/>
            </a:xfrm>
            <a:prstGeom prst="roundRect">
              <a:avLst>
                <a:gd name="adj" fmla="val 50000"/>
              </a:avLst>
            </a:prstGeom>
            <a:solidFill>
              <a:srgbClr val="E8F4FF"/>
            </a:solidFill>
            <a:ln w="10100" cap="flat" cmpd="sng">
              <a:solidFill>
                <a:srgbClr val="000000"/>
              </a:solidFill>
              <a:prstDash val="solid"/>
              <a:round/>
              <a:headEnd type="none" w="sm" len="sm"/>
              <a:tailEnd type="none" w="sm" len="sm"/>
            </a:ln>
          </p:spPr>
          <p:txBody>
            <a:bodyPr spcFirstLastPara="1" wrap="square" lIns="193950" tIns="126050" rIns="193950" bIns="126050" anchor="ctr" anchorCtr="0">
              <a:noAutofit/>
            </a:bodyPr>
            <a:lstStyle/>
            <a:p>
              <a:pPr lvl="0">
                <a:lnSpc>
                  <a:spcPct val="115000"/>
                </a:lnSpc>
              </a:pPr>
              <a:r>
                <a:rPr lang="en-US" sz="2000" b="1" dirty="0">
                  <a:latin typeface="Times New Roman" panose="02020603050405020304" pitchFamily="18" charset="0"/>
                  <a:cs typeface="Times New Roman" panose="02020603050405020304" pitchFamily="18" charset="0"/>
                </a:rPr>
                <a:t>What are the Key Features?</a:t>
              </a:r>
              <a:endParaRPr sz="2000" b="1" dirty="0">
                <a:solidFill>
                  <a:srgbClr val="010101"/>
                </a:solidFill>
                <a:latin typeface="Times New Roman" panose="02020603050405020304" pitchFamily="18" charset="0"/>
                <a:ea typeface="IBM Plex Sans"/>
                <a:cs typeface="Times New Roman" panose="02020603050405020304" pitchFamily="18" charset="0"/>
                <a:sym typeface="IBM Plex Sans"/>
              </a:endParaRPr>
            </a:p>
          </p:txBody>
        </p:sp>
        <p:sp>
          <p:nvSpPr>
            <p:cNvPr id="119" name="Google Shape;119;p14"/>
            <p:cNvSpPr/>
            <p:nvPr/>
          </p:nvSpPr>
          <p:spPr>
            <a:xfrm>
              <a:off x="2879221" y="858498"/>
              <a:ext cx="3396000" cy="804600"/>
            </a:xfrm>
            <a:prstGeom prst="roundRect">
              <a:avLst>
                <a:gd name="adj" fmla="val 50000"/>
              </a:avLst>
            </a:prstGeom>
            <a:solidFill>
              <a:srgbClr val="E8F4FF"/>
            </a:solidFill>
            <a:ln w="10100" cap="flat" cmpd="sng">
              <a:solidFill>
                <a:srgbClr val="000000"/>
              </a:solidFill>
              <a:prstDash val="solid"/>
              <a:round/>
              <a:headEnd type="none" w="sm" len="sm"/>
              <a:tailEnd type="none" w="sm" len="sm"/>
            </a:ln>
          </p:spPr>
          <p:txBody>
            <a:bodyPr spcFirstLastPara="1" wrap="square" lIns="193950" tIns="126050" rIns="193950" bIns="126050" anchor="ctr" anchorCtr="0">
              <a:noAutofit/>
            </a:bodyPr>
            <a:lstStyle/>
            <a:p>
              <a:pPr lvl="0">
                <a:lnSpc>
                  <a:spcPct val="115000"/>
                </a:lnSpc>
              </a:pPr>
              <a:r>
                <a:rPr lang="en-IN" sz="2000" dirty="0"/>
                <a:t>Testing methodologies – Unit and Integration Testing</a:t>
              </a:r>
              <a:endParaRPr sz="2000" b="1" dirty="0">
                <a:solidFill>
                  <a:srgbClr val="010101"/>
                </a:solidFill>
                <a:latin typeface="Times New Roman" panose="02020603050405020304" pitchFamily="18" charset="0"/>
                <a:ea typeface="IBM Plex Sans"/>
                <a:cs typeface="Times New Roman" panose="02020603050405020304" pitchFamily="18" charset="0"/>
                <a:sym typeface="IBM Plex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634135" y="1277870"/>
            <a:ext cx="6009165" cy="3779039"/>
          </a:xfrm>
          <a:prstGeom prst="rect">
            <a:avLst/>
          </a:prstGeom>
          <a:noFill/>
          <a:ln>
            <a:noFill/>
          </a:ln>
        </p:spPr>
        <p:txBody>
          <a:bodyPr spcFirstLastPara="1" wrap="square" lIns="91425" tIns="45700" rIns="91425" bIns="45700" anchor="b" anchorCtr="0">
            <a:normAutofit/>
          </a:bodyPr>
          <a:lstStyle/>
          <a:p>
            <a:r>
              <a:rPr lang="en-IN" sz="2800" b="1" dirty="0"/>
              <a:t>Consider this scenario:</a:t>
            </a:r>
            <a:br>
              <a:rPr lang="en-IN" sz="2800" b="1" dirty="0"/>
            </a:br>
            <a:br>
              <a:rPr lang="en-IN" sz="2800" b="1" dirty="0"/>
            </a:br>
            <a:br>
              <a:rPr lang="en-IN" sz="2800" b="1" dirty="0"/>
            </a:br>
            <a:r>
              <a:rPr lang="en-IN" sz="2800" b="1" dirty="0"/>
              <a:t>An e-commerce application has successfully passed Unit and Integration Testing. Does this guarantee that the complete system is ready to be delivered to the customer?</a:t>
            </a:r>
            <a:endParaRPr lang="en-IN" sz="2800" dirty="0"/>
          </a:p>
        </p:txBody>
      </p:sp>
      <p:sp>
        <p:nvSpPr>
          <p:cNvPr id="126" name="Google Shape;12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27" name="Google Shape;12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a:t>
            </a:fld>
            <a:endParaRPr/>
          </a:p>
        </p:txBody>
      </p:sp>
      <p:pic>
        <p:nvPicPr>
          <p:cNvPr id="128" name="Google Shape;128;p1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29" name="Google Shape;129;p15"/>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130" name="Google Shape;130;p15"/>
          <p:cNvSpPr txBox="1"/>
          <p:nvPr/>
        </p:nvSpPr>
        <p:spPr>
          <a:xfrm>
            <a:off x="812800" y="1277871"/>
            <a:ext cx="308930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2800" b="1" i="1" u="none" strike="noStrike" cap="none">
                <a:solidFill>
                  <a:srgbClr val="000000"/>
                </a:solidFill>
                <a:latin typeface="Times New Roman"/>
                <a:ea typeface="Times New Roman"/>
                <a:cs typeface="Times New Roman"/>
                <a:sym typeface="Times New Roman"/>
              </a:rPr>
              <a:t>Opening Question:</a:t>
            </a:r>
            <a:endParaRPr/>
          </a:p>
        </p:txBody>
      </p:sp>
      <p:pic>
        <p:nvPicPr>
          <p:cNvPr id="131" name="Google Shape;131;p15" descr="315+ Thousand Asking Questions Royalty-Free Images, Stock Photos &amp; Pictures  | Shutterstock"/>
          <p:cNvPicPr preferRelativeResize="0"/>
          <p:nvPr/>
        </p:nvPicPr>
        <p:blipFill rotWithShape="1">
          <a:blip r:embed="rId5">
            <a:alphaModFix/>
          </a:blip>
          <a:srcRect/>
          <a:stretch/>
        </p:blipFill>
        <p:spPr>
          <a:xfrm>
            <a:off x="7747865" y="1163782"/>
            <a:ext cx="3810000" cy="523470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236816" y="926754"/>
            <a:ext cx="7327499" cy="2661083"/>
          </a:xfrm>
          <a:prstGeom prst="rect">
            <a:avLst/>
          </a:prstGeom>
          <a:noFill/>
          <a:ln>
            <a:noFill/>
          </a:ln>
        </p:spPr>
        <p:txBody>
          <a:bodyPr spcFirstLastPara="1" wrap="square" lIns="91425" tIns="45700" rIns="91425" bIns="45700" anchor="b" anchorCtr="0">
            <a:noAutofit/>
          </a:bodyPr>
          <a:lstStyle/>
          <a:p>
            <a:endParaRPr lang="en-IN" sz="2400" dirty="0"/>
          </a:p>
        </p:txBody>
      </p:sp>
      <p:sp>
        <p:nvSpPr>
          <p:cNvPr id="127" name="Google Shape;12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4</a:t>
            </a:fld>
            <a:endParaRPr/>
          </a:p>
        </p:txBody>
      </p:sp>
      <p:pic>
        <p:nvPicPr>
          <p:cNvPr id="128" name="Google Shape;128;p1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29" name="Google Shape;129;p15"/>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130" name="Google Shape;130;p15"/>
          <p:cNvSpPr txBox="1"/>
          <p:nvPr/>
        </p:nvSpPr>
        <p:spPr>
          <a:xfrm>
            <a:off x="811258" y="902172"/>
            <a:ext cx="3089307"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2800" b="1" i="1" u="none" strike="noStrike" cap="none" dirty="0">
                <a:solidFill>
                  <a:srgbClr val="000000"/>
                </a:solidFill>
                <a:latin typeface="Times New Roman"/>
                <a:ea typeface="Times New Roman"/>
                <a:cs typeface="Times New Roman"/>
                <a:sym typeface="Times New Roman"/>
              </a:rPr>
              <a:t>Opening Question:</a:t>
            </a:r>
            <a:endParaRPr dirty="0"/>
          </a:p>
        </p:txBody>
      </p:sp>
      <p:pic>
        <p:nvPicPr>
          <p:cNvPr id="131" name="Google Shape;131;p15" descr="315+ Thousand Asking Questions Royalty-Free Images, Stock Photos &amp; Pictures  | Shutterstock"/>
          <p:cNvPicPr preferRelativeResize="0"/>
          <p:nvPr/>
        </p:nvPicPr>
        <p:blipFill rotWithShape="1">
          <a:blip r:embed="rId5">
            <a:alphaModFix/>
          </a:blip>
          <a:srcRect/>
          <a:stretch/>
        </p:blipFill>
        <p:spPr>
          <a:xfrm>
            <a:off x="7747865" y="1163782"/>
            <a:ext cx="3810000" cy="5234708"/>
          </a:xfrm>
          <a:prstGeom prst="rect">
            <a:avLst/>
          </a:prstGeom>
          <a:noFill/>
          <a:ln>
            <a:noFill/>
          </a:ln>
        </p:spPr>
      </p:pic>
      <p:sp>
        <p:nvSpPr>
          <p:cNvPr id="4" name="TextBox 3">
            <a:extLst>
              <a:ext uri="{FF2B5EF4-FFF2-40B4-BE49-F238E27FC236}">
                <a16:creationId xmlns:a16="http://schemas.microsoft.com/office/drawing/2014/main" id="{AF0F14D2-13A7-178F-1788-52AB4980884B}"/>
              </a:ext>
            </a:extLst>
          </p:cNvPr>
          <p:cNvSpPr txBox="1"/>
          <p:nvPr/>
        </p:nvSpPr>
        <p:spPr>
          <a:xfrm>
            <a:off x="385177" y="1714974"/>
            <a:ext cx="9668352" cy="4401205"/>
          </a:xfrm>
          <a:prstGeom prst="rect">
            <a:avLst/>
          </a:prstGeom>
          <a:noFill/>
        </p:spPr>
        <p:txBody>
          <a:bodyPr wrap="square">
            <a:spAutoFit/>
          </a:bodyPr>
          <a:lstStyle/>
          <a:p>
            <a:r>
              <a:rPr lang="en-IN" sz="2800" b="1" dirty="0"/>
              <a:t>Answer:</a:t>
            </a:r>
          </a:p>
          <a:p>
            <a:r>
              <a:rPr lang="en-IN" sz="2800" b="1" dirty="0"/>
              <a:t>Not necessarily.</a:t>
            </a:r>
            <a:endParaRPr lang="en-IN" sz="2800" dirty="0"/>
          </a:p>
          <a:p>
            <a:r>
              <a:rPr lang="en-IN" sz="2800" dirty="0"/>
              <a:t>The complete system must still be tested to verify:</a:t>
            </a:r>
          </a:p>
          <a:p>
            <a:pPr>
              <a:buFont typeface="Arial" panose="020B0604020202020204" pitchFamily="34" charset="0"/>
              <a:buChar char="•"/>
            </a:pPr>
            <a:r>
              <a:rPr lang="en-IN" sz="2800" dirty="0"/>
              <a:t>End-to-end functionality </a:t>
            </a:r>
          </a:p>
          <a:p>
            <a:pPr>
              <a:buFont typeface="Arial" panose="020B0604020202020204" pitchFamily="34" charset="0"/>
              <a:buChar char="•"/>
            </a:pPr>
            <a:r>
              <a:rPr lang="en-IN" sz="2800" dirty="0"/>
              <a:t>Performance </a:t>
            </a:r>
          </a:p>
          <a:p>
            <a:pPr>
              <a:buFont typeface="Arial" panose="020B0604020202020204" pitchFamily="34" charset="0"/>
              <a:buChar char="•"/>
            </a:pPr>
            <a:r>
              <a:rPr lang="en-IN" sz="2800" dirty="0"/>
              <a:t>Security </a:t>
            </a:r>
          </a:p>
          <a:p>
            <a:pPr>
              <a:buFont typeface="Arial" panose="020B0604020202020204" pitchFamily="34" charset="0"/>
              <a:buChar char="•"/>
            </a:pPr>
            <a:r>
              <a:rPr lang="en-IN" sz="2800" dirty="0"/>
              <a:t>Reliability </a:t>
            </a:r>
          </a:p>
          <a:p>
            <a:pPr>
              <a:buFont typeface="Arial" panose="020B0604020202020204" pitchFamily="34" charset="0"/>
              <a:buChar char="•"/>
            </a:pPr>
            <a:r>
              <a:rPr lang="en-IN" sz="2800" dirty="0"/>
              <a:t>Compliance with user requirements </a:t>
            </a:r>
          </a:p>
          <a:p>
            <a:r>
              <a:rPr lang="en-IN" sz="2800" dirty="0"/>
              <a:t>👉 This leads us to </a:t>
            </a:r>
          </a:p>
          <a:p>
            <a:r>
              <a:rPr lang="en-IN" sz="2800" b="1" dirty="0"/>
              <a:t>       System Testing and Acceptance Testing</a:t>
            </a:r>
            <a:r>
              <a:rPr lang="en-IN" sz="2800" dirty="0"/>
              <a:t>.</a:t>
            </a:r>
          </a:p>
        </p:txBody>
      </p:sp>
    </p:spTree>
    <p:extLst>
      <p:ext uri="{BB962C8B-B14F-4D97-AF65-F5344CB8AC3E}">
        <p14:creationId xmlns:p14="http://schemas.microsoft.com/office/powerpoint/2010/main" val="187012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FA7A3F3-F9E0-0ED6-9640-C09E20B4F31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12BD711-0225-BB81-E56E-97842AEFBAFF}"/>
              </a:ext>
            </a:extLst>
          </p:cNvPr>
          <p:cNvSpPr>
            <a:spLocks noGrp="1"/>
          </p:cNvSpPr>
          <p:nvPr>
            <p:ph type="sldNum" sz="quarter" idx="12"/>
          </p:nvPr>
        </p:nvSpPr>
        <p:spPr/>
        <p:txBody>
          <a:bodyPr/>
          <a:lstStyle/>
          <a:p>
            <a:fld id="{26510230-8DD5-4BA5-AB2D-CA30FC08F9D7}" type="slidenum">
              <a:rPr lang="en-IN" smtClean="0"/>
              <a:t>5</a:t>
            </a:fld>
            <a:endParaRPr lang="en-IN"/>
          </a:p>
        </p:txBody>
      </p:sp>
      <p:graphicFrame>
        <p:nvGraphicFramePr>
          <p:cNvPr id="6"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303711274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A blue circle with text and words&#10;&#10;Description automatically generated">
            <a:extLst>
              <a:ext uri="{FF2B5EF4-FFF2-40B4-BE49-F238E27FC236}">
                <a16:creationId xmlns:a16="http://schemas.microsoft.com/office/drawing/2014/main" id="{6DC91442-66F2-504B-C67F-2CC391B8CAC7}"/>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3" name="Picture 2">
            <a:extLst>
              <a:ext uri="{FF2B5EF4-FFF2-40B4-BE49-F238E27FC236}">
                <a16:creationId xmlns:a16="http://schemas.microsoft.com/office/drawing/2014/main" id="{BCE66B6B-F371-2A0A-CB0C-8E7576D582F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
        <p:nvSpPr>
          <p:cNvPr id="9" name="TextBox 8">
            <a:extLst>
              <a:ext uri="{FF2B5EF4-FFF2-40B4-BE49-F238E27FC236}">
                <a16:creationId xmlns:a16="http://schemas.microsoft.com/office/drawing/2014/main" id="{7AFBDEC5-DA8B-F906-8408-6668BF75B4B8}"/>
              </a:ext>
            </a:extLst>
          </p:cNvPr>
          <p:cNvSpPr txBox="1"/>
          <p:nvPr/>
        </p:nvSpPr>
        <p:spPr>
          <a:xfrm>
            <a:off x="644056" y="1550543"/>
            <a:ext cx="8454974" cy="954107"/>
          </a:xfrm>
          <a:prstGeom prst="rect">
            <a:avLst/>
          </a:prstGeom>
          <a:noFill/>
        </p:spPr>
        <p:txBody>
          <a:bodyPr wrap="square">
            <a:spAutoFit/>
          </a:bodyPr>
          <a:lstStyle/>
          <a:p>
            <a:pPr lvl="0"/>
            <a:r>
              <a:rPr lang="en-US" sz="2800" b="1" dirty="0"/>
              <a:t>At the end of this session, you will be able to:</a:t>
            </a:r>
          </a:p>
        </p:txBody>
      </p:sp>
    </p:spTree>
    <p:extLst>
      <p:ext uri="{BB962C8B-B14F-4D97-AF65-F5344CB8AC3E}">
        <p14:creationId xmlns:p14="http://schemas.microsoft.com/office/powerpoint/2010/main" val="2838591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7"/>
          <p:cNvSpPr txBox="1">
            <a:spLocks noGrp="1"/>
          </p:cNvSpPr>
          <p:nvPr>
            <p:ph type="title"/>
          </p:nvPr>
        </p:nvSpPr>
        <p:spPr>
          <a:xfrm>
            <a:off x="635000" y="640823"/>
            <a:ext cx="3418659" cy="558314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IN" sz="5400" dirty="0"/>
              <a:t>Session Outline</a:t>
            </a:r>
            <a:endParaRPr dirty="0"/>
          </a:p>
        </p:txBody>
      </p:sp>
      <p:grpSp>
        <p:nvGrpSpPr>
          <p:cNvPr id="150" name="Google Shape;150;p17"/>
          <p:cNvGrpSpPr/>
          <p:nvPr/>
        </p:nvGrpSpPr>
        <p:grpSpPr>
          <a:xfrm>
            <a:off x="3858054" y="484321"/>
            <a:ext cx="6943024" cy="5530734"/>
            <a:chOff x="-42512" y="2703"/>
            <a:chExt cx="6943024" cy="5530734"/>
          </a:xfrm>
        </p:grpSpPr>
        <p:cxnSp>
          <p:nvCxnSpPr>
            <p:cNvPr id="151" name="Google Shape;151;p17"/>
            <p:cNvCxnSpPr/>
            <p:nvPr/>
          </p:nvCxnSpPr>
          <p:spPr>
            <a:xfrm>
              <a:off x="0" y="2703"/>
              <a:ext cx="6900512" cy="0"/>
            </a:xfrm>
            <a:prstGeom prst="straightConnector1">
              <a:avLst/>
            </a:prstGeom>
            <a:solidFill>
              <a:srgbClr val="E97131"/>
            </a:solidFill>
            <a:ln w="19050" cap="flat" cmpd="sng">
              <a:solidFill>
                <a:srgbClr val="E97131"/>
              </a:solidFill>
              <a:prstDash val="solid"/>
              <a:miter lim="800000"/>
              <a:headEnd type="none" w="sm" len="sm"/>
              <a:tailEnd type="none" w="sm" len="sm"/>
            </a:ln>
          </p:spPr>
        </p:cxnSp>
        <p:sp>
          <p:nvSpPr>
            <p:cNvPr id="152" name="Google Shape;152;p17"/>
            <p:cNvSpPr/>
            <p:nvPr/>
          </p:nvSpPr>
          <p:spPr>
            <a:xfrm>
              <a:off x="0" y="2703"/>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17"/>
            <p:cNvSpPr txBox="1"/>
            <p:nvPr/>
          </p:nvSpPr>
          <p:spPr>
            <a:xfrm>
              <a:off x="0" y="2703"/>
              <a:ext cx="6900512" cy="921789"/>
            </a:xfrm>
            <a:prstGeom prst="rect">
              <a:avLst/>
            </a:prstGeom>
            <a:noFill/>
            <a:ln>
              <a:noFill/>
            </a:ln>
          </p:spPr>
          <p:txBody>
            <a:bodyPr spcFirstLastPara="1" wrap="square" lIns="102850" tIns="102850" rIns="102850" bIns="102850" anchor="t" anchorCtr="0">
              <a:noAutofit/>
            </a:bodyPr>
            <a:lstStyle/>
            <a:p>
              <a:pPr marL="0" marR="0" lvl="0" indent="0" algn="l" rtl="0">
                <a:lnSpc>
                  <a:spcPct val="90000"/>
                </a:lnSpc>
                <a:spcBef>
                  <a:spcPts val="0"/>
                </a:spcBef>
                <a:spcAft>
                  <a:spcPts val="0"/>
                </a:spcAft>
                <a:buClr>
                  <a:srgbClr val="000000"/>
                </a:buClr>
                <a:buSzPts val="2700"/>
                <a:buFont typeface="Arial"/>
                <a:buNone/>
              </a:pPr>
              <a:r>
                <a:rPr lang="en-IN" sz="2700" b="0" i="0" u="none" strike="noStrike" cap="none" dirty="0">
                  <a:latin typeface="Arial"/>
                  <a:ea typeface="Arial"/>
                  <a:cs typeface="Arial"/>
                  <a:sym typeface="Arial"/>
                </a:rPr>
                <a:t>1.</a:t>
              </a:r>
              <a:r>
                <a:rPr lang="en-IN" sz="2700" dirty="0"/>
                <a:t> </a:t>
              </a:r>
              <a:r>
                <a:rPr lang="en-IN" sz="2400" b="1" i="0" dirty="0">
                  <a:effectLst/>
                  <a:latin typeface="quote-cjk-patch"/>
                </a:rPr>
                <a:t>An Introduction </a:t>
              </a:r>
              <a:r>
                <a:rPr lang="en-IN" sz="2400" b="1" dirty="0"/>
                <a:t>System and Acceptance Testing</a:t>
              </a:r>
              <a:endParaRPr sz="2400" b="1" i="0" u="none" strike="noStrike" cap="none" dirty="0"/>
            </a:p>
          </p:txBody>
        </p:sp>
        <p:cxnSp>
          <p:nvCxnSpPr>
            <p:cNvPr id="154" name="Google Shape;154;p17"/>
            <p:cNvCxnSpPr/>
            <p:nvPr/>
          </p:nvCxnSpPr>
          <p:spPr>
            <a:xfrm>
              <a:off x="0" y="924492"/>
              <a:ext cx="6900512" cy="0"/>
            </a:xfrm>
            <a:prstGeom prst="straightConnector1">
              <a:avLst/>
            </a:prstGeom>
            <a:solidFill>
              <a:srgbClr val="176B22"/>
            </a:solidFill>
            <a:ln w="19050" cap="flat" cmpd="sng">
              <a:solidFill>
                <a:srgbClr val="176B22"/>
              </a:solidFill>
              <a:prstDash val="solid"/>
              <a:miter lim="800000"/>
              <a:headEnd type="none" w="sm" len="sm"/>
              <a:tailEnd type="none" w="sm" len="sm"/>
            </a:ln>
          </p:spPr>
        </p:cxnSp>
        <p:sp>
          <p:nvSpPr>
            <p:cNvPr id="155" name="Google Shape;155;p17"/>
            <p:cNvSpPr/>
            <p:nvPr/>
          </p:nvSpPr>
          <p:spPr>
            <a:xfrm>
              <a:off x="0" y="924492"/>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17"/>
            <p:cNvSpPr txBox="1"/>
            <p:nvPr/>
          </p:nvSpPr>
          <p:spPr>
            <a:xfrm>
              <a:off x="0" y="924492"/>
              <a:ext cx="6900512" cy="921789"/>
            </a:xfrm>
            <a:prstGeom prst="rect">
              <a:avLst/>
            </a:prstGeom>
            <a:noFill/>
            <a:ln>
              <a:noFill/>
            </a:ln>
          </p:spPr>
          <p:txBody>
            <a:bodyPr spcFirstLastPara="1" wrap="square" lIns="102850" tIns="102850" rIns="102850" bIns="102850" anchor="t" anchorCtr="0">
              <a:noAutofit/>
            </a:bodyPr>
            <a:lstStyle/>
            <a:p>
              <a:pPr algn="l" rtl="0"/>
              <a:r>
                <a:rPr lang="en-IN" sz="2700" b="0" i="0" u="none" strike="noStrike" cap="none" dirty="0">
                  <a:latin typeface="Arial"/>
                  <a:ea typeface="Arial"/>
                  <a:cs typeface="Arial"/>
                  <a:sym typeface="Arial"/>
                </a:rPr>
                <a:t>2. </a:t>
              </a:r>
              <a:r>
                <a:rPr lang="en-IN" sz="2400" dirty="0"/>
                <a:t>Types of System and Acceptance Testing</a:t>
              </a:r>
              <a:endParaRPr sz="2700" b="1" i="0" u="none" strike="noStrike" cap="none" dirty="0">
                <a:latin typeface="Arial"/>
                <a:ea typeface="Arial"/>
                <a:cs typeface="Arial"/>
                <a:sym typeface="Arial"/>
              </a:endParaRPr>
            </a:p>
          </p:txBody>
        </p:sp>
        <p:cxnSp>
          <p:nvCxnSpPr>
            <p:cNvPr id="157" name="Google Shape;157;p17"/>
            <p:cNvCxnSpPr/>
            <p:nvPr/>
          </p:nvCxnSpPr>
          <p:spPr>
            <a:xfrm>
              <a:off x="0" y="1846281"/>
              <a:ext cx="6900512" cy="0"/>
            </a:xfrm>
            <a:prstGeom prst="straightConnector1">
              <a:avLst/>
            </a:prstGeom>
            <a:solidFill>
              <a:srgbClr val="0C9ED5"/>
            </a:solidFill>
            <a:ln w="19050" cap="flat" cmpd="sng">
              <a:solidFill>
                <a:srgbClr val="0C9ED5"/>
              </a:solidFill>
              <a:prstDash val="solid"/>
              <a:miter lim="800000"/>
              <a:headEnd type="none" w="sm" len="sm"/>
              <a:tailEnd type="none" w="sm" len="sm"/>
            </a:ln>
          </p:spPr>
        </p:cxnSp>
        <p:sp>
          <p:nvSpPr>
            <p:cNvPr id="158" name="Google Shape;158;p17"/>
            <p:cNvSpPr/>
            <p:nvPr/>
          </p:nvSpPr>
          <p:spPr>
            <a:xfrm>
              <a:off x="0" y="1846281"/>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17"/>
            <p:cNvSpPr txBox="1"/>
            <p:nvPr/>
          </p:nvSpPr>
          <p:spPr>
            <a:xfrm>
              <a:off x="0" y="1846281"/>
              <a:ext cx="6900512" cy="921789"/>
            </a:xfrm>
            <a:prstGeom prst="rect">
              <a:avLst/>
            </a:prstGeom>
            <a:noFill/>
            <a:ln>
              <a:noFill/>
            </a:ln>
          </p:spPr>
          <p:txBody>
            <a:bodyPr spcFirstLastPara="1" wrap="square" lIns="102850" tIns="102850" rIns="102850" bIns="102850" anchor="t" anchorCtr="0">
              <a:noAutofit/>
            </a:bodyPr>
            <a:lstStyle/>
            <a:p>
              <a:pPr>
                <a:lnSpc>
                  <a:spcPct val="90000"/>
                </a:lnSpc>
              </a:pPr>
              <a:r>
                <a:rPr lang="en-IN" sz="2800" b="0" i="0" u="none" strike="noStrike" cap="none" dirty="0">
                  <a:latin typeface="Arial"/>
                  <a:ea typeface="Arial"/>
                  <a:cs typeface="Arial"/>
                  <a:sym typeface="Arial"/>
                </a:rPr>
                <a:t>3 System Vs Acceptance testing</a:t>
              </a:r>
              <a:endParaRPr sz="2700" b="0" i="0" u="none" strike="noStrike" cap="none" dirty="0">
                <a:solidFill>
                  <a:schemeClr val="dk1"/>
                </a:solidFill>
                <a:latin typeface="Arial"/>
                <a:ea typeface="Arial"/>
                <a:cs typeface="Arial"/>
                <a:sym typeface="Arial"/>
              </a:endParaRPr>
            </a:p>
          </p:txBody>
        </p:sp>
        <p:cxnSp>
          <p:nvCxnSpPr>
            <p:cNvPr id="160" name="Google Shape;160;p17"/>
            <p:cNvCxnSpPr/>
            <p:nvPr/>
          </p:nvCxnSpPr>
          <p:spPr>
            <a:xfrm>
              <a:off x="0" y="2768070"/>
              <a:ext cx="6900512" cy="0"/>
            </a:xfrm>
            <a:prstGeom prst="straightConnector1">
              <a:avLst/>
            </a:prstGeom>
            <a:solidFill>
              <a:srgbClr val="A02891"/>
            </a:solidFill>
            <a:ln w="19050" cap="flat" cmpd="sng">
              <a:solidFill>
                <a:srgbClr val="A02891"/>
              </a:solidFill>
              <a:prstDash val="solid"/>
              <a:miter lim="800000"/>
              <a:headEnd type="none" w="sm" len="sm"/>
              <a:tailEnd type="none" w="sm" len="sm"/>
            </a:ln>
          </p:spPr>
        </p:cxnSp>
        <p:sp>
          <p:nvSpPr>
            <p:cNvPr id="161" name="Google Shape;161;p17"/>
            <p:cNvSpPr/>
            <p:nvPr/>
          </p:nvSpPr>
          <p:spPr>
            <a:xfrm>
              <a:off x="0" y="2768070"/>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63" name="Google Shape;163;p17"/>
            <p:cNvCxnSpPr/>
            <p:nvPr/>
          </p:nvCxnSpPr>
          <p:spPr>
            <a:xfrm>
              <a:off x="0" y="3689859"/>
              <a:ext cx="6900512" cy="0"/>
            </a:xfrm>
            <a:prstGeom prst="straightConnector1">
              <a:avLst/>
            </a:prstGeom>
            <a:solidFill>
              <a:srgbClr val="4EA62C"/>
            </a:solidFill>
            <a:ln w="19050" cap="flat" cmpd="sng">
              <a:solidFill>
                <a:srgbClr val="4EA62C"/>
              </a:solidFill>
              <a:prstDash val="solid"/>
              <a:miter lim="800000"/>
              <a:headEnd type="none" w="sm" len="sm"/>
              <a:tailEnd type="none" w="sm" len="sm"/>
            </a:ln>
          </p:spPr>
        </p:cxnSp>
        <p:sp>
          <p:nvSpPr>
            <p:cNvPr id="164" name="Google Shape;164;p17"/>
            <p:cNvSpPr/>
            <p:nvPr/>
          </p:nvSpPr>
          <p:spPr>
            <a:xfrm>
              <a:off x="0" y="3689859"/>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66" name="Google Shape;166;p17"/>
            <p:cNvCxnSpPr/>
            <p:nvPr/>
          </p:nvCxnSpPr>
          <p:spPr>
            <a:xfrm>
              <a:off x="0" y="4611648"/>
              <a:ext cx="6900512" cy="0"/>
            </a:xfrm>
            <a:prstGeom prst="straightConnector1">
              <a:avLst/>
            </a:prstGeom>
            <a:solidFill>
              <a:srgbClr val="E97131"/>
            </a:solidFill>
            <a:ln w="19050" cap="flat" cmpd="sng">
              <a:solidFill>
                <a:srgbClr val="E97131"/>
              </a:solidFill>
              <a:prstDash val="solid"/>
              <a:miter lim="800000"/>
              <a:headEnd type="none" w="sm" len="sm"/>
              <a:tailEnd type="none" w="sm" len="sm"/>
            </a:ln>
          </p:spPr>
        </p:cxnSp>
        <p:sp>
          <p:nvSpPr>
            <p:cNvPr id="167" name="Google Shape;167;p17"/>
            <p:cNvSpPr/>
            <p:nvPr/>
          </p:nvSpPr>
          <p:spPr>
            <a:xfrm>
              <a:off x="0" y="4611648"/>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17"/>
            <p:cNvSpPr txBox="1"/>
            <p:nvPr/>
          </p:nvSpPr>
          <p:spPr>
            <a:xfrm>
              <a:off x="-42512" y="3911731"/>
              <a:ext cx="6900512" cy="921789"/>
            </a:xfrm>
            <a:prstGeom prst="rect">
              <a:avLst/>
            </a:prstGeom>
            <a:noFill/>
            <a:ln>
              <a:noFill/>
            </a:ln>
          </p:spPr>
          <p:txBody>
            <a:bodyPr spcFirstLastPara="1" wrap="square" lIns="102850" tIns="102850" rIns="102850" bIns="102850" anchor="t" anchorCtr="0">
              <a:noAutofit/>
            </a:bodyPr>
            <a:lstStyle/>
            <a:p>
              <a:pPr marL="0" marR="0" lvl="0" indent="0" algn="l" rtl="0">
                <a:lnSpc>
                  <a:spcPct val="90000"/>
                </a:lnSpc>
                <a:spcBef>
                  <a:spcPts val="0"/>
                </a:spcBef>
                <a:spcAft>
                  <a:spcPts val="0"/>
                </a:spcAft>
                <a:buNone/>
              </a:pPr>
              <a:r>
                <a:rPr lang="en-IN" sz="2700" dirty="0">
                  <a:solidFill>
                    <a:schemeClr val="dk1"/>
                  </a:solidFill>
                  <a:latin typeface="Arial"/>
                  <a:ea typeface="Arial"/>
                  <a:cs typeface="Arial"/>
                  <a:sym typeface="Arial"/>
                </a:rPr>
                <a:t>5. </a:t>
              </a:r>
              <a:r>
                <a:rPr lang="en-IN" sz="2700" b="0" i="0" u="none" strike="noStrike" cap="none" dirty="0">
                  <a:solidFill>
                    <a:schemeClr val="dk1"/>
                  </a:solidFill>
                  <a:latin typeface="Arial"/>
                  <a:ea typeface="Arial"/>
                  <a:cs typeface="Arial"/>
                  <a:sym typeface="Arial"/>
                </a:rPr>
                <a:t> </a:t>
              </a:r>
              <a:r>
                <a:rPr lang="en-IN" sz="2700" b="1" dirty="0">
                  <a:solidFill>
                    <a:schemeClr val="dk1"/>
                  </a:solidFill>
                </a:rPr>
                <a:t>Reflection Activity -1 and 2</a:t>
              </a:r>
              <a:endParaRPr dirty="0"/>
            </a:p>
            <a:p>
              <a:pPr marL="0" marR="0" lvl="0" indent="0" algn="l" rtl="0">
                <a:lnSpc>
                  <a:spcPct val="90000"/>
                </a:lnSpc>
                <a:spcBef>
                  <a:spcPts val="0"/>
                </a:spcBef>
                <a:spcAft>
                  <a:spcPts val="0"/>
                </a:spcAft>
                <a:buNone/>
              </a:pPr>
              <a:endParaRPr sz="2700" b="1" i="0" u="none" strike="noStrike" cap="none" dirty="0">
                <a:solidFill>
                  <a:schemeClr val="dk1"/>
                </a:solidFill>
                <a:latin typeface="Arial"/>
                <a:ea typeface="Arial"/>
                <a:cs typeface="Arial"/>
                <a:sym typeface="Arial"/>
              </a:endParaRPr>
            </a:p>
            <a:p>
              <a:pPr marL="0" marR="0" lvl="0" indent="0" algn="l" rtl="0">
                <a:lnSpc>
                  <a:spcPct val="90000"/>
                </a:lnSpc>
                <a:spcBef>
                  <a:spcPts val="0"/>
                </a:spcBef>
                <a:spcAft>
                  <a:spcPts val="0"/>
                </a:spcAft>
                <a:buNone/>
              </a:pPr>
              <a:r>
                <a:rPr lang="en-IN" sz="2700" b="1" i="0" u="none" strike="noStrike" cap="none" dirty="0">
                  <a:solidFill>
                    <a:schemeClr val="dk1"/>
                  </a:solidFill>
                  <a:latin typeface="Arial"/>
                  <a:ea typeface="Arial"/>
                  <a:cs typeface="Arial"/>
                  <a:sym typeface="Arial"/>
                </a:rPr>
                <a:t>  </a:t>
              </a:r>
              <a:endParaRPr sz="2700" b="0" i="0" u="none" strike="noStrike" cap="none" dirty="0">
                <a:solidFill>
                  <a:schemeClr val="dk1"/>
                </a:solidFill>
                <a:latin typeface="Arial"/>
                <a:ea typeface="Arial"/>
                <a:cs typeface="Arial"/>
                <a:sym typeface="Arial"/>
              </a:endParaRPr>
            </a:p>
          </p:txBody>
        </p:sp>
      </p:grpSp>
      <p:sp>
        <p:nvSpPr>
          <p:cNvPr id="169" name="Google Shape;16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70" name="Google Shape;17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6</a:t>
            </a:fld>
            <a:endParaRPr/>
          </a:p>
        </p:txBody>
      </p:sp>
      <p:pic>
        <p:nvPicPr>
          <p:cNvPr id="171" name="Google Shape;171;p17"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72" name="Google Shape;172;p17"/>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173" name="Google Shape;173;p17"/>
          <p:cNvSpPr txBox="1"/>
          <p:nvPr/>
        </p:nvSpPr>
        <p:spPr>
          <a:xfrm>
            <a:off x="3900566" y="5781374"/>
            <a:ext cx="6900512" cy="921789"/>
          </a:xfrm>
          <a:prstGeom prst="rect">
            <a:avLst/>
          </a:prstGeom>
          <a:noFill/>
          <a:ln>
            <a:noFill/>
          </a:ln>
        </p:spPr>
        <p:txBody>
          <a:bodyPr spcFirstLastPara="1" wrap="square" lIns="102850" tIns="102850" rIns="102850" bIns="102850" anchor="t" anchorCtr="0">
            <a:noAutofit/>
          </a:bodyPr>
          <a:lstStyle/>
          <a:p>
            <a:pPr marL="0" marR="0" lvl="0" indent="0" algn="l" rtl="0">
              <a:lnSpc>
                <a:spcPct val="90000"/>
              </a:lnSpc>
              <a:spcBef>
                <a:spcPts val="0"/>
              </a:spcBef>
              <a:spcAft>
                <a:spcPts val="0"/>
              </a:spcAft>
              <a:buNone/>
            </a:pPr>
            <a:r>
              <a:rPr lang="en-IN" sz="2700" dirty="0">
                <a:solidFill>
                  <a:schemeClr val="dk1"/>
                </a:solidFill>
                <a:latin typeface="Arial"/>
                <a:cs typeface="Arial"/>
                <a:sym typeface="Arial"/>
              </a:rPr>
              <a:t>6</a:t>
            </a:r>
            <a:r>
              <a:rPr lang="en-IN" sz="2700" dirty="0">
                <a:solidFill>
                  <a:schemeClr val="dk1"/>
                </a:solidFill>
              </a:rPr>
              <a:t>. </a:t>
            </a:r>
            <a:r>
              <a:rPr lang="en-IN" sz="2700" b="1" dirty="0">
                <a:solidFill>
                  <a:schemeClr val="dk1"/>
                </a:solidFill>
              </a:rPr>
              <a:t>Conclusion</a:t>
            </a:r>
            <a:r>
              <a:rPr lang="en-IN" sz="2700" b="1" i="0" u="none" strike="noStrike" cap="none" dirty="0">
                <a:solidFill>
                  <a:schemeClr val="dk1"/>
                </a:solidFill>
              </a:rPr>
              <a:t> </a:t>
            </a:r>
            <a:endParaRPr b="1" dirty="0"/>
          </a:p>
          <a:p>
            <a:pPr marL="0" marR="0" lvl="0" indent="0" algn="l" rtl="0">
              <a:lnSpc>
                <a:spcPct val="90000"/>
              </a:lnSpc>
              <a:spcBef>
                <a:spcPts val="0"/>
              </a:spcBef>
              <a:spcAft>
                <a:spcPts val="0"/>
              </a:spcAft>
              <a:buNone/>
            </a:pPr>
            <a:endParaRPr sz="2700" b="1" i="0" u="none" strike="noStrike" cap="none" dirty="0">
              <a:solidFill>
                <a:schemeClr val="dk1"/>
              </a:solidFill>
              <a:latin typeface="Arial"/>
              <a:ea typeface="Arial"/>
              <a:cs typeface="Arial"/>
              <a:sym typeface="Arial"/>
            </a:endParaRPr>
          </a:p>
          <a:p>
            <a:pPr marL="0" marR="0" lvl="0" indent="0" algn="l" rtl="0">
              <a:lnSpc>
                <a:spcPct val="90000"/>
              </a:lnSpc>
              <a:spcBef>
                <a:spcPts val="0"/>
              </a:spcBef>
              <a:spcAft>
                <a:spcPts val="0"/>
              </a:spcAft>
              <a:buNone/>
            </a:pPr>
            <a:r>
              <a:rPr lang="en-IN" sz="2700" b="1" i="0" u="none" strike="noStrike" cap="none" dirty="0">
                <a:solidFill>
                  <a:schemeClr val="dk1"/>
                </a:solidFill>
                <a:latin typeface="Arial"/>
                <a:ea typeface="Arial"/>
                <a:cs typeface="Arial"/>
                <a:sym typeface="Arial"/>
              </a:rPr>
              <a:t>  </a:t>
            </a:r>
            <a:endParaRPr sz="2700" b="0" i="0" u="none" strike="noStrike" cap="none" dirty="0">
              <a:solidFill>
                <a:schemeClr val="dk1"/>
              </a:solidFill>
              <a:latin typeface="Arial"/>
              <a:ea typeface="Arial"/>
              <a:cs typeface="Arial"/>
              <a:sym typeface="Arial"/>
            </a:endParaRPr>
          </a:p>
        </p:txBody>
      </p:sp>
      <p:cxnSp>
        <p:nvCxnSpPr>
          <p:cNvPr id="174" name="Google Shape;174;p17"/>
          <p:cNvCxnSpPr>
            <a:stCxn id="168" idx="1"/>
            <a:endCxn id="168" idx="3"/>
          </p:cNvCxnSpPr>
          <p:nvPr/>
        </p:nvCxnSpPr>
        <p:spPr>
          <a:xfrm>
            <a:off x="3858054" y="4854244"/>
            <a:ext cx="6900512" cy="0"/>
          </a:xfrm>
          <a:prstGeom prst="straightConnector1">
            <a:avLst/>
          </a:prstGeom>
          <a:noFill/>
          <a:ln w="9525" cap="flat" cmpd="sng">
            <a:solidFill>
              <a:srgbClr val="115D81"/>
            </a:solidFill>
            <a:prstDash val="solid"/>
            <a:round/>
            <a:headEnd type="none" w="sm" len="sm"/>
            <a:tailEnd type="none" w="sm" len="sm"/>
          </a:ln>
        </p:spPr>
      </p:cxnSp>
      <p:cxnSp>
        <p:nvCxnSpPr>
          <p:cNvPr id="175" name="Google Shape;175;p17"/>
          <p:cNvCxnSpPr/>
          <p:nvPr/>
        </p:nvCxnSpPr>
        <p:spPr>
          <a:xfrm>
            <a:off x="3900566" y="6325397"/>
            <a:ext cx="6900512" cy="0"/>
          </a:xfrm>
          <a:prstGeom prst="straightConnector1">
            <a:avLst/>
          </a:prstGeom>
          <a:noFill/>
          <a:ln w="9525" cap="flat" cmpd="sng">
            <a:solidFill>
              <a:srgbClr val="115D81"/>
            </a:solidFill>
            <a:prstDash val="solid"/>
            <a:round/>
            <a:headEnd type="none" w="sm" len="sm"/>
            <a:tailEnd type="none" w="sm" len="sm"/>
          </a:ln>
        </p:spPr>
      </p:cxnSp>
      <p:sp>
        <p:nvSpPr>
          <p:cNvPr id="3" name="TextBox 2">
            <a:extLst>
              <a:ext uri="{FF2B5EF4-FFF2-40B4-BE49-F238E27FC236}">
                <a16:creationId xmlns:a16="http://schemas.microsoft.com/office/drawing/2014/main" id="{3F6CD29C-F08C-02F8-525B-ECC93CFD2BBF}"/>
              </a:ext>
            </a:extLst>
          </p:cNvPr>
          <p:cNvSpPr txBox="1"/>
          <p:nvPr/>
        </p:nvSpPr>
        <p:spPr>
          <a:xfrm>
            <a:off x="3900566" y="3533371"/>
            <a:ext cx="6096000" cy="523220"/>
          </a:xfrm>
          <a:prstGeom prst="rect">
            <a:avLst/>
          </a:prstGeom>
          <a:noFill/>
        </p:spPr>
        <p:txBody>
          <a:bodyPr wrap="square">
            <a:spAutoFit/>
          </a:bodyPr>
          <a:lstStyle/>
          <a:p>
            <a:r>
              <a:rPr lang="en-IN" sz="2800" b="1" dirty="0">
                <a:solidFill>
                  <a:schemeClr val="dk1"/>
                </a:solidFill>
              </a:rPr>
              <a:t>4. Activity</a:t>
            </a:r>
            <a:r>
              <a:rPr lang="en-IN" sz="1800" b="1" dirty="0">
                <a:solidFill>
                  <a:schemeClr val="dk1"/>
                </a:solidFill>
              </a:rPr>
              <a:t> -1 and 2</a:t>
            </a:r>
            <a:r>
              <a:rPr lang="en-IN" sz="1800" b="1" i="0" u="none" strike="noStrike" cap="none" dirty="0">
                <a:solidFill>
                  <a:schemeClr val="dk1"/>
                </a:solidFill>
                <a:latin typeface="Arial"/>
                <a:ea typeface="Arial"/>
                <a:cs typeface="Arial"/>
                <a:sym typeface="Arial"/>
              </a:rPr>
              <a:t>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4D9854-D457-C74E-2BE1-C2F4C3C18203}"/>
              </a:ext>
            </a:extLst>
          </p:cNvPr>
          <p:cNvSpPr>
            <a:spLocks noGrp="1"/>
          </p:cNvSpPr>
          <p:nvPr>
            <p:ph type="body" idx="1"/>
          </p:nvPr>
        </p:nvSpPr>
        <p:spPr>
          <a:xfrm>
            <a:off x="737235" y="2025058"/>
            <a:ext cx="10515600" cy="4351338"/>
          </a:xfrm>
        </p:spPr>
        <p:txBody>
          <a:bodyPr>
            <a:normAutofit fontScale="92500" lnSpcReduction="10000"/>
          </a:bodyPr>
          <a:lstStyle/>
          <a:p>
            <a:r>
              <a:rPr lang="en-IN" b="1" dirty="0"/>
              <a:t>System Testing</a:t>
            </a:r>
            <a:r>
              <a:rPr lang="en-IN" dirty="0"/>
              <a:t> is the testing of a </a:t>
            </a:r>
            <a:r>
              <a:rPr lang="en-IN" b="1" dirty="0"/>
              <a:t>complete and fully integrated software system</a:t>
            </a:r>
            <a:r>
              <a:rPr lang="en-IN" dirty="0"/>
              <a:t> to verify that it meets specified functional and non-functional requirements.</a:t>
            </a:r>
          </a:p>
          <a:p>
            <a:r>
              <a:rPr lang="en-IN" b="1" dirty="0"/>
              <a:t>Focus:</a:t>
            </a:r>
          </a:p>
          <a:p>
            <a:pPr>
              <a:buFont typeface="Arial" panose="020B0604020202020204" pitchFamily="34" charset="0"/>
              <a:buChar char="•"/>
            </a:pPr>
            <a:r>
              <a:rPr lang="en-IN" dirty="0"/>
              <a:t>Complete system </a:t>
            </a:r>
            <a:r>
              <a:rPr lang="en-IN" dirty="0" err="1"/>
              <a:t>behavior</a:t>
            </a:r>
            <a:r>
              <a:rPr lang="en-IN" dirty="0"/>
              <a:t> </a:t>
            </a:r>
          </a:p>
          <a:p>
            <a:pPr>
              <a:buFont typeface="Arial" panose="020B0604020202020204" pitchFamily="34" charset="0"/>
              <a:buChar char="•"/>
            </a:pPr>
            <a:r>
              <a:rPr lang="en-IN" dirty="0"/>
              <a:t>End-to-end workflows </a:t>
            </a:r>
          </a:p>
          <a:p>
            <a:pPr>
              <a:buFont typeface="Arial" panose="020B0604020202020204" pitchFamily="34" charset="0"/>
              <a:buChar char="•"/>
            </a:pPr>
            <a:r>
              <a:rPr lang="en-IN" dirty="0"/>
              <a:t>Functional requirements </a:t>
            </a:r>
          </a:p>
          <a:p>
            <a:pPr>
              <a:buFont typeface="Arial" panose="020B0604020202020204" pitchFamily="34" charset="0"/>
              <a:buChar char="•"/>
            </a:pPr>
            <a:r>
              <a:rPr lang="en-IN" dirty="0"/>
              <a:t>Performance and security </a:t>
            </a:r>
          </a:p>
          <a:p>
            <a:r>
              <a:rPr lang="en-IN" b="1" dirty="0"/>
              <a:t>Key Question:</a:t>
            </a:r>
          </a:p>
          <a:p>
            <a:r>
              <a:rPr lang="en-IN" b="1" dirty="0"/>
              <a:t>"Does the complete system work as intended?"</a:t>
            </a:r>
            <a:endParaRPr lang="en-IN" dirty="0"/>
          </a:p>
        </p:txBody>
      </p:sp>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7</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939165" y="1175648"/>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What is System Testing?</a:t>
            </a:r>
          </a:p>
        </p:txBody>
      </p:sp>
    </p:spTree>
    <p:extLst>
      <p:ext uri="{BB962C8B-B14F-4D97-AF65-F5344CB8AC3E}">
        <p14:creationId xmlns:p14="http://schemas.microsoft.com/office/powerpoint/2010/main" val="264912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4D9854-D457-C74E-2BE1-C2F4C3C18203}"/>
              </a:ext>
            </a:extLst>
          </p:cNvPr>
          <p:cNvSpPr>
            <a:spLocks noGrp="1"/>
          </p:cNvSpPr>
          <p:nvPr>
            <p:ph type="body" idx="1"/>
          </p:nvPr>
        </p:nvSpPr>
        <p:spPr>
          <a:xfrm>
            <a:off x="609600" y="1286962"/>
            <a:ext cx="10643235" cy="5089434"/>
          </a:xfrm>
        </p:spPr>
        <p:txBody>
          <a:bodyPr>
            <a:noAutofit/>
          </a:bodyPr>
          <a:lstStyle/>
          <a:p>
            <a:r>
              <a:rPr lang="en-IN" b="1" dirty="0"/>
              <a:t>Major Types of System Testing</a:t>
            </a:r>
          </a:p>
          <a:p>
            <a:r>
              <a:rPr lang="en-IN" dirty="0"/>
              <a:t>System Testing may include:</a:t>
            </a:r>
          </a:p>
          <a:p>
            <a:pPr>
              <a:buFont typeface="Arial" panose="020B0604020202020204" pitchFamily="34" charset="0"/>
              <a:buChar char="•"/>
            </a:pPr>
            <a:r>
              <a:rPr lang="en-IN" dirty="0"/>
              <a:t>Functional Testing </a:t>
            </a:r>
          </a:p>
          <a:p>
            <a:pPr>
              <a:buFont typeface="Arial" panose="020B0604020202020204" pitchFamily="34" charset="0"/>
              <a:buChar char="•"/>
            </a:pPr>
            <a:r>
              <a:rPr lang="en-IN" dirty="0"/>
              <a:t>Performance Testing </a:t>
            </a:r>
          </a:p>
          <a:p>
            <a:pPr>
              <a:buFont typeface="Arial" panose="020B0604020202020204" pitchFamily="34" charset="0"/>
              <a:buChar char="•"/>
            </a:pPr>
            <a:r>
              <a:rPr lang="en-IN" dirty="0"/>
              <a:t>Load Testing </a:t>
            </a:r>
          </a:p>
          <a:p>
            <a:pPr>
              <a:buFont typeface="Arial" panose="020B0604020202020204" pitchFamily="34" charset="0"/>
              <a:buChar char="•"/>
            </a:pPr>
            <a:r>
              <a:rPr lang="en-IN" dirty="0"/>
              <a:t>Stress Testing </a:t>
            </a:r>
          </a:p>
          <a:p>
            <a:pPr>
              <a:buFont typeface="Arial" panose="020B0604020202020204" pitchFamily="34" charset="0"/>
              <a:buChar char="•"/>
            </a:pPr>
            <a:r>
              <a:rPr lang="en-IN" dirty="0"/>
              <a:t>Security Testing </a:t>
            </a:r>
          </a:p>
          <a:p>
            <a:pPr>
              <a:buFont typeface="Arial" panose="020B0604020202020204" pitchFamily="34" charset="0"/>
              <a:buChar char="•"/>
            </a:pPr>
            <a:r>
              <a:rPr lang="en-IN" dirty="0"/>
              <a:t>Usability Testing </a:t>
            </a:r>
          </a:p>
          <a:p>
            <a:pPr>
              <a:buFont typeface="Arial" panose="020B0604020202020204" pitchFamily="34" charset="0"/>
              <a:buChar char="•"/>
            </a:pPr>
            <a:r>
              <a:rPr lang="en-IN" dirty="0"/>
              <a:t>Compatibility Testing </a:t>
            </a:r>
          </a:p>
          <a:p>
            <a:pPr>
              <a:buFont typeface="Arial" panose="020B0604020202020204" pitchFamily="34" charset="0"/>
              <a:buChar char="•"/>
            </a:pPr>
            <a:r>
              <a:rPr lang="en-IN" dirty="0"/>
              <a:t>Recovery Testing </a:t>
            </a:r>
          </a:p>
          <a:p>
            <a:r>
              <a:rPr lang="en-IN" dirty="0"/>
              <a:t>These tests verify different aspects of the </a:t>
            </a:r>
            <a:r>
              <a:rPr lang="en-IN" b="1" dirty="0"/>
              <a:t>complete system</a:t>
            </a:r>
            <a:r>
              <a:rPr lang="en-IN" dirty="0"/>
              <a:t>.</a:t>
            </a:r>
          </a:p>
          <a:p>
            <a:endParaRPr lang="en-IN" dirty="0"/>
          </a:p>
        </p:txBody>
      </p:sp>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8</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4315411" y="546724"/>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What is System Testing?</a:t>
            </a:r>
          </a:p>
        </p:txBody>
      </p:sp>
    </p:spTree>
    <p:extLst>
      <p:ext uri="{BB962C8B-B14F-4D97-AF65-F5344CB8AC3E}">
        <p14:creationId xmlns:p14="http://schemas.microsoft.com/office/powerpoint/2010/main" val="3875682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9</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4315411" y="546724"/>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What is System Testing?</a:t>
            </a:r>
          </a:p>
        </p:txBody>
      </p:sp>
      <p:graphicFrame>
        <p:nvGraphicFramePr>
          <p:cNvPr id="7" name="Table 6">
            <a:extLst>
              <a:ext uri="{FF2B5EF4-FFF2-40B4-BE49-F238E27FC236}">
                <a16:creationId xmlns:a16="http://schemas.microsoft.com/office/drawing/2014/main" id="{C3421D8F-FB3F-74A8-F2BC-9683C34A8C6B}"/>
              </a:ext>
            </a:extLst>
          </p:cNvPr>
          <p:cNvGraphicFramePr>
            <a:graphicFrameLocks noGrp="1"/>
          </p:cNvGraphicFramePr>
          <p:nvPr>
            <p:extLst>
              <p:ext uri="{D42A27DB-BD31-4B8C-83A1-F6EECF244321}">
                <p14:modId xmlns:p14="http://schemas.microsoft.com/office/powerpoint/2010/main" val="3426635487"/>
              </p:ext>
            </p:extLst>
          </p:nvPr>
        </p:nvGraphicFramePr>
        <p:xfrm>
          <a:off x="838200" y="1868817"/>
          <a:ext cx="10515600" cy="4754880"/>
        </p:xfrm>
        <a:graphic>
          <a:graphicData uri="http://schemas.openxmlformats.org/drawingml/2006/table">
            <a:tbl>
              <a:tblPr/>
              <a:tblGrid>
                <a:gridCol w="5257800">
                  <a:extLst>
                    <a:ext uri="{9D8B030D-6E8A-4147-A177-3AD203B41FA5}">
                      <a16:colId xmlns:a16="http://schemas.microsoft.com/office/drawing/2014/main" val="3833615931"/>
                    </a:ext>
                  </a:extLst>
                </a:gridCol>
                <a:gridCol w="5257800">
                  <a:extLst>
                    <a:ext uri="{9D8B030D-6E8A-4147-A177-3AD203B41FA5}">
                      <a16:colId xmlns:a16="http://schemas.microsoft.com/office/drawing/2014/main" val="3506418823"/>
                    </a:ext>
                  </a:extLst>
                </a:gridCol>
              </a:tblGrid>
              <a:tr h="0">
                <a:tc>
                  <a:txBody>
                    <a:bodyPr/>
                    <a:lstStyle/>
                    <a:p>
                      <a:pPr algn="ctr"/>
                      <a:r>
                        <a:rPr lang="en-IN" sz="2400"/>
                        <a:t>Type</a:t>
                      </a:r>
                    </a:p>
                  </a:txBody>
                  <a:tcPr anchor="ctr">
                    <a:lnL>
                      <a:noFill/>
                    </a:lnL>
                    <a:lnR>
                      <a:noFill/>
                    </a:lnR>
                    <a:lnT>
                      <a:noFill/>
                    </a:lnT>
                    <a:lnB>
                      <a:noFill/>
                    </a:lnB>
                  </a:tcPr>
                </a:tc>
                <a:tc>
                  <a:txBody>
                    <a:bodyPr/>
                    <a:lstStyle/>
                    <a:p>
                      <a:pPr algn="ctr"/>
                      <a:r>
                        <a:rPr lang="en-IN" sz="2400" dirty="0"/>
                        <a:t>Checks</a:t>
                      </a:r>
                    </a:p>
                  </a:txBody>
                  <a:tcPr anchor="ctr">
                    <a:lnL>
                      <a:noFill/>
                    </a:lnL>
                    <a:lnR>
                      <a:noFill/>
                    </a:lnR>
                    <a:lnT>
                      <a:noFill/>
                    </a:lnT>
                    <a:lnB>
                      <a:noFill/>
                    </a:lnB>
                  </a:tcPr>
                </a:tc>
                <a:extLst>
                  <a:ext uri="{0D108BD9-81ED-4DB2-BD59-A6C34878D82A}">
                    <a16:rowId xmlns:a16="http://schemas.microsoft.com/office/drawing/2014/main" val="789830640"/>
                  </a:ext>
                </a:extLst>
              </a:tr>
              <a:tr h="0">
                <a:tc>
                  <a:txBody>
                    <a:bodyPr/>
                    <a:lstStyle/>
                    <a:p>
                      <a:pPr algn="ctr"/>
                      <a:r>
                        <a:rPr lang="en-IN" sz="2400" b="1" dirty="0"/>
                        <a:t>Functional</a:t>
                      </a:r>
                      <a:endParaRPr lang="en-IN" sz="2400" dirty="0"/>
                    </a:p>
                  </a:txBody>
                  <a:tcPr anchor="ctr">
                    <a:lnL>
                      <a:noFill/>
                    </a:lnL>
                    <a:lnR>
                      <a:noFill/>
                    </a:lnR>
                    <a:lnT>
                      <a:noFill/>
                    </a:lnT>
                    <a:lnB>
                      <a:noFill/>
                    </a:lnB>
                  </a:tcPr>
                </a:tc>
                <a:tc>
                  <a:txBody>
                    <a:bodyPr/>
                    <a:lstStyle/>
                    <a:p>
                      <a:pPr algn="ctr"/>
                      <a:r>
                        <a:rPr lang="en-IN" sz="2400"/>
                        <a:t>Does the system perform required functions?</a:t>
                      </a:r>
                    </a:p>
                  </a:txBody>
                  <a:tcPr anchor="ctr">
                    <a:lnL>
                      <a:noFill/>
                    </a:lnL>
                    <a:lnR>
                      <a:noFill/>
                    </a:lnR>
                    <a:lnT>
                      <a:noFill/>
                    </a:lnT>
                    <a:lnB>
                      <a:noFill/>
                    </a:lnB>
                  </a:tcPr>
                </a:tc>
                <a:extLst>
                  <a:ext uri="{0D108BD9-81ED-4DB2-BD59-A6C34878D82A}">
                    <a16:rowId xmlns:a16="http://schemas.microsoft.com/office/drawing/2014/main" val="2096345279"/>
                  </a:ext>
                </a:extLst>
              </a:tr>
              <a:tr h="0">
                <a:tc>
                  <a:txBody>
                    <a:bodyPr/>
                    <a:lstStyle/>
                    <a:p>
                      <a:pPr algn="ctr"/>
                      <a:r>
                        <a:rPr lang="en-IN" sz="2400" b="1"/>
                        <a:t>Performance</a:t>
                      </a:r>
                      <a:endParaRPr lang="en-IN" sz="2400"/>
                    </a:p>
                  </a:txBody>
                  <a:tcPr anchor="ctr">
                    <a:lnL>
                      <a:noFill/>
                    </a:lnL>
                    <a:lnR>
                      <a:noFill/>
                    </a:lnR>
                    <a:lnT>
                      <a:noFill/>
                    </a:lnT>
                    <a:lnB>
                      <a:noFill/>
                    </a:lnB>
                  </a:tcPr>
                </a:tc>
                <a:tc>
                  <a:txBody>
                    <a:bodyPr/>
                    <a:lstStyle/>
                    <a:p>
                      <a:pPr algn="ctr"/>
                      <a:r>
                        <a:rPr lang="en-IN" sz="2400" dirty="0"/>
                        <a:t>Does it respond efficiently?</a:t>
                      </a:r>
                    </a:p>
                  </a:txBody>
                  <a:tcPr anchor="ctr">
                    <a:lnL>
                      <a:noFill/>
                    </a:lnL>
                    <a:lnR>
                      <a:noFill/>
                    </a:lnR>
                    <a:lnT>
                      <a:noFill/>
                    </a:lnT>
                    <a:lnB>
                      <a:noFill/>
                    </a:lnB>
                  </a:tcPr>
                </a:tc>
                <a:extLst>
                  <a:ext uri="{0D108BD9-81ED-4DB2-BD59-A6C34878D82A}">
                    <a16:rowId xmlns:a16="http://schemas.microsoft.com/office/drawing/2014/main" val="2194367156"/>
                  </a:ext>
                </a:extLst>
              </a:tr>
              <a:tr h="0">
                <a:tc>
                  <a:txBody>
                    <a:bodyPr/>
                    <a:lstStyle/>
                    <a:p>
                      <a:pPr algn="ctr"/>
                      <a:r>
                        <a:rPr lang="en-IN" sz="2400" b="1"/>
                        <a:t>Load</a:t>
                      </a:r>
                      <a:endParaRPr lang="en-IN" sz="2400"/>
                    </a:p>
                  </a:txBody>
                  <a:tcPr anchor="ctr">
                    <a:lnL>
                      <a:noFill/>
                    </a:lnL>
                    <a:lnR>
                      <a:noFill/>
                    </a:lnR>
                    <a:lnT>
                      <a:noFill/>
                    </a:lnT>
                    <a:lnB>
                      <a:noFill/>
                    </a:lnB>
                  </a:tcPr>
                </a:tc>
                <a:tc>
                  <a:txBody>
                    <a:bodyPr/>
                    <a:lstStyle/>
                    <a:p>
                      <a:pPr algn="ctr"/>
                      <a:r>
                        <a:rPr lang="en-IN" sz="2400" dirty="0"/>
                        <a:t>Can it handle expected users/workload?</a:t>
                      </a:r>
                    </a:p>
                  </a:txBody>
                  <a:tcPr anchor="ctr">
                    <a:lnL>
                      <a:noFill/>
                    </a:lnL>
                    <a:lnR>
                      <a:noFill/>
                    </a:lnR>
                    <a:lnT>
                      <a:noFill/>
                    </a:lnT>
                    <a:lnB>
                      <a:noFill/>
                    </a:lnB>
                  </a:tcPr>
                </a:tc>
                <a:extLst>
                  <a:ext uri="{0D108BD9-81ED-4DB2-BD59-A6C34878D82A}">
                    <a16:rowId xmlns:a16="http://schemas.microsoft.com/office/drawing/2014/main" val="213863850"/>
                  </a:ext>
                </a:extLst>
              </a:tr>
              <a:tr h="0">
                <a:tc>
                  <a:txBody>
                    <a:bodyPr/>
                    <a:lstStyle/>
                    <a:p>
                      <a:pPr algn="ctr"/>
                      <a:r>
                        <a:rPr lang="en-IN" sz="2400" b="1"/>
                        <a:t>Stress</a:t>
                      </a:r>
                      <a:endParaRPr lang="en-IN" sz="2400"/>
                    </a:p>
                  </a:txBody>
                  <a:tcPr anchor="ctr">
                    <a:lnL>
                      <a:noFill/>
                    </a:lnL>
                    <a:lnR>
                      <a:noFill/>
                    </a:lnR>
                    <a:lnT>
                      <a:noFill/>
                    </a:lnT>
                    <a:lnB>
                      <a:noFill/>
                    </a:lnB>
                  </a:tcPr>
                </a:tc>
                <a:tc>
                  <a:txBody>
                    <a:bodyPr/>
                    <a:lstStyle/>
                    <a:p>
                      <a:pPr algn="ctr"/>
                      <a:r>
                        <a:rPr lang="en-IN" sz="2400" dirty="0"/>
                        <a:t>How does it behave beyond normal limits?</a:t>
                      </a:r>
                    </a:p>
                  </a:txBody>
                  <a:tcPr anchor="ctr">
                    <a:lnL>
                      <a:noFill/>
                    </a:lnL>
                    <a:lnR>
                      <a:noFill/>
                    </a:lnR>
                    <a:lnT>
                      <a:noFill/>
                    </a:lnT>
                    <a:lnB>
                      <a:noFill/>
                    </a:lnB>
                  </a:tcPr>
                </a:tc>
                <a:extLst>
                  <a:ext uri="{0D108BD9-81ED-4DB2-BD59-A6C34878D82A}">
                    <a16:rowId xmlns:a16="http://schemas.microsoft.com/office/drawing/2014/main" val="3939916512"/>
                  </a:ext>
                </a:extLst>
              </a:tr>
              <a:tr h="0">
                <a:tc>
                  <a:txBody>
                    <a:bodyPr/>
                    <a:lstStyle/>
                    <a:p>
                      <a:pPr algn="ctr"/>
                      <a:r>
                        <a:rPr lang="en-IN" sz="2400" b="1"/>
                        <a:t>Security</a:t>
                      </a:r>
                      <a:endParaRPr lang="en-IN" sz="2400"/>
                    </a:p>
                  </a:txBody>
                  <a:tcPr anchor="ctr">
                    <a:lnL>
                      <a:noFill/>
                    </a:lnL>
                    <a:lnR>
                      <a:noFill/>
                    </a:lnR>
                    <a:lnT>
                      <a:noFill/>
                    </a:lnT>
                    <a:lnB>
                      <a:noFill/>
                    </a:lnB>
                  </a:tcPr>
                </a:tc>
                <a:tc>
                  <a:txBody>
                    <a:bodyPr/>
                    <a:lstStyle/>
                    <a:p>
                      <a:pPr algn="ctr"/>
                      <a:r>
                        <a:rPr lang="en-IN" sz="2400" dirty="0"/>
                        <a:t>Is data protected from unauthorized access?</a:t>
                      </a:r>
                    </a:p>
                  </a:txBody>
                  <a:tcPr anchor="ctr">
                    <a:lnL>
                      <a:noFill/>
                    </a:lnL>
                    <a:lnR>
                      <a:noFill/>
                    </a:lnR>
                    <a:lnT>
                      <a:noFill/>
                    </a:lnT>
                    <a:lnB>
                      <a:noFill/>
                    </a:lnB>
                  </a:tcPr>
                </a:tc>
                <a:extLst>
                  <a:ext uri="{0D108BD9-81ED-4DB2-BD59-A6C34878D82A}">
                    <a16:rowId xmlns:a16="http://schemas.microsoft.com/office/drawing/2014/main" val="3696503992"/>
                  </a:ext>
                </a:extLst>
              </a:tr>
              <a:tr h="0">
                <a:tc>
                  <a:txBody>
                    <a:bodyPr/>
                    <a:lstStyle/>
                    <a:p>
                      <a:pPr algn="ctr"/>
                      <a:r>
                        <a:rPr lang="en-IN" sz="2400" b="1"/>
                        <a:t>Usability</a:t>
                      </a:r>
                      <a:endParaRPr lang="en-IN" sz="2400"/>
                    </a:p>
                  </a:txBody>
                  <a:tcPr anchor="ctr">
                    <a:lnL>
                      <a:noFill/>
                    </a:lnL>
                    <a:lnR>
                      <a:noFill/>
                    </a:lnR>
                    <a:lnT>
                      <a:noFill/>
                    </a:lnT>
                    <a:lnB>
                      <a:noFill/>
                    </a:lnB>
                  </a:tcPr>
                </a:tc>
                <a:tc>
                  <a:txBody>
                    <a:bodyPr/>
                    <a:lstStyle/>
                    <a:p>
                      <a:pPr algn="ctr"/>
                      <a:r>
                        <a:rPr lang="en-IN" sz="2400" dirty="0"/>
                        <a:t>Is the system easy to use?</a:t>
                      </a:r>
                    </a:p>
                  </a:txBody>
                  <a:tcPr anchor="ctr">
                    <a:lnL>
                      <a:noFill/>
                    </a:lnL>
                    <a:lnR>
                      <a:noFill/>
                    </a:lnR>
                    <a:lnT>
                      <a:noFill/>
                    </a:lnT>
                    <a:lnB>
                      <a:noFill/>
                    </a:lnB>
                  </a:tcPr>
                </a:tc>
                <a:extLst>
                  <a:ext uri="{0D108BD9-81ED-4DB2-BD59-A6C34878D82A}">
                    <a16:rowId xmlns:a16="http://schemas.microsoft.com/office/drawing/2014/main" val="4144509892"/>
                  </a:ext>
                </a:extLst>
              </a:tr>
              <a:tr h="0">
                <a:tc>
                  <a:txBody>
                    <a:bodyPr/>
                    <a:lstStyle/>
                    <a:p>
                      <a:pPr algn="ctr"/>
                      <a:r>
                        <a:rPr lang="en-IN" sz="2400" b="1" dirty="0"/>
                        <a:t>Compatibility</a:t>
                      </a:r>
                      <a:endParaRPr lang="en-IN" sz="2400" dirty="0"/>
                    </a:p>
                  </a:txBody>
                  <a:tcPr anchor="ctr">
                    <a:lnL>
                      <a:noFill/>
                    </a:lnL>
                    <a:lnR>
                      <a:noFill/>
                    </a:lnR>
                    <a:lnT>
                      <a:noFill/>
                    </a:lnT>
                    <a:lnB>
                      <a:noFill/>
                    </a:lnB>
                  </a:tcPr>
                </a:tc>
                <a:tc>
                  <a:txBody>
                    <a:bodyPr/>
                    <a:lstStyle/>
                    <a:p>
                      <a:pPr algn="ctr"/>
                      <a:r>
                        <a:rPr lang="en-IN" sz="2400" dirty="0"/>
                        <a:t>Does it work across devices/browsers?</a:t>
                      </a:r>
                    </a:p>
                  </a:txBody>
                  <a:tcPr anchor="ctr">
                    <a:lnL>
                      <a:noFill/>
                    </a:lnL>
                    <a:lnR>
                      <a:noFill/>
                    </a:lnR>
                    <a:lnT>
                      <a:noFill/>
                    </a:lnT>
                    <a:lnB>
                      <a:noFill/>
                    </a:lnB>
                  </a:tcPr>
                </a:tc>
                <a:extLst>
                  <a:ext uri="{0D108BD9-81ED-4DB2-BD59-A6C34878D82A}">
                    <a16:rowId xmlns:a16="http://schemas.microsoft.com/office/drawing/2014/main" val="3676300282"/>
                  </a:ext>
                </a:extLst>
              </a:tr>
            </a:tbl>
          </a:graphicData>
        </a:graphic>
      </p:graphicFrame>
      <p:sp>
        <p:nvSpPr>
          <p:cNvPr id="8" name="Rectangle 1">
            <a:extLst>
              <a:ext uri="{FF2B5EF4-FFF2-40B4-BE49-F238E27FC236}">
                <a16:creationId xmlns:a16="http://schemas.microsoft.com/office/drawing/2014/main" id="{F6A2A200-CCA1-D502-4CB6-8D053EE9EAC5}"/>
              </a:ext>
            </a:extLst>
          </p:cNvPr>
          <p:cNvSpPr>
            <a:spLocks noChangeArrowheads="1"/>
          </p:cNvSpPr>
          <p:nvPr/>
        </p:nvSpPr>
        <p:spPr bwMode="auto">
          <a:xfrm>
            <a:off x="931984" y="1478912"/>
            <a:ext cx="577361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Important System Testing Types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2232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10</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4315411" y="546724"/>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System Testing Process</a:t>
            </a:r>
          </a:p>
        </p:txBody>
      </p:sp>
      <p:sp>
        <p:nvSpPr>
          <p:cNvPr id="9" name="TextBox 8">
            <a:extLst>
              <a:ext uri="{FF2B5EF4-FFF2-40B4-BE49-F238E27FC236}">
                <a16:creationId xmlns:a16="http://schemas.microsoft.com/office/drawing/2014/main" id="{3313D40E-A616-3DAD-D555-F22E2A79AE39}"/>
              </a:ext>
            </a:extLst>
          </p:cNvPr>
          <p:cNvSpPr txBox="1"/>
          <p:nvPr/>
        </p:nvSpPr>
        <p:spPr>
          <a:xfrm>
            <a:off x="254834" y="1600691"/>
            <a:ext cx="6614889" cy="4832092"/>
          </a:xfrm>
          <a:prstGeom prst="rect">
            <a:avLst/>
          </a:prstGeom>
          <a:noFill/>
        </p:spPr>
        <p:txBody>
          <a:bodyPr wrap="square">
            <a:spAutoFit/>
          </a:bodyPr>
          <a:lstStyle/>
          <a:p>
            <a:pPr rtl="0"/>
            <a:r>
              <a:rPr lang="en-IN" sz="2800" dirty="0"/>
              <a:t>Requirements </a:t>
            </a:r>
          </a:p>
          <a:p>
            <a:pPr rtl="0"/>
            <a:r>
              <a:rPr lang="en-IN" sz="2800" dirty="0"/>
              <a:t>↓ </a:t>
            </a:r>
          </a:p>
          <a:p>
            <a:pPr rtl="0"/>
            <a:r>
              <a:rPr lang="en-IN" sz="2800" dirty="0"/>
              <a:t>Prepare Test Environment </a:t>
            </a:r>
          </a:p>
          <a:p>
            <a:pPr rtl="0"/>
            <a:r>
              <a:rPr lang="en-IN" sz="2800" dirty="0"/>
              <a:t>↓ </a:t>
            </a:r>
          </a:p>
          <a:p>
            <a:pPr rtl="0"/>
            <a:r>
              <a:rPr lang="en-IN" sz="2800" dirty="0"/>
              <a:t>Design System Test Cases</a:t>
            </a:r>
          </a:p>
          <a:p>
            <a:pPr rtl="0"/>
            <a:r>
              <a:rPr lang="en-IN" sz="2800" dirty="0"/>
              <a:t> ↓</a:t>
            </a:r>
          </a:p>
          <a:p>
            <a:pPr rtl="0"/>
            <a:r>
              <a:rPr lang="en-IN" sz="2800" dirty="0"/>
              <a:t> Execute End-to-End Tests</a:t>
            </a:r>
          </a:p>
          <a:p>
            <a:pPr rtl="0"/>
            <a:r>
              <a:rPr lang="en-IN" sz="2800" dirty="0"/>
              <a:t> ↓ </a:t>
            </a:r>
          </a:p>
          <a:p>
            <a:pPr rtl="0"/>
            <a:r>
              <a:rPr lang="en-IN" sz="2800" dirty="0"/>
              <a:t>Identify &amp; Report Defects </a:t>
            </a:r>
          </a:p>
          <a:p>
            <a:pPr rtl="0"/>
            <a:r>
              <a:rPr lang="en-IN" sz="2800" dirty="0"/>
              <a:t>↓</a:t>
            </a:r>
          </a:p>
          <a:p>
            <a:pPr rtl="0"/>
            <a:r>
              <a:rPr lang="en-IN" sz="2800" dirty="0"/>
              <a:t> Retest</a:t>
            </a:r>
          </a:p>
        </p:txBody>
      </p:sp>
      <p:sp>
        <p:nvSpPr>
          <p:cNvPr id="12" name="TextBox 11">
            <a:extLst>
              <a:ext uri="{FF2B5EF4-FFF2-40B4-BE49-F238E27FC236}">
                <a16:creationId xmlns:a16="http://schemas.microsoft.com/office/drawing/2014/main" id="{282AAF9D-3F85-98F3-11ED-A897C5FD4D12}"/>
              </a:ext>
            </a:extLst>
          </p:cNvPr>
          <p:cNvSpPr txBox="1"/>
          <p:nvPr/>
        </p:nvSpPr>
        <p:spPr>
          <a:xfrm>
            <a:off x="6096000" y="2973196"/>
            <a:ext cx="4876800" cy="1200329"/>
          </a:xfrm>
          <a:prstGeom prst="rect">
            <a:avLst/>
          </a:prstGeom>
          <a:noFill/>
        </p:spPr>
        <p:txBody>
          <a:bodyPr wrap="square">
            <a:spAutoFit/>
          </a:bodyPr>
          <a:lstStyle/>
          <a:p>
            <a:r>
              <a:rPr lang="en-IN" sz="1800" b="1" dirty="0"/>
              <a:t>Important:</a:t>
            </a:r>
          </a:p>
          <a:p>
            <a:r>
              <a:rPr lang="en-IN" sz="1800" dirty="0"/>
              <a:t>System Testing is generally performed in an environment close to the actual production environment.</a:t>
            </a:r>
          </a:p>
        </p:txBody>
      </p:sp>
    </p:spTree>
    <p:extLst>
      <p:ext uri="{BB962C8B-B14F-4D97-AF65-F5344CB8AC3E}">
        <p14:creationId xmlns:p14="http://schemas.microsoft.com/office/powerpoint/2010/main" val="3446542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11</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4315411" y="546724"/>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ACCEPTANCE TESTING</a:t>
            </a:r>
          </a:p>
        </p:txBody>
      </p:sp>
      <p:sp>
        <p:nvSpPr>
          <p:cNvPr id="9" name="TextBox 8">
            <a:extLst>
              <a:ext uri="{FF2B5EF4-FFF2-40B4-BE49-F238E27FC236}">
                <a16:creationId xmlns:a16="http://schemas.microsoft.com/office/drawing/2014/main" id="{3313D40E-A616-3DAD-D555-F22E2A79AE39}"/>
              </a:ext>
            </a:extLst>
          </p:cNvPr>
          <p:cNvSpPr txBox="1"/>
          <p:nvPr/>
        </p:nvSpPr>
        <p:spPr>
          <a:xfrm>
            <a:off x="254834" y="1600691"/>
            <a:ext cx="9920797" cy="3970318"/>
          </a:xfrm>
          <a:prstGeom prst="rect">
            <a:avLst/>
          </a:prstGeom>
          <a:noFill/>
        </p:spPr>
        <p:txBody>
          <a:bodyPr wrap="square">
            <a:spAutoFit/>
          </a:bodyPr>
          <a:lstStyle/>
          <a:p>
            <a:r>
              <a:rPr lang="en-IN" sz="2800" b="1" dirty="0"/>
              <a:t>What is Acceptance Testing?</a:t>
            </a:r>
          </a:p>
          <a:p>
            <a:r>
              <a:rPr lang="en-IN" sz="2800" b="1" dirty="0"/>
              <a:t>Acceptance Testing</a:t>
            </a:r>
            <a:r>
              <a:rPr lang="en-IN" sz="2800" dirty="0"/>
              <a:t> is performed to determine whether the software is ready to be </a:t>
            </a:r>
            <a:r>
              <a:rPr lang="en-IN" sz="2800" b="1" dirty="0"/>
              <a:t>accepted by the customer or end users</a:t>
            </a:r>
            <a:r>
              <a:rPr lang="en-IN" sz="2800" dirty="0"/>
              <a:t>.</a:t>
            </a:r>
          </a:p>
          <a:p>
            <a:r>
              <a:rPr lang="en-IN" sz="2800" dirty="0"/>
              <a:t>It checks whether the system satisfies:</a:t>
            </a:r>
          </a:p>
          <a:p>
            <a:pPr>
              <a:buFont typeface="Arial" panose="020B0604020202020204" pitchFamily="34" charset="0"/>
              <a:buChar char="•"/>
            </a:pPr>
            <a:r>
              <a:rPr lang="en-IN" sz="2800" dirty="0"/>
              <a:t>Business requirements </a:t>
            </a:r>
          </a:p>
          <a:p>
            <a:pPr>
              <a:buFont typeface="Arial" panose="020B0604020202020204" pitchFamily="34" charset="0"/>
              <a:buChar char="•"/>
            </a:pPr>
            <a:r>
              <a:rPr lang="en-IN" sz="2800" dirty="0"/>
              <a:t>User needs </a:t>
            </a:r>
          </a:p>
          <a:p>
            <a:pPr>
              <a:buFont typeface="Arial" panose="020B0604020202020204" pitchFamily="34" charset="0"/>
              <a:buChar char="•"/>
            </a:pPr>
            <a:r>
              <a:rPr lang="en-IN" sz="2800" dirty="0"/>
              <a:t>Acceptance criteria </a:t>
            </a:r>
          </a:p>
          <a:p>
            <a:r>
              <a:rPr lang="en-IN" sz="2800" b="1" dirty="0"/>
              <a:t>Key Question:</a:t>
            </a:r>
          </a:p>
          <a:p>
            <a:r>
              <a:rPr lang="en-IN" sz="2800" b="1" dirty="0"/>
              <a:t>"Is this system acceptable for use?"</a:t>
            </a:r>
            <a:endParaRPr lang="en-IN" sz="2800" dirty="0"/>
          </a:p>
        </p:txBody>
      </p:sp>
    </p:spTree>
    <p:extLst>
      <p:ext uri="{BB962C8B-B14F-4D97-AF65-F5344CB8AC3E}">
        <p14:creationId xmlns:p14="http://schemas.microsoft.com/office/powerpoint/2010/main" val="885401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4315411" y="546724"/>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ACCEPTANCE TESTING</a:t>
            </a:r>
          </a:p>
        </p:txBody>
      </p:sp>
      <p:sp>
        <p:nvSpPr>
          <p:cNvPr id="9" name="TextBox 8">
            <a:extLst>
              <a:ext uri="{FF2B5EF4-FFF2-40B4-BE49-F238E27FC236}">
                <a16:creationId xmlns:a16="http://schemas.microsoft.com/office/drawing/2014/main" id="{3313D40E-A616-3DAD-D555-F22E2A79AE39}"/>
              </a:ext>
            </a:extLst>
          </p:cNvPr>
          <p:cNvSpPr txBox="1"/>
          <p:nvPr/>
        </p:nvSpPr>
        <p:spPr>
          <a:xfrm>
            <a:off x="254834" y="1600691"/>
            <a:ext cx="9920797" cy="3970318"/>
          </a:xfrm>
          <a:prstGeom prst="rect">
            <a:avLst/>
          </a:prstGeom>
          <a:noFill/>
        </p:spPr>
        <p:txBody>
          <a:bodyPr wrap="square">
            <a:spAutoFit/>
          </a:bodyPr>
          <a:lstStyle/>
          <a:p>
            <a:r>
              <a:rPr lang="en-IN" sz="2800" b="1" dirty="0"/>
              <a:t>Who Performs Acceptance Testing?</a:t>
            </a:r>
          </a:p>
          <a:p>
            <a:r>
              <a:rPr lang="en-IN" sz="2800" dirty="0"/>
              <a:t>Acceptance Testing is commonly performed by:</a:t>
            </a:r>
          </a:p>
          <a:p>
            <a:pPr>
              <a:buFont typeface="Arial" panose="020B0604020202020204" pitchFamily="34" charset="0"/>
              <a:buChar char="•"/>
            </a:pPr>
            <a:r>
              <a:rPr lang="en-IN" sz="2800" dirty="0"/>
              <a:t>Customers </a:t>
            </a:r>
          </a:p>
          <a:p>
            <a:pPr>
              <a:buFont typeface="Arial" panose="020B0604020202020204" pitchFamily="34" charset="0"/>
              <a:buChar char="•"/>
            </a:pPr>
            <a:r>
              <a:rPr lang="en-IN" sz="2800" dirty="0"/>
              <a:t>End Users </a:t>
            </a:r>
          </a:p>
          <a:p>
            <a:pPr>
              <a:buFont typeface="Arial" panose="020B0604020202020204" pitchFamily="34" charset="0"/>
              <a:buChar char="•"/>
            </a:pPr>
            <a:r>
              <a:rPr lang="en-IN" sz="2800" dirty="0"/>
              <a:t>Clients </a:t>
            </a:r>
          </a:p>
          <a:p>
            <a:pPr>
              <a:buFont typeface="Arial" panose="020B0604020202020204" pitchFamily="34" charset="0"/>
              <a:buChar char="•"/>
            </a:pPr>
            <a:r>
              <a:rPr lang="en-IN" sz="2800" dirty="0"/>
              <a:t>Business Representatives </a:t>
            </a:r>
          </a:p>
          <a:p>
            <a:r>
              <a:rPr lang="en-IN" sz="2800" dirty="0"/>
              <a:t>Unlike Unit Testing, the focus is not primarily on internal code.</a:t>
            </a:r>
          </a:p>
          <a:p>
            <a:r>
              <a:rPr lang="en-IN" sz="2800" b="1" dirty="0"/>
              <a:t>Focus:</a:t>
            </a:r>
          </a:p>
          <a:p>
            <a:r>
              <a:rPr lang="en-IN" sz="2800" b="1" dirty="0"/>
              <a:t>User and business perspective</a:t>
            </a:r>
            <a:endParaRPr lang="en-IN" sz="2800" dirty="0"/>
          </a:p>
        </p:txBody>
      </p:sp>
    </p:spTree>
    <p:extLst>
      <p:ext uri="{BB962C8B-B14F-4D97-AF65-F5344CB8AC3E}">
        <p14:creationId xmlns:p14="http://schemas.microsoft.com/office/powerpoint/2010/main" val="3676832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13</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4315411" y="546724"/>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ACCEPTANCE TESTING</a:t>
            </a:r>
          </a:p>
        </p:txBody>
      </p:sp>
      <p:sp>
        <p:nvSpPr>
          <p:cNvPr id="9" name="TextBox 8">
            <a:extLst>
              <a:ext uri="{FF2B5EF4-FFF2-40B4-BE49-F238E27FC236}">
                <a16:creationId xmlns:a16="http://schemas.microsoft.com/office/drawing/2014/main" id="{3313D40E-A616-3DAD-D555-F22E2A79AE39}"/>
              </a:ext>
            </a:extLst>
          </p:cNvPr>
          <p:cNvSpPr txBox="1"/>
          <p:nvPr/>
        </p:nvSpPr>
        <p:spPr>
          <a:xfrm>
            <a:off x="254833" y="1190167"/>
            <a:ext cx="11363911" cy="4401205"/>
          </a:xfrm>
          <a:prstGeom prst="rect">
            <a:avLst/>
          </a:prstGeom>
          <a:noFill/>
        </p:spPr>
        <p:txBody>
          <a:bodyPr wrap="square">
            <a:spAutoFit/>
          </a:bodyPr>
          <a:lstStyle/>
          <a:p>
            <a:r>
              <a:rPr lang="en-IN" sz="2800" b="1" dirty="0"/>
              <a:t>Types of Acceptance Testing</a:t>
            </a:r>
          </a:p>
          <a:p>
            <a:r>
              <a:rPr lang="en-IN" sz="2800" dirty="0"/>
              <a:t>Major forms include:</a:t>
            </a:r>
          </a:p>
          <a:p>
            <a:r>
              <a:rPr lang="en-IN" sz="2800" b="1" dirty="0"/>
              <a:t>1. User Acceptance Testing (UAT)</a:t>
            </a:r>
          </a:p>
          <a:p>
            <a:r>
              <a:rPr lang="en-IN" sz="2800" dirty="0"/>
              <a:t>Testing by actual users or client representatives.</a:t>
            </a:r>
          </a:p>
          <a:p>
            <a:r>
              <a:rPr lang="en-IN" sz="2800" b="1" dirty="0"/>
              <a:t>2. Alpha Testing</a:t>
            </a:r>
          </a:p>
          <a:p>
            <a:r>
              <a:rPr lang="en-IN" sz="2800" dirty="0"/>
              <a:t>Testing performed internally before external release.</a:t>
            </a:r>
          </a:p>
          <a:p>
            <a:r>
              <a:rPr lang="en-IN" sz="2800" b="1" dirty="0"/>
              <a:t>3. Beta Testing</a:t>
            </a:r>
          </a:p>
          <a:p>
            <a:r>
              <a:rPr lang="en-IN" sz="2800" dirty="0"/>
              <a:t>Testing performed by selected external users in real-world conditions.</a:t>
            </a:r>
          </a:p>
          <a:p>
            <a:r>
              <a:rPr lang="en-IN" sz="2800" b="1" dirty="0"/>
              <a:t>4. Operational Acceptance Testing (OAT)</a:t>
            </a:r>
          </a:p>
          <a:p>
            <a:r>
              <a:rPr lang="en-IN" sz="2800" dirty="0"/>
              <a:t>Checks operational readiness, including backup, recovery and maintenance.</a:t>
            </a:r>
          </a:p>
        </p:txBody>
      </p:sp>
    </p:spTree>
    <p:extLst>
      <p:ext uri="{BB962C8B-B14F-4D97-AF65-F5344CB8AC3E}">
        <p14:creationId xmlns:p14="http://schemas.microsoft.com/office/powerpoint/2010/main" val="4066775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14</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4362303" y="1051156"/>
            <a:ext cx="10313670" cy="740238"/>
          </a:xfrm>
        </p:spPr>
        <p:txBody>
          <a:bodyPr>
            <a:normAutofit fontScale="90000"/>
          </a:bodyPr>
          <a:lstStyle/>
          <a:p>
            <a:r>
              <a:rPr lang="en-IN" b="1" dirty="0">
                <a:latin typeface="Times New Roman" panose="02020603050405020304" pitchFamily="18" charset="0"/>
                <a:cs typeface="Times New Roman" panose="02020603050405020304" pitchFamily="18" charset="0"/>
              </a:rPr>
              <a:t>ACCEPTANCE TESTING</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Example</a:t>
            </a:r>
          </a:p>
        </p:txBody>
      </p:sp>
      <p:sp>
        <p:nvSpPr>
          <p:cNvPr id="9" name="TextBox 8">
            <a:extLst>
              <a:ext uri="{FF2B5EF4-FFF2-40B4-BE49-F238E27FC236}">
                <a16:creationId xmlns:a16="http://schemas.microsoft.com/office/drawing/2014/main" id="{3313D40E-A616-3DAD-D555-F22E2A79AE39}"/>
              </a:ext>
            </a:extLst>
          </p:cNvPr>
          <p:cNvSpPr txBox="1"/>
          <p:nvPr/>
        </p:nvSpPr>
        <p:spPr>
          <a:xfrm>
            <a:off x="414044" y="1832035"/>
            <a:ext cx="11363911" cy="452431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Online Banking Application</a:t>
            </a:r>
          </a:p>
          <a:p>
            <a:r>
              <a:rPr lang="en-IN" sz="3200" dirty="0">
                <a:latin typeface="Times New Roman" panose="02020603050405020304" pitchFamily="18" charset="0"/>
                <a:cs typeface="Times New Roman" panose="02020603050405020304" pitchFamily="18" charset="0"/>
              </a:rPr>
              <a:t>A bank representative tests:</a:t>
            </a:r>
          </a:p>
          <a:p>
            <a:pPr>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Can customers log in? </a:t>
            </a:r>
          </a:p>
          <a:p>
            <a:pPr>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Can money be transferred correctly? </a:t>
            </a:r>
          </a:p>
          <a:p>
            <a:pPr>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Are transaction limits enforced? </a:t>
            </a:r>
          </a:p>
          <a:p>
            <a:pPr>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Are notifications generated? </a:t>
            </a:r>
          </a:p>
          <a:p>
            <a:pPr>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Does the system meet business rules? </a:t>
            </a:r>
          </a:p>
          <a:p>
            <a:r>
              <a:rPr lang="en-IN" sz="3200" dirty="0">
                <a:latin typeface="Times New Roman" panose="02020603050405020304" pitchFamily="18" charset="0"/>
                <a:cs typeface="Times New Roman" panose="02020603050405020304" pitchFamily="18" charset="0"/>
              </a:rPr>
              <a:t>If the system meets agreed </a:t>
            </a:r>
            <a:r>
              <a:rPr lang="en-IN" sz="3200" b="1" dirty="0">
                <a:latin typeface="Times New Roman" panose="02020603050405020304" pitchFamily="18" charset="0"/>
                <a:cs typeface="Times New Roman" panose="02020603050405020304" pitchFamily="18" charset="0"/>
              </a:rPr>
              <a:t>acceptance criteria</a:t>
            </a:r>
            <a:r>
              <a:rPr lang="en-IN" sz="3200" dirty="0">
                <a:latin typeface="Times New Roman" panose="02020603050405020304" pitchFamily="18" charset="0"/>
                <a:cs typeface="Times New Roman" panose="02020603050405020304" pitchFamily="18" charset="0"/>
              </a:rPr>
              <a:t>, it can be approved for deployment.</a:t>
            </a:r>
          </a:p>
        </p:txBody>
      </p:sp>
    </p:spTree>
    <p:extLst>
      <p:ext uri="{BB962C8B-B14F-4D97-AF65-F5344CB8AC3E}">
        <p14:creationId xmlns:p14="http://schemas.microsoft.com/office/powerpoint/2010/main" val="3271212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15</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2247682" y="1051156"/>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System Testing vs Acceptance Testing</a:t>
            </a:r>
          </a:p>
        </p:txBody>
      </p:sp>
      <p:graphicFrame>
        <p:nvGraphicFramePr>
          <p:cNvPr id="3" name="Table 2">
            <a:extLst>
              <a:ext uri="{FF2B5EF4-FFF2-40B4-BE49-F238E27FC236}">
                <a16:creationId xmlns:a16="http://schemas.microsoft.com/office/drawing/2014/main" id="{2A36A7C4-D21C-010C-FB3D-0C6655802A7F}"/>
              </a:ext>
            </a:extLst>
          </p:cNvPr>
          <p:cNvGraphicFramePr>
            <a:graphicFrameLocks noGrp="1"/>
          </p:cNvGraphicFramePr>
          <p:nvPr>
            <p:extLst>
              <p:ext uri="{D42A27DB-BD31-4B8C-83A1-F6EECF244321}">
                <p14:modId xmlns:p14="http://schemas.microsoft.com/office/powerpoint/2010/main" val="1737382595"/>
              </p:ext>
            </p:extLst>
          </p:nvPr>
        </p:nvGraphicFramePr>
        <p:xfrm>
          <a:off x="838200" y="2766854"/>
          <a:ext cx="10515600" cy="3474720"/>
        </p:xfrm>
        <a:graphic>
          <a:graphicData uri="http://schemas.openxmlformats.org/drawingml/2006/table">
            <a:tbl>
              <a:tblPr/>
              <a:tblGrid>
                <a:gridCol w="3505200">
                  <a:extLst>
                    <a:ext uri="{9D8B030D-6E8A-4147-A177-3AD203B41FA5}">
                      <a16:colId xmlns:a16="http://schemas.microsoft.com/office/drawing/2014/main" val="632676397"/>
                    </a:ext>
                  </a:extLst>
                </a:gridCol>
                <a:gridCol w="3505200">
                  <a:extLst>
                    <a:ext uri="{9D8B030D-6E8A-4147-A177-3AD203B41FA5}">
                      <a16:colId xmlns:a16="http://schemas.microsoft.com/office/drawing/2014/main" val="3374497"/>
                    </a:ext>
                  </a:extLst>
                </a:gridCol>
                <a:gridCol w="3505200">
                  <a:extLst>
                    <a:ext uri="{9D8B030D-6E8A-4147-A177-3AD203B41FA5}">
                      <a16:colId xmlns:a16="http://schemas.microsoft.com/office/drawing/2014/main" val="3354299777"/>
                    </a:ext>
                  </a:extLst>
                </a:gridCol>
              </a:tblGrid>
              <a:tr h="0">
                <a:tc>
                  <a:txBody>
                    <a:bodyPr/>
                    <a:lstStyle/>
                    <a:p>
                      <a:pPr algn="ctr"/>
                      <a:r>
                        <a:rPr lang="en-IN" sz="2400" b="1" dirty="0">
                          <a:latin typeface="Times New Roman" panose="02020603050405020304" pitchFamily="18" charset="0"/>
                          <a:cs typeface="Times New Roman" panose="02020603050405020304" pitchFamily="18" charset="0"/>
                        </a:rPr>
                        <a:t>Feature</a:t>
                      </a:r>
                    </a:p>
                  </a:txBody>
                  <a:tcPr anchor="ctr">
                    <a:lnL>
                      <a:noFill/>
                    </a:lnL>
                    <a:lnR>
                      <a:noFill/>
                    </a:lnR>
                    <a:lnT>
                      <a:noFill/>
                    </a:lnT>
                    <a:lnB>
                      <a:noFill/>
                    </a:lnB>
                  </a:tcPr>
                </a:tc>
                <a:tc>
                  <a:txBody>
                    <a:bodyPr/>
                    <a:lstStyle/>
                    <a:p>
                      <a:pPr algn="ctr"/>
                      <a:r>
                        <a:rPr lang="en-IN" sz="2400" b="1">
                          <a:latin typeface="Times New Roman" panose="02020603050405020304" pitchFamily="18" charset="0"/>
                          <a:cs typeface="Times New Roman" panose="02020603050405020304" pitchFamily="18" charset="0"/>
                        </a:rPr>
                        <a:t>System Testing</a:t>
                      </a:r>
                    </a:p>
                  </a:txBody>
                  <a:tcPr anchor="ctr">
                    <a:lnL>
                      <a:noFill/>
                    </a:lnL>
                    <a:lnR>
                      <a:noFill/>
                    </a:lnR>
                    <a:lnT>
                      <a:noFill/>
                    </a:lnT>
                    <a:lnB>
                      <a:noFill/>
                    </a:lnB>
                  </a:tcPr>
                </a:tc>
                <a:tc>
                  <a:txBody>
                    <a:bodyPr/>
                    <a:lstStyle/>
                    <a:p>
                      <a:pPr algn="ctr"/>
                      <a:r>
                        <a:rPr lang="en-IN" sz="2400" b="1" dirty="0">
                          <a:latin typeface="Times New Roman" panose="02020603050405020304" pitchFamily="18" charset="0"/>
                          <a:cs typeface="Times New Roman" panose="02020603050405020304" pitchFamily="18" charset="0"/>
                        </a:rPr>
                        <a:t>Acceptance Testing</a:t>
                      </a:r>
                    </a:p>
                  </a:txBody>
                  <a:tcPr anchor="ctr">
                    <a:lnL>
                      <a:noFill/>
                    </a:lnL>
                    <a:lnR>
                      <a:noFill/>
                    </a:lnR>
                    <a:lnT>
                      <a:noFill/>
                    </a:lnT>
                    <a:lnB>
                      <a:noFill/>
                    </a:lnB>
                  </a:tcPr>
                </a:tc>
                <a:extLst>
                  <a:ext uri="{0D108BD9-81ED-4DB2-BD59-A6C34878D82A}">
                    <a16:rowId xmlns:a16="http://schemas.microsoft.com/office/drawing/2014/main" val="2529309069"/>
                  </a:ext>
                </a:extLst>
              </a:tr>
              <a:tr h="0">
                <a:tc>
                  <a:txBody>
                    <a:bodyPr/>
                    <a:lstStyle/>
                    <a:p>
                      <a:pPr algn="ctr"/>
                      <a:r>
                        <a:rPr lang="en-IN" sz="2400">
                          <a:latin typeface="Times New Roman" panose="02020603050405020304" pitchFamily="18" charset="0"/>
                          <a:cs typeface="Times New Roman" panose="02020603050405020304" pitchFamily="18" charset="0"/>
                        </a:rPr>
                        <a:t>Focus</a:t>
                      </a:r>
                    </a:p>
                  </a:txBody>
                  <a:tcPr anchor="ctr">
                    <a:lnL>
                      <a:noFill/>
                    </a:lnL>
                    <a:lnR>
                      <a:noFill/>
                    </a:lnR>
                    <a:lnT>
                      <a:noFill/>
                    </a:lnT>
                    <a:lnB>
                      <a:noFill/>
                    </a:lnB>
                  </a:tcPr>
                </a:tc>
                <a:tc>
                  <a:txBody>
                    <a:bodyPr/>
                    <a:lstStyle/>
                    <a:p>
                      <a:pPr algn="ctr"/>
                      <a:r>
                        <a:rPr lang="en-IN" sz="2400" dirty="0">
                          <a:latin typeface="Times New Roman" panose="02020603050405020304" pitchFamily="18" charset="0"/>
                          <a:cs typeface="Times New Roman" panose="02020603050405020304" pitchFamily="18" charset="0"/>
                        </a:rPr>
                        <a:t>Complete system </a:t>
                      </a:r>
                      <a:r>
                        <a:rPr lang="en-IN" sz="2400" dirty="0" err="1">
                          <a:latin typeface="Times New Roman" panose="02020603050405020304" pitchFamily="18" charset="0"/>
                          <a:cs typeface="Times New Roman" panose="02020603050405020304" pitchFamily="18" charset="0"/>
                        </a:rPr>
                        <a:t>behavior</a:t>
                      </a:r>
                      <a:endParaRPr lang="en-IN" sz="2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tcPr>
                </a:tc>
                <a:tc>
                  <a:txBody>
                    <a:bodyPr/>
                    <a:lstStyle/>
                    <a:p>
                      <a:pPr algn="ctr"/>
                      <a:r>
                        <a:rPr lang="en-IN" sz="2400">
                          <a:latin typeface="Times New Roman" panose="02020603050405020304" pitchFamily="18" charset="0"/>
                          <a:cs typeface="Times New Roman" panose="02020603050405020304" pitchFamily="18" charset="0"/>
                        </a:rPr>
                        <a:t>User/business needs</a:t>
                      </a:r>
                    </a:p>
                  </a:txBody>
                  <a:tcPr anchor="ctr">
                    <a:lnL>
                      <a:noFill/>
                    </a:lnL>
                    <a:lnR>
                      <a:noFill/>
                    </a:lnR>
                    <a:lnT>
                      <a:noFill/>
                    </a:lnT>
                    <a:lnB>
                      <a:noFill/>
                    </a:lnB>
                  </a:tcPr>
                </a:tc>
                <a:extLst>
                  <a:ext uri="{0D108BD9-81ED-4DB2-BD59-A6C34878D82A}">
                    <a16:rowId xmlns:a16="http://schemas.microsoft.com/office/drawing/2014/main" val="1842618426"/>
                  </a:ext>
                </a:extLst>
              </a:tr>
              <a:tr h="0">
                <a:tc>
                  <a:txBody>
                    <a:bodyPr/>
                    <a:lstStyle/>
                    <a:p>
                      <a:pPr algn="ctr"/>
                      <a:r>
                        <a:rPr lang="en-IN" sz="2400" dirty="0">
                          <a:latin typeface="Times New Roman" panose="02020603050405020304" pitchFamily="18" charset="0"/>
                          <a:cs typeface="Times New Roman" panose="02020603050405020304" pitchFamily="18" charset="0"/>
                        </a:rPr>
                        <a:t>Main Question</a:t>
                      </a:r>
                    </a:p>
                  </a:txBody>
                  <a:tcPr anchor="ctr">
                    <a:lnL>
                      <a:noFill/>
                    </a:lnL>
                    <a:lnR>
                      <a:noFill/>
                    </a:lnR>
                    <a:lnT>
                      <a:noFill/>
                    </a:lnT>
                    <a:lnB>
                      <a:noFill/>
                    </a:lnB>
                  </a:tcPr>
                </a:tc>
                <a:tc>
                  <a:txBody>
                    <a:bodyPr/>
                    <a:lstStyle/>
                    <a:p>
                      <a:pPr algn="ctr"/>
                      <a:r>
                        <a:rPr lang="en-IN" sz="2400">
                          <a:latin typeface="Times New Roman" panose="02020603050405020304" pitchFamily="18" charset="0"/>
                          <a:cs typeface="Times New Roman" panose="02020603050405020304" pitchFamily="18" charset="0"/>
                        </a:rPr>
                        <a:t>Does the system work correctly?</a:t>
                      </a:r>
                    </a:p>
                  </a:txBody>
                  <a:tcPr anchor="ctr">
                    <a:lnL>
                      <a:noFill/>
                    </a:lnL>
                    <a:lnR>
                      <a:noFill/>
                    </a:lnR>
                    <a:lnT>
                      <a:noFill/>
                    </a:lnT>
                    <a:lnB>
                      <a:noFill/>
                    </a:lnB>
                  </a:tcPr>
                </a:tc>
                <a:tc>
                  <a:txBody>
                    <a:bodyPr/>
                    <a:lstStyle/>
                    <a:p>
                      <a:pPr algn="ctr"/>
                      <a:r>
                        <a:rPr lang="en-IN" sz="2400">
                          <a:latin typeface="Times New Roman" panose="02020603050405020304" pitchFamily="18" charset="0"/>
                          <a:cs typeface="Times New Roman" panose="02020603050405020304" pitchFamily="18" charset="0"/>
                        </a:rPr>
                        <a:t>Is the system acceptable?</a:t>
                      </a:r>
                    </a:p>
                  </a:txBody>
                  <a:tcPr anchor="ctr">
                    <a:lnL>
                      <a:noFill/>
                    </a:lnL>
                    <a:lnR>
                      <a:noFill/>
                    </a:lnR>
                    <a:lnT>
                      <a:noFill/>
                    </a:lnT>
                    <a:lnB>
                      <a:noFill/>
                    </a:lnB>
                  </a:tcPr>
                </a:tc>
                <a:extLst>
                  <a:ext uri="{0D108BD9-81ED-4DB2-BD59-A6C34878D82A}">
                    <a16:rowId xmlns:a16="http://schemas.microsoft.com/office/drawing/2014/main" val="3649649478"/>
                  </a:ext>
                </a:extLst>
              </a:tr>
              <a:tr h="0">
                <a:tc>
                  <a:txBody>
                    <a:bodyPr/>
                    <a:lstStyle/>
                    <a:p>
                      <a:pPr algn="ctr"/>
                      <a:r>
                        <a:rPr lang="en-IN" sz="2400">
                          <a:latin typeface="Times New Roman" panose="02020603050405020304" pitchFamily="18" charset="0"/>
                          <a:cs typeface="Times New Roman" panose="02020603050405020304" pitchFamily="18" charset="0"/>
                        </a:rPr>
                        <a:t>Performed by</a:t>
                      </a:r>
                    </a:p>
                  </a:txBody>
                  <a:tcPr anchor="ctr">
                    <a:lnL>
                      <a:noFill/>
                    </a:lnL>
                    <a:lnR>
                      <a:noFill/>
                    </a:lnR>
                    <a:lnT>
                      <a:noFill/>
                    </a:lnT>
                    <a:lnB>
                      <a:noFill/>
                    </a:lnB>
                  </a:tcPr>
                </a:tc>
                <a:tc>
                  <a:txBody>
                    <a:bodyPr/>
                    <a:lstStyle/>
                    <a:p>
                      <a:pPr algn="ctr"/>
                      <a:r>
                        <a:rPr lang="en-IN" sz="2400">
                          <a:latin typeface="Times New Roman" panose="02020603050405020304" pitchFamily="18" charset="0"/>
                          <a:cs typeface="Times New Roman" panose="02020603050405020304" pitchFamily="18" charset="0"/>
                        </a:rPr>
                        <a:t>QA/Test team</a:t>
                      </a:r>
                    </a:p>
                  </a:txBody>
                  <a:tcPr anchor="ctr">
                    <a:lnL>
                      <a:noFill/>
                    </a:lnL>
                    <a:lnR>
                      <a:noFill/>
                    </a:lnR>
                    <a:lnT>
                      <a:noFill/>
                    </a:lnT>
                    <a:lnB>
                      <a:noFill/>
                    </a:lnB>
                  </a:tcPr>
                </a:tc>
                <a:tc>
                  <a:txBody>
                    <a:bodyPr/>
                    <a:lstStyle/>
                    <a:p>
                      <a:pPr algn="ctr"/>
                      <a:r>
                        <a:rPr lang="en-IN" sz="2400">
                          <a:latin typeface="Times New Roman" panose="02020603050405020304" pitchFamily="18" charset="0"/>
                          <a:cs typeface="Times New Roman" panose="02020603050405020304" pitchFamily="18" charset="0"/>
                        </a:rPr>
                        <a:t>Customer/Users</a:t>
                      </a:r>
                    </a:p>
                  </a:txBody>
                  <a:tcPr anchor="ctr">
                    <a:lnL>
                      <a:noFill/>
                    </a:lnL>
                    <a:lnR>
                      <a:noFill/>
                    </a:lnR>
                    <a:lnT>
                      <a:noFill/>
                    </a:lnT>
                    <a:lnB>
                      <a:noFill/>
                    </a:lnB>
                  </a:tcPr>
                </a:tc>
                <a:extLst>
                  <a:ext uri="{0D108BD9-81ED-4DB2-BD59-A6C34878D82A}">
                    <a16:rowId xmlns:a16="http://schemas.microsoft.com/office/drawing/2014/main" val="1943782977"/>
                  </a:ext>
                </a:extLst>
              </a:tr>
              <a:tr h="0">
                <a:tc>
                  <a:txBody>
                    <a:bodyPr/>
                    <a:lstStyle/>
                    <a:p>
                      <a:pPr algn="ctr"/>
                      <a:r>
                        <a:rPr lang="en-IN" sz="2400">
                          <a:latin typeface="Times New Roman" panose="02020603050405020304" pitchFamily="18" charset="0"/>
                          <a:cs typeface="Times New Roman" panose="02020603050405020304" pitchFamily="18" charset="0"/>
                        </a:rPr>
                        <a:t>Based on</a:t>
                      </a:r>
                    </a:p>
                  </a:txBody>
                  <a:tcPr anchor="ctr">
                    <a:lnL>
                      <a:noFill/>
                    </a:lnL>
                    <a:lnR>
                      <a:noFill/>
                    </a:lnR>
                    <a:lnT>
                      <a:noFill/>
                    </a:lnT>
                    <a:lnB>
                      <a:noFill/>
                    </a:lnB>
                  </a:tcPr>
                </a:tc>
                <a:tc>
                  <a:txBody>
                    <a:bodyPr/>
                    <a:lstStyle/>
                    <a:p>
                      <a:pPr algn="ctr"/>
                      <a:r>
                        <a:rPr lang="en-IN" sz="2400" dirty="0">
                          <a:latin typeface="Times New Roman" panose="02020603050405020304" pitchFamily="18" charset="0"/>
                          <a:cs typeface="Times New Roman" panose="02020603050405020304" pitchFamily="18" charset="0"/>
                        </a:rPr>
                        <a:t>System requirements</a:t>
                      </a:r>
                    </a:p>
                  </a:txBody>
                  <a:tcPr anchor="ctr">
                    <a:lnL>
                      <a:noFill/>
                    </a:lnL>
                    <a:lnR>
                      <a:noFill/>
                    </a:lnR>
                    <a:lnT>
                      <a:noFill/>
                    </a:lnT>
                    <a:lnB>
                      <a:noFill/>
                    </a:lnB>
                  </a:tcPr>
                </a:tc>
                <a:tc>
                  <a:txBody>
                    <a:bodyPr/>
                    <a:lstStyle/>
                    <a:p>
                      <a:pPr algn="ctr"/>
                      <a:r>
                        <a:rPr lang="en-IN" sz="2400">
                          <a:latin typeface="Times New Roman" panose="02020603050405020304" pitchFamily="18" charset="0"/>
                          <a:cs typeface="Times New Roman" panose="02020603050405020304" pitchFamily="18" charset="0"/>
                        </a:rPr>
                        <a:t>Business requirements &amp; acceptance criteria</a:t>
                      </a:r>
                    </a:p>
                  </a:txBody>
                  <a:tcPr anchor="ctr">
                    <a:lnL>
                      <a:noFill/>
                    </a:lnL>
                    <a:lnR>
                      <a:noFill/>
                    </a:lnR>
                    <a:lnT>
                      <a:noFill/>
                    </a:lnT>
                    <a:lnB>
                      <a:noFill/>
                    </a:lnB>
                  </a:tcPr>
                </a:tc>
                <a:extLst>
                  <a:ext uri="{0D108BD9-81ED-4DB2-BD59-A6C34878D82A}">
                    <a16:rowId xmlns:a16="http://schemas.microsoft.com/office/drawing/2014/main" val="1906544008"/>
                  </a:ext>
                </a:extLst>
              </a:tr>
              <a:tr h="0">
                <a:tc>
                  <a:txBody>
                    <a:bodyPr/>
                    <a:lstStyle/>
                    <a:p>
                      <a:pPr algn="ctr"/>
                      <a:r>
                        <a:rPr lang="en-IN" sz="2400">
                          <a:latin typeface="Times New Roman" panose="02020603050405020304" pitchFamily="18" charset="0"/>
                          <a:cs typeface="Times New Roman" panose="02020603050405020304" pitchFamily="18" charset="0"/>
                        </a:rPr>
                        <a:t>Goal</a:t>
                      </a:r>
                    </a:p>
                  </a:txBody>
                  <a:tcPr anchor="ctr">
                    <a:lnL>
                      <a:noFill/>
                    </a:lnL>
                    <a:lnR>
                      <a:noFill/>
                    </a:lnR>
                    <a:lnT>
                      <a:noFill/>
                    </a:lnT>
                    <a:lnB>
                      <a:noFill/>
                    </a:lnB>
                  </a:tcPr>
                </a:tc>
                <a:tc>
                  <a:txBody>
                    <a:bodyPr/>
                    <a:lstStyle/>
                    <a:p>
                      <a:pPr algn="ctr"/>
                      <a:r>
                        <a:rPr lang="en-IN" sz="2400">
                          <a:latin typeface="Times New Roman" panose="02020603050405020304" pitchFamily="18" charset="0"/>
                          <a:cs typeface="Times New Roman" panose="02020603050405020304" pitchFamily="18" charset="0"/>
                        </a:rPr>
                        <a:t>Find defects</a:t>
                      </a:r>
                    </a:p>
                  </a:txBody>
                  <a:tcPr anchor="ctr">
                    <a:lnL>
                      <a:noFill/>
                    </a:lnL>
                    <a:lnR>
                      <a:noFill/>
                    </a:lnR>
                    <a:lnT>
                      <a:noFill/>
                    </a:lnT>
                    <a:lnB>
                      <a:noFill/>
                    </a:lnB>
                  </a:tcPr>
                </a:tc>
                <a:tc>
                  <a:txBody>
                    <a:bodyPr/>
                    <a:lstStyle/>
                    <a:p>
                      <a:pPr algn="ctr"/>
                      <a:r>
                        <a:rPr lang="en-IN" sz="2400" dirty="0">
                          <a:latin typeface="Times New Roman" panose="02020603050405020304" pitchFamily="18" charset="0"/>
                          <a:cs typeface="Times New Roman" panose="02020603050405020304" pitchFamily="18" charset="0"/>
                        </a:rPr>
                        <a:t>Approve/reject system</a:t>
                      </a:r>
                    </a:p>
                  </a:txBody>
                  <a:tcPr anchor="ctr">
                    <a:lnL>
                      <a:noFill/>
                    </a:lnL>
                    <a:lnR>
                      <a:noFill/>
                    </a:lnR>
                    <a:lnT>
                      <a:noFill/>
                    </a:lnT>
                    <a:lnB>
                      <a:noFill/>
                    </a:lnB>
                  </a:tcPr>
                </a:tc>
                <a:extLst>
                  <a:ext uri="{0D108BD9-81ED-4DB2-BD59-A6C34878D82A}">
                    <a16:rowId xmlns:a16="http://schemas.microsoft.com/office/drawing/2014/main" val="1798155230"/>
                  </a:ext>
                </a:extLst>
              </a:tr>
            </a:tbl>
          </a:graphicData>
        </a:graphic>
      </p:graphicFrame>
    </p:spTree>
    <p:extLst>
      <p:ext uri="{BB962C8B-B14F-4D97-AF65-F5344CB8AC3E}">
        <p14:creationId xmlns:p14="http://schemas.microsoft.com/office/powerpoint/2010/main" val="395293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16</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2247682" y="1051156"/>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Think- Pair – Share Activity</a:t>
            </a:r>
          </a:p>
        </p:txBody>
      </p:sp>
      <p:sp>
        <p:nvSpPr>
          <p:cNvPr id="8" name="TextBox 7">
            <a:extLst>
              <a:ext uri="{FF2B5EF4-FFF2-40B4-BE49-F238E27FC236}">
                <a16:creationId xmlns:a16="http://schemas.microsoft.com/office/drawing/2014/main" id="{3DEAD80C-6DC7-F49F-70EB-5D1B701D6A65}"/>
              </a:ext>
            </a:extLst>
          </p:cNvPr>
          <p:cNvSpPr txBox="1"/>
          <p:nvPr/>
        </p:nvSpPr>
        <p:spPr>
          <a:xfrm>
            <a:off x="254833" y="1945538"/>
            <a:ext cx="11586647" cy="1569660"/>
          </a:xfrm>
          <a:prstGeom prst="rect">
            <a:avLst/>
          </a:prstGeom>
          <a:noFill/>
        </p:spPr>
        <p:txBody>
          <a:bodyPr wrap="square">
            <a:spAutoFit/>
          </a:bodyPr>
          <a:lstStyle/>
          <a:p>
            <a:r>
              <a:rPr lang="en-IN" sz="2400" b="1" kern="0" dirty="0">
                <a:effectLst/>
                <a:latin typeface="Times New Roman" panose="02020603050405020304" pitchFamily="18" charset="0"/>
                <a:ea typeface="Times New Roman" panose="02020603050405020304" pitchFamily="18" charset="0"/>
                <a:cs typeface="Times New Roman" panose="02020603050405020304" pitchFamily="18" charset="0"/>
              </a:rPr>
              <a:t>Food Delivery Application</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complete application successfully allows users to register, select food, place orders, make payments, and track delivery. However, the restaurant owner says the application does not provide the daily sales report required in the project requirements.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599FA439-02BC-2713-78EF-336B31A3CE70}"/>
              </a:ext>
            </a:extLst>
          </p:cNvPr>
          <p:cNvSpPr txBox="1"/>
          <p:nvPr/>
        </p:nvSpPr>
        <p:spPr>
          <a:xfrm>
            <a:off x="7028572" y="3726177"/>
            <a:ext cx="6283568" cy="2677656"/>
          </a:xfrm>
          <a:prstGeom prst="rect">
            <a:avLst/>
          </a:prstGeom>
          <a:noFill/>
        </p:spPr>
        <p:txBody>
          <a:bodyPr wrap="square">
            <a:spAutoFit/>
          </a:bodyPr>
          <a:lstStyle/>
          <a:p>
            <a:r>
              <a:rPr lang="en-IN" sz="2400" b="1" dirty="0"/>
              <a:t>THINK (2 min)</a:t>
            </a:r>
          </a:p>
          <a:p>
            <a:r>
              <a:rPr lang="en-IN" sz="2400" dirty="0"/>
              <a:t>Identify:</a:t>
            </a:r>
          </a:p>
          <a:p>
            <a:pPr>
              <a:buFont typeface="+mj-lt"/>
              <a:buAutoNum type="arabicPeriod"/>
            </a:pPr>
            <a:r>
              <a:rPr lang="en-IN" sz="2400" dirty="0"/>
              <a:t>One </a:t>
            </a:r>
            <a:r>
              <a:rPr lang="en-IN" sz="2400" b="1" dirty="0"/>
              <a:t>System Testing</a:t>
            </a:r>
            <a:r>
              <a:rPr lang="en-IN" sz="2400" dirty="0"/>
              <a:t> scenario. </a:t>
            </a:r>
          </a:p>
          <a:p>
            <a:pPr>
              <a:buFont typeface="+mj-lt"/>
              <a:buAutoNum type="arabicPeriod"/>
            </a:pPr>
            <a:r>
              <a:rPr lang="en-IN" sz="2400" dirty="0"/>
              <a:t>One </a:t>
            </a:r>
            <a:r>
              <a:rPr lang="en-IN" sz="2400" b="1" dirty="0"/>
              <a:t>Acceptance Testing</a:t>
            </a:r>
            <a:r>
              <a:rPr lang="en-IN" sz="2400" dirty="0"/>
              <a:t> scenario. </a:t>
            </a:r>
          </a:p>
          <a:p>
            <a:r>
              <a:rPr lang="en-IN" sz="2400" b="1" dirty="0"/>
              <a:t>PAIR (3 min)</a:t>
            </a:r>
          </a:p>
          <a:p>
            <a:r>
              <a:rPr lang="en-IN" sz="2400" dirty="0"/>
              <a:t>Discuss your scenarios with a partner.</a:t>
            </a:r>
          </a:p>
          <a:p>
            <a:r>
              <a:rPr lang="en-IN" sz="2400" b="1" dirty="0"/>
              <a:t>SHARE (5 min)</a:t>
            </a:r>
          </a:p>
        </p:txBody>
      </p:sp>
      <p:sp>
        <p:nvSpPr>
          <p:cNvPr id="7" name="TextBox 6">
            <a:extLst>
              <a:ext uri="{FF2B5EF4-FFF2-40B4-BE49-F238E27FC236}">
                <a16:creationId xmlns:a16="http://schemas.microsoft.com/office/drawing/2014/main" id="{49698DF0-5AB6-82D0-00B7-12AF11D85FC0}"/>
              </a:ext>
            </a:extLst>
          </p:cNvPr>
          <p:cNvSpPr txBox="1"/>
          <p:nvPr/>
        </p:nvSpPr>
        <p:spPr>
          <a:xfrm>
            <a:off x="254833" y="3792453"/>
            <a:ext cx="6286500" cy="2246769"/>
          </a:xfrm>
          <a:prstGeom prst="rect">
            <a:avLst/>
          </a:prstGeom>
          <a:noFill/>
        </p:spPr>
        <p:txBody>
          <a:bodyPr wrap="square">
            <a:spAutoFit/>
          </a:bodyPr>
          <a:lstStyle/>
          <a:p>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Q1. Has the complete system been tested?</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800" b="1" kern="0" dirty="0">
                <a:effectLst/>
                <a:latin typeface="Times New Roman" panose="02020603050405020304" pitchFamily="18" charset="0"/>
                <a:ea typeface="Times New Roman" panose="02020603050405020304" pitchFamily="18" charset="0"/>
                <a:cs typeface="Times New Roman" panose="02020603050405020304" pitchFamily="18" charset="0"/>
              </a:rPr>
              <a:t>Q2. Can the customer accept the system?</a:t>
            </a:r>
            <a:br>
              <a:rPr lang="en-IN" sz="28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2800" b="1" kern="0" dirty="0">
                <a:effectLst/>
                <a:latin typeface="Times New Roman" panose="02020603050405020304" pitchFamily="18" charset="0"/>
                <a:ea typeface="Times New Roman" panose="02020603050405020304" pitchFamily="18" charset="0"/>
              </a:rPr>
              <a:t>Q3. Why?</a:t>
            </a:r>
            <a:r>
              <a:rPr lang="en-IN" sz="2800" dirty="0">
                <a:effectLst/>
              </a:rPr>
              <a:t> </a:t>
            </a:r>
            <a:endParaRPr lang="en-US" sz="2800" dirty="0"/>
          </a:p>
        </p:txBody>
      </p:sp>
      <p:pic>
        <p:nvPicPr>
          <p:cNvPr id="9" name="Picture 8">
            <a:extLst>
              <a:ext uri="{FF2B5EF4-FFF2-40B4-BE49-F238E27FC236}">
                <a16:creationId xmlns:a16="http://schemas.microsoft.com/office/drawing/2014/main" id="{8C8F9A6D-70FC-0B7E-3542-F5B62A284BF5}"/>
              </a:ext>
            </a:extLst>
          </p:cNvPr>
          <p:cNvPicPr>
            <a:picLocks noChangeAspect="1"/>
          </p:cNvPicPr>
          <p:nvPr/>
        </p:nvPicPr>
        <p:blipFill>
          <a:blip r:embed="rId4"/>
          <a:stretch>
            <a:fillRect/>
          </a:stretch>
        </p:blipFill>
        <p:spPr>
          <a:xfrm>
            <a:off x="9788141" y="191831"/>
            <a:ext cx="2149026" cy="2057578"/>
          </a:xfrm>
          <a:prstGeom prst="rect">
            <a:avLst/>
          </a:prstGeom>
        </p:spPr>
      </p:pic>
    </p:spTree>
    <p:extLst>
      <p:ext uri="{BB962C8B-B14F-4D97-AF65-F5344CB8AC3E}">
        <p14:creationId xmlns:p14="http://schemas.microsoft.com/office/powerpoint/2010/main" val="119657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17</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4825365" y="877460"/>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Example</a:t>
            </a:r>
          </a:p>
        </p:txBody>
      </p:sp>
      <p:sp>
        <p:nvSpPr>
          <p:cNvPr id="8" name="TextBox 7">
            <a:extLst>
              <a:ext uri="{FF2B5EF4-FFF2-40B4-BE49-F238E27FC236}">
                <a16:creationId xmlns:a16="http://schemas.microsoft.com/office/drawing/2014/main" id="{3DEAD80C-6DC7-F49F-70EB-5D1B701D6A65}"/>
              </a:ext>
            </a:extLst>
          </p:cNvPr>
          <p:cNvSpPr txBox="1"/>
          <p:nvPr/>
        </p:nvSpPr>
        <p:spPr>
          <a:xfrm>
            <a:off x="254833" y="2388951"/>
            <a:ext cx="11679259" cy="3970318"/>
          </a:xfrm>
          <a:prstGeom prst="rect">
            <a:avLst/>
          </a:prstGeom>
          <a:noFill/>
        </p:spPr>
        <p:txBody>
          <a:bodyPr wrap="square">
            <a:spAutoFit/>
          </a:bodyPr>
          <a:lstStyle/>
          <a:p>
            <a:r>
              <a:rPr lang="en-IN" sz="2800" b="1" dirty="0"/>
              <a:t>System Testing Example</a:t>
            </a:r>
          </a:p>
          <a:p>
            <a:r>
              <a:rPr lang="en-IN" sz="2800" dirty="0"/>
              <a:t>Test the complete flow from restaurant search → order placement → payment → delivery tracking.</a:t>
            </a:r>
          </a:p>
          <a:p>
            <a:r>
              <a:rPr lang="en-IN" sz="2800" dirty="0"/>
              <a:t>Focus: </a:t>
            </a:r>
            <a:r>
              <a:rPr lang="en-IN" sz="2800" b="1" dirty="0"/>
              <a:t>Does the complete system work correctly?</a:t>
            </a:r>
          </a:p>
          <a:p>
            <a:endParaRPr lang="en-IN" sz="2800" dirty="0"/>
          </a:p>
          <a:p>
            <a:r>
              <a:rPr lang="en-IN" sz="2800" b="1" dirty="0"/>
              <a:t>Acceptance Testing Example</a:t>
            </a:r>
          </a:p>
          <a:p>
            <a:r>
              <a:rPr lang="en-IN" sz="2800" dirty="0"/>
              <a:t>A customer representative verifies whether the application meets the agreed business requirement of ordering and tracking food conveniently.</a:t>
            </a:r>
          </a:p>
          <a:p>
            <a:r>
              <a:rPr lang="en-IN" sz="2800" dirty="0"/>
              <a:t>Focus: </a:t>
            </a:r>
            <a:r>
              <a:rPr lang="en-IN" sz="2800" b="1" dirty="0"/>
              <a:t>Does the system meet user/business expectations?</a:t>
            </a:r>
            <a:endParaRPr lang="en-IN" sz="2800" dirty="0"/>
          </a:p>
        </p:txBody>
      </p:sp>
    </p:spTree>
    <p:extLst>
      <p:ext uri="{BB962C8B-B14F-4D97-AF65-F5344CB8AC3E}">
        <p14:creationId xmlns:p14="http://schemas.microsoft.com/office/powerpoint/2010/main" val="457187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18</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3254471" y="1051156"/>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Real-World Testing Flow</a:t>
            </a:r>
          </a:p>
        </p:txBody>
      </p:sp>
      <p:sp>
        <p:nvSpPr>
          <p:cNvPr id="7" name="TextBox 6">
            <a:extLst>
              <a:ext uri="{FF2B5EF4-FFF2-40B4-BE49-F238E27FC236}">
                <a16:creationId xmlns:a16="http://schemas.microsoft.com/office/drawing/2014/main" id="{BBB3A5F9-DAD8-080E-373B-52C42EEA402C}"/>
              </a:ext>
            </a:extLst>
          </p:cNvPr>
          <p:cNvSpPr txBox="1"/>
          <p:nvPr/>
        </p:nvSpPr>
        <p:spPr>
          <a:xfrm>
            <a:off x="838201" y="2146555"/>
            <a:ext cx="6787660" cy="4154984"/>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Individual Components</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Unit Testing</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Integration Testing</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System Testing</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Acceptance Testing</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Deployment</a:t>
            </a:r>
          </a:p>
        </p:txBody>
      </p:sp>
      <p:graphicFrame>
        <p:nvGraphicFramePr>
          <p:cNvPr id="9" name="Table 8">
            <a:extLst>
              <a:ext uri="{FF2B5EF4-FFF2-40B4-BE49-F238E27FC236}">
                <a16:creationId xmlns:a16="http://schemas.microsoft.com/office/drawing/2014/main" id="{00E84C9D-9041-FE4C-5838-CD5AB794EBB8}"/>
              </a:ext>
            </a:extLst>
          </p:cNvPr>
          <p:cNvGraphicFramePr>
            <a:graphicFrameLocks noGrp="1"/>
          </p:cNvGraphicFramePr>
          <p:nvPr>
            <p:extLst>
              <p:ext uri="{D42A27DB-BD31-4B8C-83A1-F6EECF244321}">
                <p14:modId xmlns:p14="http://schemas.microsoft.com/office/powerpoint/2010/main" val="1020179294"/>
              </p:ext>
            </p:extLst>
          </p:nvPr>
        </p:nvGraphicFramePr>
        <p:xfrm>
          <a:off x="5087815" y="3159472"/>
          <a:ext cx="11365917" cy="2286000"/>
        </p:xfrm>
        <a:graphic>
          <a:graphicData uri="http://schemas.openxmlformats.org/drawingml/2006/table">
            <a:tbl>
              <a:tblPr/>
              <a:tblGrid>
                <a:gridCol w="1628227">
                  <a:extLst>
                    <a:ext uri="{9D8B030D-6E8A-4147-A177-3AD203B41FA5}">
                      <a16:colId xmlns:a16="http://schemas.microsoft.com/office/drawing/2014/main" val="3015897331"/>
                    </a:ext>
                  </a:extLst>
                </a:gridCol>
                <a:gridCol w="9737690">
                  <a:extLst>
                    <a:ext uri="{9D8B030D-6E8A-4147-A177-3AD203B41FA5}">
                      <a16:colId xmlns:a16="http://schemas.microsoft.com/office/drawing/2014/main" val="3675872515"/>
                    </a:ext>
                  </a:extLst>
                </a:gridCol>
              </a:tblGrid>
              <a:tr h="0">
                <a:tc>
                  <a:txBody>
                    <a:bodyPr/>
                    <a:lstStyle/>
                    <a:p>
                      <a:r>
                        <a:rPr lang="en-IN" sz="2400" b="1"/>
                        <a:t>Level</a:t>
                      </a:r>
                    </a:p>
                  </a:txBody>
                  <a:tcPr anchor="ctr">
                    <a:lnL>
                      <a:noFill/>
                    </a:lnL>
                    <a:lnR>
                      <a:noFill/>
                    </a:lnR>
                    <a:lnT>
                      <a:noFill/>
                    </a:lnT>
                    <a:lnB>
                      <a:noFill/>
                    </a:lnB>
                  </a:tcPr>
                </a:tc>
                <a:tc>
                  <a:txBody>
                    <a:bodyPr/>
                    <a:lstStyle/>
                    <a:p>
                      <a:r>
                        <a:rPr lang="en-IN" sz="2400" b="1" dirty="0"/>
                        <a:t>Focus</a:t>
                      </a:r>
                    </a:p>
                  </a:txBody>
                  <a:tcPr anchor="ctr">
                    <a:lnL>
                      <a:noFill/>
                    </a:lnL>
                    <a:lnR>
                      <a:noFill/>
                    </a:lnR>
                    <a:lnT>
                      <a:noFill/>
                    </a:lnT>
                    <a:lnB>
                      <a:noFill/>
                    </a:lnB>
                  </a:tcPr>
                </a:tc>
                <a:extLst>
                  <a:ext uri="{0D108BD9-81ED-4DB2-BD59-A6C34878D82A}">
                    <a16:rowId xmlns:a16="http://schemas.microsoft.com/office/drawing/2014/main" val="1756373051"/>
                  </a:ext>
                </a:extLst>
              </a:tr>
              <a:tr h="0">
                <a:tc>
                  <a:txBody>
                    <a:bodyPr/>
                    <a:lstStyle/>
                    <a:p>
                      <a:r>
                        <a:rPr lang="en-IN" sz="2400"/>
                        <a:t>Unit</a:t>
                      </a:r>
                    </a:p>
                  </a:txBody>
                  <a:tcPr anchor="ctr">
                    <a:lnL>
                      <a:noFill/>
                    </a:lnL>
                    <a:lnR>
                      <a:noFill/>
                    </a:lnR>
                    <a:lnT>
                      <a:noFill/>
                    </a:lnT>
                    <a:lnB>
                      <a:noFill/>
                    </a:lnB>
                  </a:tcPr>
                </a:tc>
                <a:tc>
                  <a:txBody>
                    <a:bodyPr/>
                    <a:lstStyle/>
                    <a:p>
                      <a:r>
                        <a:rPr lang="en-IN" sz="2400"/>
                        <a:t>Individual component</a:t>
                      </a:r>
                    </a:p>
                  </a:txBody>
                  <a:tcPr anchor="ctr">
                    <a:lnL>
                      <a:noFill/>
                    </a:lnL>
                    <a:lnR>
                      <a:noFill/>
                    </a:lnR>
                    <a:lnT>
                      <a:noFill/>
                    </a:lnT>
                    <a:lnB>
                      <a:noFill/>
                    </a:lnB>
                  </a:tcPr>
                </a:tc>
                <a:extLst>
                  <a:ext uri="{0D108BD9-81ED-4DB2-BD59-A6C34878D82A}">
                    <a16:rowId xmlns:a16="http://schemas.microsoft.com/office/drawing/2014/main" val="3423806946"/>
                  </a:ext>
                </a:extLst>
              </a:tr>
              <a:tr h="0">
                <a:tc>
                  <a:txBody>
                    <a:bodyPr/>
                    <a:lstStyle/>
                    <a:p>
                      <a:r>
                        <a:rPr lang="en-IN" sz="2400"/>
                        <a:t>Integration</a:t>
                      </a:r>
                    </a:p>
                  </a:txBody>
                  <a:tcPr anchor="ctr">
                    <a:lnL>
                      <a:noFill/>
                    </a:lnL>
                    <a:lnR>
                      <a:noFill/>
                    </a:lnR>
                    <a:lnT>
                      <a:noFill/>
                    </a:lnT>
                    <a:lnB>
                      <a:noFill/>
                    </a:lnB>
                  </a:tcPr>
                </a:tc>
                <a:tc>
                  <a:txBody>
                    <a:bodyPr/>
                    <a:lstStyle/>
                    <a:p>
                      <a:r>
                        <a:rPr lang="en-IN" sz="2400"/>
                        <a:t>Component interaction</a:t>
                      </a:r>
                    </a:p>
                  </a:txBody>
                  <a:tcPr anchor="ctr">
                    <a:lnL>
                      <a:noFill/>
                    </a:lnL>
                    <a:lnR>
                      <a:noFill/>
                    </a:lnR>
                    <a:lnT>
                      <a:noFill/>
                    </a:lnT>
                    <a:lnB>
                      <a:noFill/>
                    </a:lnB>
                  </a:tcPr>
                </a:tc>
                <a:extLst>
                  <a:ext uri="{0D108BD9-81ED-4DB2-BD59-A6C34878D82A}">
                    <a16:rowId xmlns:a16="http://schemas.microsoft.com/office/drawing/2014/main" val="1990070995"/>
                  </a:ext>
                </a:extLst>
              </a:tr>
              <a:tr h="0">
                <a:tc>
                  <a:txBody>
                    <a:bodyPr/>
                    <a:lstStyle/>
                    <a:p>
                      <a:r>
                        <a:rPr lang="en-IN" sz="2400"/>
                        <a:t>System</a:t>
                      </a:r>
                    </a:p>
                  </a:txBody>
                  <a:tcPr anchor="ctr">
                    <a:lnL>
                      <a:noFill/>
                    </a:lnL>
                    <a:lnR>
                      <a:noFill/>
                    </a:lnR>
                    <a:lnT>
                      <a:noFill/>
                    </a:lnT>
                    <a:lnB>
                      <a:noFill/>
                    </a:lnB>
                  </a:tcPr>
                </a:tc>
                <a:tc>
                  <a:txBody>
                    <a:bodyPr/>
                    <a:lstStyle/>
                    <a:p>
                      <a:r>
                        <a:rPr lang="en-IN" sz="2400"/>
                        <a:t>Complete system</a:t>
                      </a:r>
                    </a:p>
                  </a:txBody>
                  <a:tcPr anchor="ctr">
                    <a:lnL>
                      <a:noFill/>
                    </a:lnL>
                    <a:lnR>
                      <a:noFill/>
                    </a:lnR>
                    <a:lnT>
                      <a:noFill/>
                    </a:lnT>
                    <a:lnB>
                      <a:noFill/>
                    </a:lnB>
                  </a:tcPr>
                </a:tc>
                <a:extLst>
                  <a:ext uri="{0D108BD9-81ED-4DB2-BD59-A6C34878D82A}">
                    <a16:rowId xmlns:a16="http://schemas.microsoft.com/office/drawing/2014/main" val="3178957504"/>
                  </a:ext>
                </a:extLst>
              </a:tr>
              <a:tr h="0">
                <a:tc>
                  <a:txBody>
                    <a:bodyPr/>
                    <a:lstStyle/>
                    <a:p>
                      <a:r>
                        <a:rPr lang="en-IN" sz="2400"/>
                        <a:t>Acceptance</a:t>
                      </a:r>
                    </a:p>
                  </a:txBody>
                  <a:tcPr anchor="ctr">
                    <a:lnL>
                      <a:noFill/>
                    </a:lnL>
                    <a:lnR>
                      <a:noFill/>
                    </a:lnR>
                    <a:lnT>
                      <a:noFill/>
                    </a:lnT>
                    <a:lnB>
                      <a:noFill/>
                    </a:lnB>
                  </a:tcPr>
                </a:tc>
                <a:tc>
                  <a:txBody>
                    <a:bodyPr/>
                    <a:lstStyle/>
                    <a:p>
                      <a:r>
                        <a:rPr lang="en-IN" sz="2400" dirty="0"/>
                        <a:t>User/business approval</a:t>
                      </a:r>
                    </a:p>
                  </a:txBody>
                  <a:tcPr anchor="ctr">
                    <a:lnL>
                      <a:noFill/>
                    </a:lnL>
                    <a:lnR>
                      <a:noFill/>
                    </a:lnR>
                    <a:lnT>
                      <a:noFill/>
                    </a:lnT>
                    <a:lnB>
                      <a:noFill/>
                    </a:lnB>
                  </a:tcPr>
                </a:tc>
                <a:extLst>
                  <a:ext uri="{0D108BD9-81ED-4DB2-BD59-A6C34878D82A}">
                    <a16:rowId xmlns:a16="http://schemas.microsoft.com/office/drawing/2014/main" val="2954721211"/>
                  </a:ext>
                </a:extLst>
              </a:tr>
            </a:tbl>
          </a:graphicData>
        </a:graphic>
      </p:graphicFrame>
      <p:sp>
        <p:nvSpPr>
          <p:cNvPr id="11" name="TextBox 10">
            <a:extLst>
              <a:ext uri="{FF2B5EF4-FFF2-40B4-BE49-F238E27FC236}">
                <a16:creationId xmlns:a16="http://schemas.microsoft.com/office/drawing/2014/main" id="{592FE17D-CE4C-3A5D-FEEC-F7DBB0EBE449}"/>
              </a:ext>
            </a:extLst>
          </p:cNvPr>
          <p:cNvSpPr txBox="1"/>
          <p:nvPr/>
        </p:nvSpPr>
        <p:spPr>
          <a:xfrm>
            <a:off x="4846172" y="2440236"/>
            <a:ext cx="8229600" cy="461665"/>
          </a:xfrm>
          <a:prstGeom prst="rect">
            <a:avLst/>
          </a:prstGeom>
          <a:noFill/>
        </p:spPr>
        <p:txBody>
          <a:bodyPr wrap="square">
            <a:spAutoFit/>
          </a:bodyPr>
          <a:lstStyle/>
          <a:p>
            <a:r>
              <a:rPr lang="en-IN" sz="2400" b="1" dirty="0"/>
              <a:t>Testing perspective changes at every level:</a:t>
            </a:r>
            <a:endParaRPr lang="en-US" sz="2400" b="1" dirty="0"/>
          </a:p>
        </p:txBody>
      </p:sp>
    </p:spTree>
    <p:extLst>
      <p:ext uri="{BB962C8B-B14F-4D97-AF65-F5344CB8AC3E}">
        <p14:creationId xmlns:p14="http://schemas.microsoft.com/office/powerpoint/2010/main" val="4019642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19</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3254471" y="1051156"/>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Key Takeaways</a:t>
            </a:r>
          </a:p>
        </p:txBody>
      </p:sp>
      <p:sp>
        <p:nvSpPr>
          <p:cNvPr id="11" name="TextBox 10">
            <a:extLst>
              <a:ext uri="{FF2B5EF4-FFF2-40B4-BE49-F238E27FC236}">
                <a16:creationId xmlns:a16="http://schemas.microsoft.com/office/drawing/2014/main" id="{592FE17D-CE4C-3A5D-FEEC-F7DBB0EBE449}"/>
              </a:ext>
            </a:extLst>
          </p:cNvPr>
          <p:cNvSpPr txBox="1"/>
          <p:nvPr/>
        </p:nvSpPr>
        <p:spPr>
          <a:xfrm>
            <a:off x="838200" y="1910568"/>
            <a:ext cx="10313670" cy="4401205"/>
          </a:xfrm>
          <a:prstGeom prst="rect">
            <a:avLst/>
          </a:prstGeom>
          <a:noFill/>
        </p:spPr>
        <p:txBody>
          <a:bodyPr wrap="square">
            <a:spAutoFit/>
          </a:bodyPr>
          <a:lstStyle/>
          <a:p>
            <a:r>
              <a:rPr lang="en-IN" sz="2800" b="1" dirty="0"/>
              <a:t>System Testing</a:t>
            </a:r>
            <a:endParaRPr lang="en-IN" sz="2800" dirty="0"/>
          </a:p>
          <a:p>
            <a:r>
              <a:rPr lang="en-IN" sz="2800" dirty="0"/>
              <a:t>Tests the complete integrated system against specified requirements.</a:t>
            </a:r>
          </a:p>
          <a:p>
            <a:endParaRPr lang="en-IN" sz="2800" dirty="0"/>
          </a:p>
          <a:p>
            <a:r>
              <a:rPr lang="en-IN" sz="2800" b="1" dirty="0"/>
              <a:t>Acceptance Testing</a:t>
            </a:r>
            <a:endParaRPr lang="en-IN" sz="2800" dirty="0"/>
          </a:p>
          <a:p>
            <a:r>
              <a:rPr lang="en-IN" sz="2800" dirty="0"/>
              <a:t>Determines whether the system satisfies user and business needs and is ready for acceptance.</a:t>
            </a:r>
          </a:p>
          <a:p>
            <a:endParaRPr lang="en-IN" sz="2800" dirty="0"/>
          </a:p>
          <a:p>
            <a:r>
              <a:rPr lang="en-IN" sz="2800" b="1" dirty="0"/>
              <a:t>Simple Memory Trick:</a:t>
            </a:r>
          </a:p>
          <a:p>
            <a:r>
              <a:rPr lang="en-IN" sz="2800" b="1" dirty="0"/>
              <a:t>System Testing = "Does it work?"</a:t>
            </a:r>
            <a:endParaRPr lang="en-IN" sz="2800" dirty="0"/>
          </a:p>
          <a:p>
            <a:r>
              <a:rPr lang="en-IN" sz="2800" b="1" dirty="0"/>
              <a:t>Acceptance Testing = "Is it what the user wanted?"</a:t>
            </a:r>
            <a:endParaRPr lang="en-IN" sz="2800" dirty="0"/>
          </a:p>
        </p:txBody>
      </p:sp>
      <p:sp>
        <p:nvSpPr>
          <p:cNvPr id="12" name="TextBox 11">
            <a:extLst>
              <a:ext uri="{FF2B5EF4-FFF2-40B4-BE49-F238E27FC236}">
                <a16:creationId xmlns:a16="http://schemas.microsoft.com/office/drawing/2014/main" id="{F32E28D5-3360-6C98-FC21-5E646BDE2899}"/>
              </a:ext>
            </a:extLst>
          </p:cNvPr>
          <p:cNvSpPr txBox="1"/>
          <p:nvPr/>
        </p:nvSpPr>
        <p:spPr>
          <a:xfrm>
            <a:off x="3798277" y="778412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463192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20</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3254471" y="1051156"/>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Quick Recap</a:t>
            </a:r>
          </a:p>
        </p:txBody>
      </p:sp>
      <p:sp>
        <p:nvSpPr>
          <p:cNvPr id="12" name="TextBox 11">
            <a:extLst>
              <a:ext uri="{FF2B5EF4-FFF2-40B4-BE49-F238E27FC236}">
                <a16:creationId xmlns:a16="http://schemas.microsoft.com/office/drawing/2014/main" id="{F32E28D5-3360-6C98-FC21-5E646BDE2899}"/>
              </a:ext>
            </a:extLst>
          </p:cNvPr>
          <p:cNvSpPr txBox="1"/>
          <p:nvPr/>
        </p:nvSpPr>
        <p:spPr>
          <a:xfrm>
            <a:off x="3798277" y="7784123"/>
            <a:ext cx="184731" cy="369332"/>
          </a:xfrm>
          <a:prstGeom prst="rect">
            <a:avLst/>
          </a:prstGeom>
          <a:noFill/>
        </p:spPr>
        <p:txBody>
          <a:bodyPr wrap="none" rtlCol="0">
            <a:spAutoFit/>
          </a:bodyPr>
          <a:lstStyle/>
          <a:p>
            <a:endParaRPr lang="en-US" dirty="0"/>
          </a:p>
        </p:txBody>
      </p:sp>
      <p:pic>
        <p:nvPicPr>
          <p:cNvPr id="7" name="Picture 6">
            <a:extLst>
              <a:ext uri="{FF2B5EF4-FFF2-40B4-BE49-F238E27FC236}">
                <a16:creationId xmlns:a16="http://schemas.microsoft.com/office/drawing/2014/main" id="{8FB3F4CA-752F-D687-0258-ED5C8855AEEF}"/>
              </a:ext>
            </a:extLst>
          </p:cNvPr>
          <p:cNvPicPr>
            <a:picLocks noChangeAspect="1"/>
          </p:cNvPicPr>
          <p:nvPr/>
        </p:nvPicPr>
        <p:blipFill>
          <a:blip r:embed="rId4"/>
          <a:stretch>
            <a:fillRect/>
          </a:stretch>
        </p:blipFill>
        <p:spPr>
          <a:xfrm>
            <a:off x="2930769" y="2195512"/>
            <a:ext cx="4267200" cy="4343400"/>
          </a:xfrm>
          <a:prstGeom prst="rect">
            <a:avLst/>
          </a:prstGeom>
        </p:spPr>
      </p:pic>
    </p:spTree>
    <p:extLst>
      <p:ext uri="{BB962C8B-B14F-4D97-AF65-F5344CB8AC3E}">
        <p14:creationId xmlns:p14="http://schemas.microsoft.com/office/powerpoint/2010/main" val="689916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72DB3B-5B0A-079E-60C8-DEABDF89B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21</a:t>
            </a:fld>
            <a:endParaRPr lang="en-IN"/>
          </a:p>
        </p:txBody>
      </p:sp>
      <p:pic>
        <p:nvPicPr>
          <p:cNvPr id="5" name="Google Shape;182;p18">
            <a:extLst>
              <a:ext uri="{FF2B5EF4-FFF2-40B4-BE49-F238E27FC236}">
                <a16:creationId xmlns:a16="http://schemas.microsoft.com/office/drawing/2014/main" id="{B2376C76-B6FB-8EF3-E120-699A334A6D57}"/>
              </a:ext>
            </a:extLst>
          </p:cNvPr>
          <p:cNvPicPr preferRelativeResize="0"/>
          <p:nvPr/>
        </p:nvPicPr>
        <p:blipFill rotWithShape="1">
          <a:blip r:embed="rId2">
            <a:alphaModFix/>
          </a:blip>
          <a:srcRect/>
          <a:stretch/>
        </p:blipFill>
        <p:spPr>
          <a:xfrm>
            <a:off x="254833" y="310918"/>
            <a:ext cx="3795634" cy="740238"/>
          </a:xfrm>
          <a:prstGeom prst="rect">
            <a:avLst/>
          </a:prstGeom>
          <a:noFill/>
          <a:ln>
            <a:noFill/>
          </a:ln>
        </p:spPr>
      </p:pic>
      <p:pic>
        <p:nvPicPr>
          <p:cNvPr id="6" name="Google Shape;183;p18" descr="A blue circle with text and words&#10;&#10;Description automatically generated">
            <a:extLst>
              <a:ext uri="{FF2B5EF4-FFF2-40B4-BE49-F238E27FC236}">
                <a16:creationId xmlns:a16="http://schemas.microsoft.com/office/drawing/2014/main" id="{4BB7CA83-AA82-BB9B-B10B-DD293BEC79A0}"/>
              </a:ext>
            </a:extLst>
          </p:cNvPr>
          <p:cNvPicPr preferRelativeResize="0"/>
          <p:nvPr/>
        </p:nvPicPr>
        <p:blipFill rotWithShape="1">
          <a:blip r:embed="rId3">
            <a:alphaModFix/>
          </a:blip>
          <a:srcRect/>
          <a:stretch/>
        </p:blipFill>
        <p:spPr>
          <a:xfrm>
            <a:off x="10758566" y="191744"/>
            <a:ext cx="874732" cy="874732"/>
          </a:xfrm>
          <a:prstGeom prst="rect">
            <a:avLst/>
          </a:prstGeom>
          <a:noFill/>
          <a:ln>
            <a:noFill/>
          </a:ln>
        </p:spPr>
      </p:pic>
      <p:sp>
        <p:nvSpPr>
          <p:cNvPr id="2" name="Title 1">
            <a:extLst>
              <a:ext uri="{FF2B5EF4-FFF2-40B4-BE49-F238E27FC236}">
                <a16:creationId xmlns:a16="http://schemas.microsoft.com/office/drawing/2014/main" id="{421E94CB-66FB-4F70-A5CD-7E02FFFC4B80}"/>
              </a:ext>
            </a:extLst>
          </p:cNvPr>
          <p:cNvSpPr>
            <a:spLocks noGrp="1"/>
          </p:cNvSpPr>
          <p:nvPr>
            <p:ph type="title"/>
          </p:nvPr>
        </p:nvSpPr>
        <p:spPr>
          <a:xfrm>
            <a:off x="3254471" y="1051156"/>
            <a:ext cx="10313670" cy="740238"/>
          </a:xfrm>
        </p:spPr>
        <p:txBody>
          <a:bodyPr>
            <a:normAutofit/>
          </a:bodyPr>
          <a:lstStyle/>
          <a:p>
            <a:r>
              <a:rPr lang="en-IN" b="1" dirty="0">
                <a:latin typeface="Times New Roman" panose="02020603050405020304" pitchFamily="18" charset="0"/>
                <a:cs typeface="Times New Roman" panose="02020603050405020304" pitchFamily="18" charset="0"/>
              </a:rPr>
              <a:t>Thank you</a:t>
            </a:r>
          </a:p>
        </p:txBody>
      </p:sp>
      <p:sp>
        <p:nvSpPr>
          <p:cNvPr id="12" name="TextBox 11">
            <a:extLst>
              <a:ext uri="{FF2B5EF4-FFF2-40B4-BE49-F238E27FC236}">
                <a16:creationId xmlns:a16="http://schemas.microsoft.com/office/drawing/2014/main" id="{F32E28D5-3360-6C98-FC21-5E646BDE2899}"/>
              </a:ext>
            </a:extLst>
          </p:cNvPr>
          <p:cNvSpPr txBox="1"/>
          <p:nvPr/>
        </p:nvSpPr>
        <p:spPr>
          <a:xfrm>
            <a:off x="3798277" y="7784123"/>
            <a:ext cx="184731" cy="369332"/>
          </a:xfrm>
          <a:prstGeom prst="rect">
            <a:avLst/>
          </a:prstGeom>
          <a:noFill/>
        </p:spPr>
        <p:txBody>
          <a:bodyPr wrap="none" rtlCol="0">
            <a:spAutoFit/>
          </a:bodyPr>
          <a:lstStyle/>
          <a:p>
            <a:endParaRPr lang="en-US" dirty="0"/>
          </a:p>
        </p:txBody>
      </p:sp>
      <p:sp>
        <p:nvSpPr>
          <p:cNvPr id="3" name="Title 1">
            <a:extLst>
              <a:ext uri="{FF2B5EF4-FFF2-40B4-BE49-F238E27FC236}">
                <a16:creationId xmlns:a16="http://schemas.microsoft.com/office/drawing/2014/main" id="{F94487FE-1E39-61C5-255C-384C54FBB60C}"/>
              </a:ext>
            </a:extLst>
          </p:cNvPr>
          <p:cNvSpPr txBox="1">
            <a:spLocks/>
          </p:cNvSpPr>
          <p:nvPr/>
        </p:nvSpPr>
        <p:spPr>
          <a:xfrm>
            <a:off x="2726933" y="3233258"/>
            <a:ext cx="10313670" cy="81426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Next Topic- Defect Management</a:t>
            </a:r>
          </a:p>
        </p:txBody>
      </p:sp>
    </p:spTree>
    <p:extLst>
      <p:ext uri="{BB962C8B-B14F-4D97-AF65-F5344CB8AC3E}">
        <p14:creationId xmlns:p14="http://schemas.microsoft.com/office/powerpoint/2010/main" val="20781815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1006</Words>
  <Application>Microsoft Office PowerPoint</Application>
  <PresentationFormat>Widescreen</PresentationFormat>
  <Paragraphs>226</Paragraphs>
  <Slides>21</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Georgia</vt:lpstr>
      <vt:lpstr>Play</vt:lpstr>
      <vt:lpstr>quote-cjk-patch</vt:lpstr>
      <vt:lpstr>Times New Roman</vt:lpstr>
      <vt:lpstr>Office Theme</vt:lpstr>
      <vt:lpstr>Testing Methodologies: System and Acceptance Testing Testing  Session No.: 15 Course Name: Software Engineering  Course Code: R1UC542B  Faculty Name: Dr Monalisa Panigrahi Duration: 50 minutes  </vt:lpstr>
      <vt:lpstr> Lets Revise: </vt:lpstr>
      <vt:lpstr>Consider this scenario:   An e-commerce application has successfully passed Unit and Integration Testing. Does this guarantee that the complete system is ready to be delivered to the customer?</vt:lpstr>
      <vt:lpstr>PowerPoint Presentation</vt:lpstr>
      <vt:lpstr>PowerPoint Presentation</vt:lpstr>
      <vt:lpstr>Session Outline</vt:lpstr>
      <vt:lpstr>What is System Testing?</vt:lpstr>
      <vt:lpstr>What is System Testing?</vt:lpstr>
      <vt:lpstr>What is System Testing?</vt:lpstr>
      <vt:lpstr>System Testing Process</vt:lpstr>
      <vt:lpstr>ACCEPTANCE TESTING</vt:lpstr>
      <vt:lpstr>ACCEPTANCE TESTING</vt:lpstr>
      <vt:lpstr>ACCEPTANCE TESTING</vt:lpstr>
      <vt:lpstr>ACCEPTANCE TESTING             Example</vt:lpstr>
      <vt:lpstr>System Testing vs Acceptance Testing</vt:lpstr>
      <vt:lpstr>Think- Pair – Share Activity</vt:lpstr>
      <vt:lpstr>Example</vt:lpstr>
      <vt:lpstr>Real-World Testing Flow</vt:lpstr>
      <vt:lpstr>Key Takeaways</vt:lpstr>
      <vt:lpstr>Quick Recap</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supriya kapoor</dc:creator>
  <cp:lastModifiedBy>Mona Lisa</cp:lastModifiedBy>
  <cp:revision>7</cp:revision>
  <dcterms:created xsi:type="dcterms:W3CDTF">2026-08-30T05:43:57Z</dcterms:created>
  <dcterms:modified xsi:type="dcterms:W3CDTF">2026-10-03T04:28:56Z</dcterms:modified>
</cp:coreProperties>
</file>