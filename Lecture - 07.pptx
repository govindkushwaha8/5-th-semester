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4"/>
  </p:notesMasterIdLst>
  <p:sldIdLst>
    <p:sldId id="256" r:id="rId2"/>
    <p:sldId id="282" r:id="rId3"/>
    <p:sldId id="283" r:id="rId4"/>
    <p:sldId id="298" r:id="rId5"/>
    <p:sldId id="300" r:id="rId6"/>
    <p:sldId id="299" r:id="rId7"/>
    <p:sldId id="285" r:id="rId8"/>
    <p:sldId id="359" r:id="rId9"/>
    <p:sldId id="291" r:id="rId10"/>
    <p:sldId id="360" r:id="rId11"/>
    <p:sldId id="348" r:id="rId12"/>
    <p:sldId id="347" r:id="rId13"/>
    <p:sldId id="349" r:id="rId14"/>
    <p:sldId id="350" r:id="rId15"/>
    <p:sldId id="341" r:id="rId16"/>
    <p:sldId id="351" r:id="rId17"/>
    <p:sldId id="357" r:id="rId18"/>
    <p:sldId id="363" r:id="rId19"/>
    <p:sldId id="364" r:id="rId20"/>
    <p:sldId id="365" r:id="rId21"/>
    <p:sldId id="366" r:id="rId22"/>
    <p:sldId id="367" r:id="rId23"/>
    <p:sldId id="353" r:id="rId24"/>
    <p:sldId id="352" r:id="rId25"/>
    <p:sldId id="354" r:id="rId26"/>
    <p:sldId id="355" r:id="rId27"/>
    <p:sldId id="297" r:id="rId28"/>
    <p:sldId id="284" r:id="rId29"/>
    <p:sldId id="289" r:id="rId30"/>
    <p:sldId id="290" r:id="rId31"/>
    <p:sldId id="281" r:id="rId32"/>
    <p:sldId id="27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7CE2BF-E837-4849-B11C-0944C199F6A4}" v="228" dt="2024-09-19T16:05:47.4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6" autoAdjust="0"/>
    <p:restoredTop sz="94694"/>
  </p:normalViewPr>
  <p:slideViewPr>
    <p:cSldViewPr snapToGrid="0">
      <p:cViewPr varScale="1">
        <p:scale>
          <a:sx n="67" d="100"/>
          <a:sy n="67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64DB52A-CA4F-4852-B41E-6A1F43CC58F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8BD7C71-8F1B-400D-96A3-6B553A93EB7F}">
      <dgm:prSet/>
      <dgm:spPr/>
      <dgm:t>
        <a:bodyPr/>
        <a:lstStyle/>
        <a:p>
          <a:r>
            <a:rPr lang="en-IN" dirty="0" smtClean="0"/>
            <a:t>1 Introduction to Classification and its types</a:t>
          </a:r>
        </a:p>
      </dgm:t>
    </dgm:pt>
    <dgm:pt modelId="{BBCFB319-5299-4310-B646-22472DABF40A}" type="parTrans" cxnId="{942D76EB-4E8A-49F9-9193-131FE6139044}">
      <dgm:prSet/>
      <dgm:spPr/>
      <dgm:t>
        <a:bodyPr/>
        <a:lstStyle/>
        <a:p>
          <a:endParaRPr lang="en-US"/>
        </a:p>
      </dgm:t>
    </dgm:pt>
    <dgm:pt modelId="{AF1C4F3A-D240-4EB1-9ECB-2ED225CCC019}" type="sibTrans" cxnId="{942D76EB-4E8A-49F9-9193-131FE6139044}">
      <dgm:prSet/>
      <dgm:spPr/>
      <dgm:t>
        <a:bodyPr/>
        <a:lstStyle/>
        <a:p>
          <a:endParaRPr lang="en-US"/>
        </a:p>
      </dgm:t>
    </dgm:pt>
    <dgm:pt modelId="{311F9A05-A7F4-4328-B319-DBCDF0DF0E82}">
      <dgm:prSet/>
      <dgm:spPr/>
      <dgm:t>
        <a:bodyPr/>
        <a:lstStyle/>
        <a:p>
          <a:r>
            <a:rPr lang="en-IN" dirty="0" smtClean="0"/>
            <a:t>2 Activity-1 (</a:t>
          </a:r>
          <a:r>
            <a:rPr lang="en-US" dirty="0" smtClean="0"/>
            <a:t>Think –Pair -Share</a:t>
          </a:r>
          <a:r>
            <a:rPr lang="en-IN" dirty="0" smtClean="0"/>
            <a:t>)</a:t>
          </a:r>
        </a:p>
      </dgm:t>
    </dgm:pt>
    <dgm:pt modelId="{23B85C74-2F21-4685-BD89-BB563657B099}" type="parTrans" cxnId="{6DCFA649-9D6E-469B-AACA-1BA847263E9A}">
      <dgm:prSet/>
      <dgm:spPr/>
      <dgm:t>
        <a:bodyPr/>
        <a:lstStyle/>
        <a:p>
          <a:endParaRPr lang="en-US"/>
        </a:p>
      </dgm:t>
    </dgm:pt>
    <dgm:pt modelId="{91F4A534-BBDE-4EB5-BAE5-EACEB7D0B868}" type="sibTrans" cxnId="{6DCFA649-9D6E-469B-AACA-1BA847263E9A}">
      <dgm:prSet/>
      <dgm:spPr/>
      <dgm:t>
        <a:bodyPr/>
        <a:lstStyle/>
        <a:p>
          <a:endParaRPr lang="en-US"/>
        </a:p>
      </dgm:t>
    </dgm:pt>
    <dgm:pt modelId="{81CB55E0-0FB6-485C-B15D-9BD278F78C6F}">
      <dgm:prSet/>
      <dgm:spPr/>
      <dgm:t>
        <a:bodyPr/>
        <a:lstStyle/>
        <a:p>
          <a:r>
            <a:rPr lang="en-IN" dirty="0" smtClean="0"/>
            <a:t>3 Training/Test Split</a:t>
          </a:r>
        </a:p>
      </dgm:t>
    </dgm:pt>
    <dgm:pt modelId="{81E23C2F-5B75-4C87-B80F-F92D751EF2D3}" type="parTrans" cxnId="{B28E7539-702F-4403-B38C-CCE2EC9E181E}">
      <dgm:prSet/>
      <dgm:spPr/>
      <dgm:t>
        <a:bodyPr/>
        <a:lstStyle/>
        <a:p>
          <a:endParaRPr lang="en-US"/>
        </a:p>
      </dgm:t>
    </dgm:pt>
    <dgm:pt modelId="{CA453529-0F48-4EF3-8F16-E732FB1811C3}" type="sibTrans" cxnId="{B28E7539-702F-4403-B38C-CCE2EC9E181E}">
      <dgm:prSet/>
      <dgm:spPr/>
      <dgm:t>
        <a:bodyPr/>
        <a:lstStyle/>
        <a:p>
          <a:endParaRPr lang="en-US"/>
        </a:p>
      </dgm:t>
    </dgm:pt>
    <dgm:pt modelId="{51474CA9-1ADD-4331-9534-6780C3A18768}">
      <dgm:prSet/>
      <dgm:spPr/>
      <dgm:t>
        <a:bodyPr/>
        <a:lstStyle/>
        <a:p>
          <a:r>
            <a:rPr lang="en-IN" dirty="0" smtClean="0"/>
            <a:t>4 Activity-2 (Quiz on Wooflash)</a:t>
          </a:r>
          <a:endParaRPr lang="en-US" dirty="0"/>
        </a:p>
      </dgm:t>
    </dgm:pt>
    <dgm:pt modelId="{BD15203B-A2C4-421B-84CE-AC22CC6E237F}" type="parTrans" cxnId="{C10A2E97-40D9-4123-9647-358E1A64D6C9}">
      <dgm:prSet/>
      <dgm:spPr/>
      <dgm:t>
        <a:bodyPr/>
        <a:lstStyle/>
        <a:p>
          <a:endParaRPr lang="en-US"/>
        </a:p>
      </dgm:t>
    </dgm:pt>
    <dgm:pt modelId="{5FA359DE-6932-424A-BDE2-579D3E29B33A}" type="sibTrans" cxnId="{C10A2E97-40D9-4123-9647-358E1A64D6C9}">
      <dgm:prSet/>
      <dgm:spPr/>
      <dgm:t>
        <a:bodyPr/>
        <a:lstStyle/>
        <a:p>
          <a:endParaRPr lang="en-US"/>
        </a:p>
      </dgm:t>
    </dgm:pt>
    <dgm:pt modelId="{BA2E5375-FD77-47B4-A888-7387932E6D62}">
      <dgm:prSet/>
      <dgm:spPr/>
      <dgm:t>
        <a:bodyPr/>
        <a:lstStyle/>
        <a:p>
          <a:r>
            <a:rPr lang="en-IN" dirty="0" smtClean="0"/>
            <a:t>5 Review and Reflections</a:t>
          </a:r>
        </a:p>
      </dgm:t>
    </dgm:pt>
    <dgm:pt modelId="{9F77997F-5AC0-4D93-89AC-B37B7BDB43EF}" type="parTrans" cxnId="{285F19B7-0DE6-4516-940F-56080AC841F9}">
      <dgm:prSet/>
      <dgm:spPr/>
      <dgm:t>
        <a:bodyPr/>
        <a:lstStyle/>
        <a:p>
          <a:endParaRPr lang="en-US"/>
        </a:p>
      </dgm:t>
    </dgm:pt>
    <dgm:pt modelId="{60B3BF56-C21F-456B-A5AC-F5C3D1CA9305}" type="sibTrans" cxnId="{285F19B7-0DE6-4516-940F-56080AC841F9}">
      <dgm:prSet/>
      <dgm:spPr/>
      <dgm:t>
        <a:bodyPr/>
        <a:lstStyle/>
        <a:p>
          <a:endParaRPr lang="en-US"/>
        </a:p>
      </dgm:t>
    </dgm:pt>
    <dgm:pt modelId="{573103A9-89AC-4873-8CB5-0F4B7370B2E1}" type="pres">
      <dgm:prSet presAssocID="{B64DB52A-CA4F-4852-B41E-6A1F43CC58F9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IN"/>
        </a:p>
      </dgm:t>
    </dgm:pt>
    <dgm:pt modelId="{6FF76B5C-2320-4CB5-9844-D984662B1716}" type="pres">
      <dgm:prSet presAssocID="{C8BD7C71-8F1B-400D-96A3-6B553A93EB7F}" presName="thickLine" presStyleLbl="alignNode1" presStyleIdx="0" presStyleCnt="5"/>
      <dgm:spPr/>
    </dgm:pt>
    <dgm:pt modelId="{41C87863-73DE-4F9B-A76B-880D805954CA}" type="pres">
      <dgm:prSet presAssocID="{C8BD7C71-8F1B-400D-96A3-6B553A93EB7F}" presName="horz1" presStyleCnt="0"/>
      <dgm:spPr/>
    </dgm:pt>
    <dgm:pt modelId="{CBF4003A-096B-4C8D-8E4F-9D9EAB681D72}" type="pres">
      <dgm:prSet presAssocID="{C8BD7C71-8F1B-400D-96A3-6B553A93EB7F}" presName="tx1" presStyleLbl="revTx" presStyleIdx="0" presStyleCnt="5"/>
      <dgm:spPr/>
      <dgm:t>
        <a:bodyPr/>
        <a:lstStyle/>
        <a:p>
          <a:endParaRPr lang="en-IN"/>
        </a:p>
      </dgm:t>
    </dgm:pt>
    <dgm:pt modelId="{608B7948-37DA-4DDD-A56D-16AA8CC3AD50}" type="pres">
      <dgm:prSet presAssocID="{C8BD7C71-8F1B-400D-96A3-6B553A93EB7F}" presName="vert1" presStyleCnt="0"/>
      <dgm:spPr/>
    </dgm:pt>
    <dgm:pt modelId="{F83A5B86-9D43-4C81-A6D4-87875817B689}" type="pres">
      <dgm:prSet presAssocID="{311F9A05-A7F4-4328-B319-DBCDF0DF0E82}" presName="thickLine" presStyleLbl="alignNode1" presStyleIdx="1" presStyleCnt="5"/>
      <dgm:spPr/>
    </dgm:pt>
    <dgm:pt modelId="{3BC975C1-0C99-4F97-8C52-C1CFA0BAF551}" type="pres">
      <dgm:prSet presAssocID="{311F9A05-A7F4-4328-B319-DBCDF0DF0E82}" presName="horz1" presStyleCnt="0"/>
      <dgm:spPr/>
    </dgm:pt>
    <dgm:pt modelId="{7BF0A7F7-0F37-4B11-9AED-B46FE7E128D8}" type="pres">
      <dgm:prSet presAssocID="{311F9A05-A7F4-4328-B319-DBCDF0DF0E82}" presName="tx1" presStyleLbl="revTx" presStyleIdx="1" presStyleCnt="5"/>
      <dgm:spPr/>
      <dgm:t>
        <a:bodyPr/>
        <a:lstStyle/>
        <a:p>
          <a:endParaRPr lang="en-IN"/>
        </a:p>
      </dgm:t>
    </dgm:pt>
    <dgm:pt modelId="{AA11931C-C560-424D-BE37-4872DC1B2048}" type="pres">
      <dgm:prSet presAssocID="{311F9A05-A7F4-4328-B319-DBCDF0DF0E82}" presName="vert1" presStyleCnt="0"/>
      <dgm:spPr/>
    </dgm:pt>
    <dgm:pt modelId="{7EE56E18-6978-43E9-9D4D-E31AA5BEE441}" type="pres">
      <dgm:prSet presAssocID="{81CB55E0-0FB6-485C-B15D-9BD278F78C6F}" presName="thickLine" presStyleLbl="alignNode1" presStyleIdx="2" presStyleCnt="5"/>
      <dgm:spPr/>
    </dgm:pt>
    <dgm:pt modelId="{447FCB44-517C-43F4-BE59-391C36D21C9C}" type="pres">
      <dgm:prSet presAssocID="{81CB55E0-0FB6-485C-B15D-9BD278F78C6F}" presName="horz1" presStyleCnt="0"/>
      <dgm:spPr/>
    </dgm:pt>
    <dgm:pt modelId="{89436931-860B-40AD-8DCE-CEE0F56E60ED}" type="pres">
      <dgm:prSet presAssocID="{81CB55E0-0FB6-485C-B15D-9BD278F78C6F}" presName="tx1" presStyleLbl="revTx" presStyleIdx="2" presStyleCnt="5"/>
      <dgm:spPr/>
      <dgm:t>
        <a:bodyPr/>
        <a:lstStyle/>
        <a:p>
          <a:endParaRPr lang="en-IN"/>
        </a:p>
      </dgm:t>
    </dgm:pt>
    <dgm:pt modelId="{0E51C315-1B46-45D6-B4D4-E44AF2F7FE47}" type="pres">
      <dgm:prSet presAssocID="{81CB55E0-0FB6-485C-B15D-9BD278F78C6F}" presName="vert1" presStyleCnt="0"/>
      <dgm:spPr/>
    </dgm:pt>
    <dgm:pt modelId="{B514687E-679F-4404-A929-C733AA004539}" type="pres">
      <dgm:prSet presAssocID="{51474CA9-1ADD-4331-9534-6780C3A18768}" presName="thickLine" presStyleLbl="alignNode1" presStyleIdx="3" presStyleCnt="5"/>
      <dgm:spPr/>
    </dgm:pt>
    <dgm:pt modelId="{80414A13-977F-40A0-BF88-8AEFF7DE361E}" type="pres">
      <dgm:prSet presAssocID="{51474CA9-1ADD-4331-9534-6780C3A18768}" presName="horz1" presStyleCnt="0"/>
      <dgm:spPr/>
    </dgm:pt>
    <dgm:pt modelId="{3E95DC57-D848-494F-A343-6CBABA986252}" type="pres">
      <dgm:prSet presAssocID="{51474CA9-1ADD-4331-9534-6780C3A18768}" presName="tx1" presStyleLbl="revTx" presStyleIdx="3" presStyleCnt="5"/>
      <dgm:spPr/>
      <dgm:t>
        <a:bodyPr/>
        <a:lstStyle/>
        <a:p>
          <a:endParaRPr lang="en-IN"/>
        </a:p>
      </dgm:t>
    </dgm:pt>
    <dgm:pt modelId="{42E34139-9E2B-4ED7-9D4C-0E180FD5C739}" type="pres">
      <dgm:prSet presAssocID="{51474CA9-1ADD-4331-9534-6780C3A18768}" presName="vert1" presStyleCnt="0"/>
      <dgm:spPr/>
    </dgm:pt>
    <dgm:pt modelId="{0B062B2C-FD23-461E-89A1-3ECDF7A567C2}" type="pres">
      <dgm:prSet presAssocID="{BA2E5375-FD77-47B4-A888-7387932E6D62}" presName="thickLine" presStyleLbl="alignNode1" presStyleIdx="4" presStyleCnt="5"/>
      <dgm:spPr/>
    </dgm:pt>
    <dgm:pt modelId="{1BF4D050-06E8-4B19-AEB8-E6957BD50750}" type="pres">
      <dgm:prSet presAssocID="{BA2E5375-FD77-47B4-A888-7387932E6D62}" presName="horz1" presStyleCnt="0"/>
      <dgm:spPr/>
    </dgm:pt>
    <dgm:pt modelId="{D26876CA-709E-4928-AAF2-4734D1DACD6D}" type="pres">
      <dgm:prSet presAssocID="{BA2E5375-FD77-47B4-A888-7387932E6D62}" presName="tx1" presStyleLbl="revTx" presStyleIdx="4" presStyleCnt="5"/>
      <dgm:spPr/>
      <dgm:t>
        <a:bodyPr/>
        <a:lstStyle/>
        <a:p>
          <a:endParaRPr lang="en-IN"/>
        </a:p>
      </dgm:t>
    </dgm:pt>
    <dgm:pt modelId="{88DBC881-0983-4C91-8705-CB8A16D50941}" type="pres">
      <dgm:prSet presAssocID="{BA2E5375-FD77-47B4-A888-7387932E6D62}" presName="vert1" presStyleCnt="0"/>
      <dgm:spPr/>
    </dgm:pt>
  </dgm:ptLst>
  <dgm:cxnLst>
    <dgm:cxn modelId="{791F67ED-636D-40F8-93C7-87F14CF35636}" type="presOf" srcId="{51474CA9-1ADD-4331-9534-6780C3A18768}" destId="{3E95DC57-D848-494F-A343-6CBABA986252}" srcOrd="0" destOrd="0" presId="urn:microsoft.com/office/officeart/2008/layout/LinedList"/>
    <dgm:cxn modelId="{C10A2E97-40D9-4123-9647-358E1A64D6C9}" srcId="{B64DB52A-CA4F-4852-B41E-6A1F43CC58F9}" destId="{51474CA9-1ADD-4331-9534-6780C3A18768}" srcOrd="3" destOrd="0" parTransId="{BD15203B-A2C4-421B-84CE-AC22CC6E237F}" sibTransId="{5FA359DE-6932-424A-BDE2-579D3E29B33A}"/>
    <dgm:cxn modelId="{CAEFD1C0-21C6-4BEE-BBD0-3E2B7599C8A0}" type="presOf" srcId="{C8BD7C71-8F1B-400D-96A3-6B553A93EB7F}" destId="{CBF4003A-096B-4C8D-8E4F-9D9EAB681D72}" srcOrd="0" destOrd="0" presId="urn:microsoft.com/office/officeart/2008/layout/LinedList"/>
    <dgm:cxn modelId="{CB477A60-62F0-49EB-B58D-60D1B6535D8A}" type="presOf" srcId="{BA2E5375-FD77-47B4-A888-7387932E6D62}" destId="{D26876CA-709E-4928-AAF2-4734D1DACD6D}" srcOrd="0" destOrd="0" presId="urn:microsoft.com/office/officeart/2008/layout/LinedList"/>
    <dgm:cxn modelId="{DC4EA019-245A-44D8-9BF0-3AD33B0D2A8D}" type="presOf" srcId="{311F9A05-A7F4-4328-B319-DBCDF0DF0E82}" destId="{7BF0A7F7-0F37-4B11-9AED-B46FE7E128D8}" srcOrd="0" destOrd="0" presId="urn:microsoft.com/office/officeart/2008/layout/LinedList"/>
    <dgm:cxn modelId="{285F19B7-0DE6-4516-940F-56080AC841F9}" srcId="{B64DB52A-CA4F-4852-B41E-6A1F43CC58F9}" destId="{BA2E5375-FD77-47B4-A888-7387932E6D62}" srcOrd="4" destOrd="0" parTransId="{9F77997F-5AC0-4D93-89AC-B37B7BDB43EF}" sibTransId="{60B3BF56-C21F-456B-A5AC-F5C3D1CA9305}"/>
    <dgm:cxn modelId="{A8279F42-205C-42CA-8385-164FB091EC3D}" type="presOf" srcId="{B64DB52A-CA4F-4852-B41E-6A1F43CC58F9}" destId="{573103A9-89AC-4873-8CB5-0F4B7370B2E1}" srcOrd="0" destOrd="0" presId="urn:microsoft.com/office/officeart/2008/layout/LinedList"/>
    <dgm:cxn modelId="{942D76EB-4E8A-49F9-9193-131FE6139044}" srcId="{B64DB52A-CA4F-4852-B41E-6A1F43CC58F9}" destId="{C8BD7C71-8F1B-400D-96A3-6B553A93EB7F}" srcOrd="0" destOrd="0" parTransId="{BBCFB319-5299-4310-B646-22472DABF40A}" sibTransId="{AF1C4F3A-D240-4EB1-9ECB-2ED225CCC019}"/>
    <dgm:cxn modelId="{36D8DFD7-E3DD-4A01-AC6D-A44FD86D70FA}" type="presOf" srcId="{81CB55E0-0FB6-485C-B15D-9BD278F78C6F}" destId="{89436931-860B-40AD-8DCE-CEE0F56E60ED}" srcOrd="0" destOrd="0" presId="urn:microsoft.com/office/officeart/2008/layout/LinedList"/>
    <dgm:cxn modelId="{6DCFA649-9D6E-469B-AACA-1BA847263E9A}" srcId="{B64DB52A-CA4F-4852-B41E-6A1F43CC58F9}" destId="{311F9A05-A7F4-4328-B319-DBCDF0DF0E82}" srcOrd="1" destOrd="0" parTransId="{23B85C74-2F21-4685-BD89-BB563657B099}" sibTransId="{91F4A534-BBDE-4EB5-BAE5-EACEB7D0B868}"/>
    <dgm:cxn modelId="{B28E7539-702F-4403-B38C-CCE2EC9E181E}" srcId="{B64DB52A-CA4F-4852-B41E-6A1F43CC58F9}" destId="{81CB55E0-0FB6-485C-B15D-9BD278F78C6F}" srcOrd="2" destOrd="0" parTransId="{81E23C2F-5B75-4C87-B80F-F92D751EF2D3}" sibTransId="{CA453529-0F48-4EF3-8F16-E732FB1811C3}"/>
    <dgm:cxn modelId="{A8499597-22C4-40AB-8BB7-CEB6565C2724}" type="presParOf" srcId="{573103A9-89AC-4873-8CB5-0F4B7370B2E1}" destId="{6FF76B5C-2320-4CB5-9844-D984662B1716}" srcOrd="0" destOrd="0" presId="urn:microsoft.com/office/officeart/2008/layout/LinedList"/>
    <dgm:cxn modelId="{A93CB1D0-23F3-45EE-9AB1-A15778F91C98}" type="presParOf" srcId="{573103A9-89AC-4873-8CB5-0F4B7370B2E1}" destId="{41C87863-73DE-4F9B-A76B-880D805954CA}" srcOrd="1" destOrd="0" presId="urn:microsoft.com/office/officeart/2008/layout/LinedList"/>
    <dgm:cxn modelId="{F575AF3D-87A6-47A5-83AC-A73999B61EA5}" type="presParOf" srcId="{41C87863-73DE-4F9B-A76B-880D805954CA}" destId="{CBF4003A-096B-4C8D-8E4F-9D9EAB681D72}" srcOrd="0" destOrd="0" presId="urn:microsoft.com/office/officeart/2008/layout/LinedList"/>
    <dgm:cxn modelId="{C4AD05CD-ABA2-45F9-AD70-453A59B257AA}" type="presParOf" srcId="{41C87863-73DE-4F9B-A76B-880D805954CA}" destId="{608B7948-37DA-4DDD-A56D-16AA8CC3AD50}" srcOrd="1" destOrd="0" presId="urn:microsoft.com/office/officeart/2008/layout/LinedList"/>
    <dgm:cxn modelId="{09135F7C-D882-4001-9420-48C6F669E5A1}" type="presParOf" srcId="{573103A9-89AC-4873-8CB5-0F4B7370B2E1}" destId="{F83A5B86-9D43-4C81-A6D4-87875817B689}" srcOrd="2" destOrd="0" presId="urn:microsoft.com/office/officeart/2008/layout/LinedList"/>
    <dgm:cxn modelId="{42A74311-A9B5-4722-908E-E69DF0F7B3F2}" type="presParOf" srcId="{573103A9-89AC-4873-8CB5-0F4B7370B2E1}" destId="{3BC975C1-0C99-4F97-8C52-C1CFA0BAF551}" srcOrd="3" destOrd="0" presId="urn:microsoft.com/office/officeart/2008/layout/LinedList"/>
    <dgm:cxn modelId="{06716FB4-91E0-498C-9B25-67FC8A0410EE}" type="presParOf" srcId="{3BC975C1-0C99-4F97-8C52-C1CFA0BAF551}" destId="{7BF0A7F7-0F37-4B11-9AED-B46FE7E128D8}" srcOrd="0" destOrd="0" presId="urn:microsoft.com/office/officeart/2008/layout/LinedList"/>
    <dgm:cxn modelId="{08808E65-016C-4832-AD3A-0BCD56638EE0}" type="presParOf" srcId="{3BC975C1-0C99-4F97-8C52-C1CFA0BAF551}" destId="{AA11931C-C560-424D-BE37-4872DC1B2048}" srcOrd="1" destOrd="0" presId="urn:microsoft.com/office/officeart/2008/layout/LinedList"/>
    <dgm:cxn modelId="{206F6E77-1951-4EBC-9057-DD630DD20CCA}" type="presParOf" srcId="{573103A9-89AC-4873-8CB5-0F4B7370B2E1}" destId="{7EE56E18-6978-43E9-9D4D-E31AA5BEE441}" srcOrd="4" destOrd="0" presId="urn:microsoft.com/office/officeart/2008/layout/LinedList"/>
    <dgm:cxn modelId="{5A60FA20-ADA2-431F-8796-1BE8C988B2D2}" type="presParOf" srcId="{573103A9-89AC-4873-8CB5-0F4B7370B2E1}" destId="{447FCB44-517C-43F4-BE59-391C36D21C9C}" srcOrd="5" destOrd="0" presId="urn:microsoft.com/office/officeart/2008/layout/LinedList"/>
    <dgm:cxn modelId="{A05C2049-7944-4478-8D68-709AB77FAB96}" type="presParOf" srcId="{447FCB44-517C-43F4-BE59-391C36D21C9C}" destId="{89436931-860B-40AD-8DCE-CEE0F56E60ED}" srcOrd="0" destOrd="0" presId="urn:microsoft.com/office/officeart/2008/layout/LinedList"/>
    <dgm:cxn modelId="{2AEA7D18-2CA4-4040-8CA3-2E8EA6C53110}" type="presParOf" srcId="{447FCB44-517C-43F4-BE59-391C36D21C9C}" destId="{0E51C315-1B46-45D6-B4D4-E44AF2F7FE47}" srcOrd="1" destOrd="0" presId="urn:microsoft.com/office/officeart/2008/layout/LinedList"/>
    <dgm:cxn modelId="{0B8319B9-A001-4929-BF67-CFB04FA16945}" type="presParOf" srcId="{573103A9-89AC-4873-8CB5-0F4B7370B2E1}" destId="{B514687E-679F-4404-A929-C733AA004539}" srcOrd="6" destOrd="0" presId="urn:microsoft.com/office/officeart/2008/layout/LinedList"/>
    <dgm:cxn modelId="{257188D6-0003-435E-A862-DB1729B0A2C3}" type="presParOf" srcId="{573103A9-89AC-4873-8CB5-0F4B7370B2E1}" destId="{80414A13-977F-40A0-BF88-8AEFF7DE361E}" srcOrd="7" destOrd="0" presId="urn:microsoft.com/office/officeart/2008/layout/LinedList"/>
    <dgm:cxn modelId="{0D4D7625-BCDC-4E36-BA9D-FCFD4CC793E3}" type="presParOf" srcId="{80414A13-977F-40A0-BF88-8AEFF7DE361E}" destId="{3E95DC57-D848-494F-A343-6CBABA986252}" srcOrd="0" destOrd="0" presId="urn:microsoft.com/office/officeart/2008/layout/LinedList"/>
    <dgm:cxn modelId="{0E040604-2F36-489D-A967-FB8740498707}" type="presParOf" srcId="{80414A13-977F-40A0-BF88-8AEFF7DE361E}" destId="{42E34139-9E2B-4ED7-9D4C-0E180FD5C739}" srcOrd="1" destOrd="0" presId="urn:microsoft.com/office/officeart/2008/layout/LinedList"/>
    <dgm:cxn modelId="{DEAB5A35-1128-4DEF-AE18-D024423701D7}" type="presParOf" srcId="{573103A9-89AC-4873-8CB5-0F4B7370B2E1}" destId="{0B062B2C-FD23-461E-89A1-3ECDF7A567C2}" srcOrd="8" destOrd="0" presId="urn:microsoft.com/office/officeart/2008/layout/LinedList"/>
    <dgm:cxn modelId="{055AE2A9-59D6-49A8-A0DB-1D091F45E10E}" type="presParOf" srcId="{573103A9-89AC-4873-8CB5-0F4B7370B2E1}" destId="{1BF4D050-06E8-4B19-AEB8-E6957BD50750}" srcOrd="9" destOrd="0" presId="urn:microsoft.com/office/officeart/2008/layout/LinedList"/>
    <dgm:cxn modelId="{BBB3BEA1-FC70-4DE2-9A91-57EB33BF00AD}" type="presParOf" srcId="{1BF4D050-06E8-4B19-AEB8-E6957BD50750}" destId="{D26876CA-709E-4928-AAF2-4734D1DACD6D}" srcOrd="0" destOrd="0" presId="urn:microsoft.com/office/officeart/2008/layout/LinedList"/>
    <dgm:cxn modelId="{D188FA47-5832-42EC-9572-966048E3C4F5}" type="presParOf" srcId="{1BF4D050-06E8-4B19-AEB8-E6957BD50750}" destId="{88DBC881-0983-4C91-8705-CB8A16D5094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76B5C-2320-4CB5-9844-D984662B1716}">
      <dsp:nvSpPr>
        <dsp:cNvPr id="0" name=""/>
        <dsp:cNvSpPr/>
      </dsp:nvSpPr>
      <dsp:spPr>
        <a:xfrm>
          <a:off x="0" y="611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4003A-096B-4C8D-8E4F-9D9EAB681D72}">
      <dsp:nvSpPr>
        <dsp:cNvPr id="0" name=""/>
        <dsp:cNvSpPr/>
      </dsp:nvSpPr>
      <dsp:spPr>
        <a:xfrm>
          <a:off x="0" y="611"/>
          <a:ext cx="6900512" cy="1000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900" kern="1200" dirty="0" smtClean="0"/>
            <a:t>1 Introduction to Classification and its types</a:t>
          </a:r>
        </a:p>
      </dsp:txBody>
      <dsp:txXfrm>
        <a:off x="0" y="611"/>
        <a:ext cx="6900512" cy="1000833"/>
      </dsp:txXfrm>
    </dsp:sp>
    <dsp:sp modelId="{F83A5B86-9D43-4C81-A6D4-87875817B689}">
      <dsp:nvSpPr>
        <dsp:cNvPr id="0" name=""/>
        <dsp:cNvSpPr/>
      </dsp:nvSpPr>
      <dsp:spPr>
        <a:xfrm>
          <a:off x="0" y="1001444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0A7F7-0F37-4B11-9AED-B46FE7E128D8}">
      <dsp:nvSpPr>
        <dsp:cNvPr id="0" name=""/>
        <dsp:cNvSpPr/>
      </dsp:nvSpPr>
      <dsp:spPr>
        <a:xfrm>
          <a:off x="0" y="1001444"/>
          <a:ext cx="6900512" cy="1000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900" kern="1200" dirty="0" smtClean="0"/>
            <a:t>2 Activity-1 (</a:t>
          </a:r>
          <a:r>
            <a:rPr lang="en-US" sz="2900" kern="1200" dirty="0" smtClean="0"/>
            <a:t>Think –Pair -Share</a:t>
          </a:r>
          <a:r>
            <a:rPr lang="en-IN" sz="2900" kern="1200" dirty="0" smtClean="0"/>
            <a:t>)</a:t>
          </a:r>
        </a:p>
      </dsp:txBody>
      <dsp:txXfrm>
        <a:off x="0" y="1001444"/>
        <a:ext cx="6900512" cy="1000833"/>
      </dsp:txXfrm>
    </dsp:sp>
    <dsp:sp modelId="{7EE56E18-6978-43E9-9D4D-E31AA5BEE441}">
      <dsp:nvSpPr>
        <dsp:cNvPr id="0" name=""/>
        <dsp:cNvSpPr/>
      </dsp:nvSpPr>
      <dsp:spPr>
        <a:xfrm>
          <a:off x="0" y="2002277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36931-860B-40AD-8DCE-CEE0F56E60ED}">
      <dsp:nvSpPr>
        <dsp:cNvPr id="0" name=""/>
        <dsp:cNvSpPr/>
      </dsp:nvSpPr>
      <dsp:spPr>
        <a:xfrm>
          <a:off x="0" y="2002277"/>
          <a:ext cx="6900512" cy="1000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900" kern="1200" dirty="0" smtClean="0"/>
            <a:t>3 Training/Test Split</a:t>
          </a:r>
        </a:p>
      </dsp:txBody>
      <dsp:txXfrm>
        <a:off x="0" y="2002277"/>
        <a:ext cx="6900512" cy="1000833"/>
      </dsp:txXfrm>
    </dsp:sp>
    <dsp:sp modelId="{B514687E-679F-4404-A929-C733AA004539}">
      <dsp:nvSpPr>
        <dsp:cNvPr id="0" name=""/>
        <dsp:cNvSpPr/>
      </dsp:nvSpPr>
      <dsp:spPr>
        <a:xfrm>
          <a:off x="0" y="3003110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5DC57-D848-494F-A343-6CBABA986252}">
      <dsp:nvSpPr>
        <dsp:cNvPr id="0" name=""/>
        <dsp:cNvSpPr/>
      </dsp:nvSpPr>
      <dsp:spPr>
        <a:xfrm>
          <a:off x="0" y="3003110"/>
          <a:ext cx="6900512" cy="1000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900" kern="1200" dirty="0" smtClean="0"/>
            <a:t>4 Activity-2 (Quiz on Wooflash)</a:t>
          </a:r>
          <a:endParaRPr lang="en-US" sz="2900" kern="1200" dirty="0"/>
        </a:p>
      </dsp:txBody>
      <dsp:txXfrm>
        <a:off x="0" y="3003110"/>
        <a:ext cx="6900512" cy="1000833"/>
      </dsp:txXfrm>
    </dsp:sp>
    <dsp:sp modelId="{0B062B2C-FD23-461E-89A1-3ECDF7A567C2}">
      <dsp:nvSpPr>
        <dsp:cNvPr id="0" name=""/>
        <dsp:cNvSpPr/>
      </dsp:nvSpPr>
      <dsp:spPr>
        <a:xfrm>
          <a:off x="0" y="4003943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6876CA-709E-4928-AAF2-4734D1DACD6D}">
      <dsp:nvSpPr>
        <dsp:cNvPr id="0" name=""/>
        <dsp:cNvSpPr/>
      </dsp:nvSpPr>
      <dsp:spPr>
        <a:xfrm>
          <a:off x="0" y="4003943"/>
          <a:ext cx="6900512" cy="100083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0490" tIns="110490" rIns="110490" bIns="110490" numCol="1" spcCol="1270" anchor="t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IN" sz="2900" kern="1200" dirty="0" smtClean="0"/>
            <a:t>5 Review and Reflections</a:t>
          </a:r>
        </a:p>
      </dsp:txBody>
      <dsp:txXfrm>
        <a:off x="0" y="4003943"/>
        <a:ext cx="6900512" cy="100083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06-09-2026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5909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02148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735920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23845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232716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63636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52253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342A3-2962-4FC1-882C-B4325EA4BCB4}" type="datetime1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187F5D-5CF9-4AC7-9C7E-171797A0766B}" type="datetime1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377A1C-5E7F-41D5-90FC-A7BB33F02F52}" type="datetime1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77B68F-2B53-494C-86E2-B83E9D2C1FCB}" type="datetime1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FE292-04D1-456E-938E-B850DFCC34A9}" type="datetime1">
              <a:rPr lang="en-IN" smtClean="0"/>
              <a:t>06-09-2026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1062B-DE24-4946-8B4F-3C694223997B}" type="datetime1">
              <a:rPr lang="en-IN" smtClean="0"/>
              <a:t>06-09-2026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9D5153-2CD7-4DA5-8134-A022ACA77D0B}" type="datetime1">
              <a:rPr lang="en-IN" smtClean="0"/>
              <a:t>06-09-2026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2E853-0004-46D3-9F19-61665FD57C59}" type="datetime1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B42881-61A1-4F8B-9911-45905A4A27B8}" type="datetime1">
              <a:rPr lang="en-IN" smtClean="0"/>
              <a:t>06-09-2026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ED517C-15A9-4AD4-BF46-889A08C5A2CE}" type="datetime1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46D77-85F0-4CCE-889F-C4B22FAC8662}" type="datetime1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047CF8-3DC4-427A-8AA5-19F44A4181AC}" type="datetime1">
              <a:rPr lang="en-IN" smtClean="0"/>
              <a:t>06-09-2026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GB" smtClean="0"/>
              <a:t>Galgotias-Student Centered Active Learning Ecosystem &amp; Date 08-09-2026 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g"/><Relationship Id="rId5" Type="http://schemas.openxmlformats.org/officeDocument/2006/relationships/image" Target="../media/image2.jp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jp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2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2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21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2"/>
            <a:ext cx="8366216" cy="4909225"/>
          </a:xfrm>
        </p:spPr>
        <p:txBody>
          <a:bodyPr anchor="b">
            <a:normAutofit/>
          </a:bodyPr>
          <a:lstStyle/>
          <a:p>
            <a:pPr algn="l"/>
            <a:r>
              <a:rPr lang="en-GB" sz="3600" b="1" dirty="0">
                <a:latin typeface="Calibri" panose="020F0502020204030204" pitchFamily="34" charset="0"/>
                <a:cs typeface="Calibri" panose="020F0502020204030204" pitchFamily="34" charset="0"/>
              </a:rPr>
              <a:t>Classification: setup, training/test split, </a:t>
            </a:r>
            <a: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overfitting</a:t>
            </a:r>
            <a:b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GB" sz="3600" b="1" dirty="0" smtClean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Session 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No.: </a:t>
            </a:r>
            <a:r>
              <a:rPr lang="en-IN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07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Course Name: </a:t>
            </a:r>
            <a:r>
              <a:rPr lang="en-IN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Machine Learning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Course Code: </a:t>
            </a:r>
            <a:r>
              <a:rPr lang="en-US" sz="1800" b="1" dirty="0">
                <a:latin typeface="Times New Roman"/>
                <a:ea typeface="Times New Roman"/>
                <a:cs typeface="Times New Roman"/>
                <a:sym typeface="Times New Roman"/>
              </a:rPr>
              <a:t>R1UC525B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Instructor Name: </a:t>
            </a:r>
            <a:r>
              <a:rPr lang="en-IN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Dr. Sivakumar 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Madeshwaran</a:t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  <a:t>Duration: 50 Minutes</a:t>
            </a:r>
            <a:b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  <a:t>Date of Conduction of Class: </a:t>
            </a:r>
            <a:r>
              <a:rPr lang="en-US" sz="1800" b="1" dirty="0" smtClean="0">
                <a:latin typeface="Georgia" panose="02040502050405020303" pitchFamily="18" charset="0"/>
                <a:cs typeface="Arial" panose="020B0604020202020204" pitchFamily="34" charset="0"/>
              </a:rPr>
              <a:t>08-09-2026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/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endParaRPr lang="en-IN" sz="4800" b="1" dirty="0"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5" y="176753"/>
            <a:ext cx="1190469" cy="119046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D622C87D-66F3-E0F4-0306-4C9A87A526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9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BD8CF5A8-ACAD-D135-0544-20163F2C11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84313814-B282-038A-FB91-58D7A240B8C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8ED013E-C79F-88E6-C380-BA222F110F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9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sp>
        <p:nvSpPr>
          <p:cNvPr id="10" name="Google Shape;97;p11"/>
          <p:cNvSpPr txBox="1">
            <a:spLocks/>
          </p:cNvSpPr>
          <p:nvPr/>
        </p:nvSpPr>
        <p:spPr>
          <a:xfrm>
            <a:off x="4262339" y="264619"/>
            <a:ext cx="6167536" cy="69900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SzPts val="3200"/>
            </a:pPr>
            <a:r>
              <a:rPr lang="en-US" sz="2800" b="1" dirty="0" smtClean="0">
                <a:latin typeface="Arial"/>
                <a:ea typeface="Arial"/>
                <a:cs typeface="Arial"/>
                <a:sym typeface="Arial"/>
              </a:rPr>
              <a:t>Recap of Previous Lecture</a:t>
            </a:r>
            <a:endParaRPr lang="en-US" sz="2800" b="1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2;p11"/>
          <p:cNvSpPr txBox="1">
            <a:spLocks/>
          </p:cNvSpPr>
          <p:nvPr/>
        </p:nvSpPr>
        <p:spPr>
          <a:xfrm>
            <a:off x="326782" y="846511"/>
            <a:ext cx="5102469" cy="143949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Clr>
                <a:schemeClr val="dk1"/>
              </a:buClr>
              <a:buSzPts val="1800"/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→ Labelled data </a:t>
            </a:r>
          </a:p>
          <a:p>
            <a:pPr marL="114300" indent="0">
              <a:buClr>
                <a:schemeClr val="dk1"/>
              </a:buClr>
              <a:buSzPts val="1800"/>
              <a:buNone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Prediction: Regression / Classification)</a:t>
            </a:r>
          </a:p>
          <a:p>
            <a:pPr marL="114300" indent="0">
              <a:buClr>
                <a:schemeClr val="dk1"/>
              </a:buClr>
              <a:buSzPts val="1800"/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Unsupervised → Unlabelled data </a:t>
            </a:r>
          </a:p>
          <a:p>
            <a:pPr marL="114300" indent="0">
              <a:buClr>
                <a:schemeClr val="dk1"/>
              </a:buClr>
              <a:buSzPts val="1800"/>
              <a:buNone/>
            </a:pP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Clustering, Dimensionality reduction)</a:t>
            </a:r>
          </a:p>
          <a:p>
            <a:pPr marL="114300" indent="0">
              <a:buClr>
                <a:schemeClr val="dk1"/>
              </a:buClr>
              <a:buSzPts val="1800"/>
              <a:buNone/>
            </a:pPr>
            <a:r>
              <a:rPr lang="en-GB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Reinforcement → Agent + Environment + </a:t>
            </a:r>
            <a:r>
              <a:rPr lang="en-GB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Rewards</a:t>
            </a:r>
            <a:endParaRPr lang="en-GB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Google Shape;113;p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8930" y="2286001"/>
            <a:ext cx="10704870" cy="407034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672147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FC14F6-7B57-DCCF-E6C1-F00D5A0C0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Reflect on the responses of post session activity</a:t>
            </a:r>
            <a:b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/>
            </a:r>
            <a:br>
              <a:rPr lang="en-US" sz="2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endParaRPr lang="en-US" sz="28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xmlns="" id="{B5812380-04B5-06B6-8506-DF79A9EFA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698757"/>
            <a:ext cx="6780700" cy="3458156"/>
          </a:xfrm>
          <a:prstGeom prst="rect">
            <a:avLst/>
          </a:prstGeom>
        </p:spPr>
      </p:pic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9CE23A4A-5CE7-2BA1-E1C7-649A5669BF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925355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2" descr="Magnifying glass on clear background"/>
          <p:cNvPicPr preferRelativeResize="0"/>
          <p:nvPr/>
        </p:nvPicPr>
        <p:blipFill rotWithShape="1">
          <a:blip r:embed="rId3">
            <a:alphaModFix/>
          </a:blip>
          <a:srcRect l="8345" r="7282" b="-1"/>
          <a:stretch/>
        </p:blipFill>
        <p:spPr>
          <a:xfrm>
            <a:off x="3931920" y="10"/>
            <a:ext cx="82600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2"/>
          <p:cNvSpPr txBox="1">
            <a:spLocks noGrp="1"/>
          </p:cNvSpPr>
          <p:nvPr>
            <p:ph type="title"/>
          </p:nvPr>
        </p:nvSpPr>
        <p:spPr>
          <a:xfrm>
            <a:off x="481028" y="1101601"/>
            <a:ext cx="10872771" cy="1152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lvl="0">
              <a:buClr>
                <a:schemeClr val="lt1"/>
              </a:buClr>
              <a:buSzPts val="4000"/>
            </a:pPr>
            <a:r>
              <a:rPr lang="en-GB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“Why do we divide a dataset into training and testing data when building a classification </a:t>
            </a:r>
            <a:r>
              <a:rPr lang="en-GB" sz="40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model?”</a:t>
            </a:r>
            <a:endParaRPr sz="4000" dirty="0">
              <a:solidFill>
                <a:schemeClr val="bg1"/>
              </a:solidFill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</p:txBody>
      </p:sp>
      <p:sp>
        <p:nvSpPr>
          <p:cNvPr id="106" name="Google Shape;106;p2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4</a:t>
            </a:fld>
            <a:endParaRPr/>
          </a:p>
        </p:txBody>
      </p:sp>
      <p:pic>
        <p:nvPicPr>
          <p:cNvPr id="109" name="Google Shape;109;p2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A49C41D1-93F9-4F00-A7D0-D86EB0FE0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528888" y="6356350"/>
            <a:ext cx="7300912" cy="365125"/>
          </a:xfrm>
        </p:spPr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5D34F9C-1388-82D8-8D48-0BF8C51BEFDE}"/>
              </a:ext>
            </a:extLst>
          </p:cNvPr>
          <p:cNvSpPr txBox="1"/>
          <p:nvPr/>
        </p:nvSpPr>
        <p:spPr>
          <a:xfrm>
            <a:off x="4519397" y="405155"/>
            <a:ext cx="51959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Opening Question</a:t>
            </a:r>
            <a:endParaRPr lang="en-IN" sz="3600" dirty="0">
              <a:solidFill>
                <a:schemeClr val="bg1"/>
              </a:solidFill>
            </a:endParaRPr>
          </a:p>
        </p:txBody>
      </p:sp>
      <p:pic>
        <p:nvPicPr>
          <p:cNvPr id="15" name="Google Shape;162;p4" descr="What is an Emoji? - Answered - Twinkl ..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55591" y="2728662"/>
            <a:ext cx="2023877" cy="202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72025" y="2909094"/>
            <a:ext cx="264795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7873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3" name="Google Shape;103;p2" descr="Magnifying glass on clear background"/>
          <p:cNvPicPr preferRelativeResize="0"/>
          <p:nvPr/>
        </p:nvPicPr>
        <p:blipFill rotWithShape="1">
          <a:blip r:embed="rId3">
            <a:alphaModFix/>
          </a:blip>
          <a:srcRect l="8345" r="7282" b="-1"/>
          <a:stretch/>
        </p:blipFill>
        <p:spPr>
          <a:xfrm>
            <a:off x="3931920" y="10"/>
            <a:ext cx="82600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33000">
                <a:srgbClr val="000000">
                  <a:alpha val="63921"/>
                </a:srgbClr>
              </a:gs>
              <a:gs pos="58000">
                <a:schemeClr val="dk1"/>
              </a:gs>
              <a:gs pos="100000">
                <a:schemeClr val="dk1"/>
              </a:gs>
            </a:gsLst>
            <a:lin ang="1080000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GB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Answer: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 use the </a:t>
            </a:r>
            <a:r>
              <a:rPr lang="en-GB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data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teach the classification model and the </a:t>
            </a:r>
            <a:r>
              <a:rPr lang="en-GB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data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 evaluate how well it predicts unseen data. This helps identify </a:t>
            </a:r>
            <a:r>
              <a:rPr lang="en-GB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GB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where a model performs well on training data but poorly on new data.</a:t>
            </a:r>
            <a:endParaRPr sz="2800" b="0" i="0" u="none" strike="noStrike" cap="none" dirty="0">
              <a:solidFill>
                <a:schemeClr val="bg1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06" name="Google Shape;106;p2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2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/>
          </a:p>
        </p:txBody>
      </p:sp>
      <p:pic>
        <p:nvPicPr>
          <p:cNvPr id="109" name="Google Shape;109;p2" descr="A blue circle with text and words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Picture 12">
            <a:extLst>
              <a:ext uri="{FF2B5EF4-FFF2-40B4-BE49-F238E27FC236}">
                <a16:creationId xmlns="" xmlns:a16="http://schemas.microsoft.com/office/drawing/2014/main" id="{A49C41D1-93F9-4F00-A7D0-D86EB0FE08A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2528888" y="6356350"/>
            <a:ext cx="7300912" cy="365125"/>
          </a:xfrm>
        </p:spPr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B5D34F9C-1388-82D8-8D48-0BF8C51BEFDE}"/>
              </a:ext>
            </a:extLst>
          </p:cNvPr>
          <p:cNvSpPr txBox="1"/>
          <p:nvPr/>
        </p:nvSpPr>
        <p:spPr>
          <a:xfrm>
            <a:off x="4005498" y="208109"/>
            <a:ext cx="67952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Opening Question -Reflections</a:t>
            </a:r>
            <a:endParaRPr lang="en-IN" sz="3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02279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7" name="Google Shape;127;p4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0F4861"/>
              </a:gs>
            </a:gsLst>
            <a:lin ang="197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8" name="Google Shape;128;p4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0A3041">
                  <a:alpha val="67843"/>
                </a:srgbClr>
              </a:gs>
              <a:gs pos="19000">
                <a:srgbClr val="0A3041">
                  <a:alpha val="67843"/>
                </a:srgbClr>
              </a:gs>
              <a:gs pos="100000">
                <a:srgbClr val="156082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29" name="Google Shape;129;p4"/>
          <p:cNvSpPr/>
          <p:nvPr/>
        </p:nvSpPr>
        <p:spPr>
          <a:xfrm rot="-54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0F4861">
                  <a:alpha val="15686"/>
                </a:srgbClr>
              </a:gs>
              <a:gs pos="23000">
                <a:srgbClr val="0F4861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lt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130" name="Google Shape;130;p4"/>
          <p:cNvSpPr txBox="1">
            <a:spLocks noGrp="1"/>
          </p:cNvSpPr>
          <p:nvPr>
            <p:ph type="title"/>
          </p:nvPr>
        </p:nvSpPr>
        <p:spPr>
          <a:xfrm>
            <a:off x="558702" y="1102452"/>
            <a:ext cx="10542973" cy="8228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00000"/>
              <a:buFont typeface="Arial"/>
              <a:buNone/>
            </a:pPr>
            <a:r>
              <a:rPr lang="en-IN" sz="4000" b="1" dirty="0">
                <a:solidFill>
                  <a:srgbClr val="FFFFFF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At the end of this session students will be able to </a:t>
            </a:r>
            <a:endParaRPr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1" name="Google Shape;131;p4"/>
          <p:cNvGrpSpPr/>
          <p:nvPr/>
        </p:nvGrpSpPr>
        <p:grpSpPr>
          <a:xfrm>
            <a:off x="336080" y="2417848"/>
            <a:ext cx="11519840" cy="3689404"/>
            <a:chOff x="-296006" y="0"/>
            <a:chExt cx="11519840" cy="3689404"/>
          </a:xfrm>
        </p:grpSpPr>
        <p:sp>
          <p:nvSpPr>
            <p:cNvPr id="132" name="Google Shape;132;p4"/>
            <p:cNvSpPr/>
            <p:nvPr/>
          </p:nvSpPr>
          <p:spPr>
            <a:xfrm>
              <a:off x="-296006" y="0"/>
              <a:ext cx="10472679" cy="1660232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3" name="Google Shape;133;p4"/>
            <p:cNvSpPr txBox="1"/>
            <p:nvPr/>
          </p:nvSpPr>
          <p:spPr>
            <a:xfrm>
              <a:off x="-247379" y="48627"/>
              <a:ext cx="9204523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800"/>
              </a:pPr>
              <a:r>
                <a:rPr lang="en-IN" sz="3200" b="0" i="0" u="none" strike="noStrike" cap="none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LO1: </a:t>
              </a:r>
              <a:r>
                <a:rPr lang="en-GB" sz="2600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Explain the basic setup of a classification problem and differentiate between training and testing </a:t>
              </a:r>
              <a:r>
                <a:rPr lang="en-GB" sz="2600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datasets.</a:t>
              </a:r>
              <a:endParaRPr lang="en-GB" sz="26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>
              <a:off x="1935180" y="2029172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5" name="Google Shape;135;p4"/>
            <p:cNvSpPr txBox="1"/>
            <p:nvPr/>
          </p:nvSpPr>
          <p:spPr>
            <a:xfrm>
              <a:off x="1983806" y="2077799"/>
              <a:ext cx="9240027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800"/>
              </a:pPr>
              <a:r>
                <a:rPr lang="en-IN" sz="2800" b="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LO2</a:t>
              </a:r>
              <a:r>
                <a:rPr lang="en-IN" sz="2800" b="0" i="0" u="none" strike="noStrike" cap="none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: </a:t>
              </a:r>
              <a:r>
                <a:rPr lang="en-GB" sz="25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Identify and explain overfitting in classification models and apply appropriate techniques to improve model generalization.</a:t>
              </a:r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8466195" y="1025289"/>
              <a:ext cx="1079150" cy="1079150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7" name="Google Shape;137;p4"/>
            <p:cNvSpPr txBox="1"/>
            <p:nvPr/>
          </p:nvSpPr>
          <p:spPr>
            <a:xfrm>
              <a:off x="8748318" y="1311292"/>
              <a:ext cx="593532" cy="81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  <p:sp>
        <p:nvSpPr>
          <p:cNvPr id="139" name="Google Shape;139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240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0" name="Google Shape;140;p4" descr="A blue circle with text and words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58566" y="176754"/>
            <a:ext cx="874732" cy="8747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92F137E6-A257-43E9-85A6-31EF956DF22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2567265" y="6356350"/>
            <a:ext cx="7133947" cy="365125"/>
          </a:xfrm>
        </p:spPr>
        <p:txBody>
          <a:bodyPr/>
          <a:lstStyle/>
          <a:p>
            <a:r>
              <a:rPr lang="en-GB" smtClean="0"/>
              <a:t>Galgotias-Student Centered Active Learning Ecosystem &amp; Date 08-09-2026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1998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7A1553B-A216-73BB-FAAB-1FF7D4C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 dirty="0"/>
              <a:t>Session Outline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xmlns="" id="{41A9FE4B-6F20-1C22-6353-F1166E69B9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6409469"/>
              </p:ext>
            </p:extLst>
          </p:nvPr>
        </p:nvGraphicFramePr>
        <p:xfrm>
          <a:off x="4305118" y="1218583"/>
          <a:ext cx="6900512" cy="50053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9924FF57-302B-97C8-BD3F-550746DA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7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A4DDE187-E81D-B835-E4CD-A2B8788BFA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953114F5-F06B-4D82-5258-AB40ED145D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25593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82815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Introduction to Classification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8</a:t>
            </a:fld>
            <a:endParaRPr lang="en-IN"/>
          </a:p>
        </p:txBody>
      </p:sp>
      <p:sp>
        <p:nvSpPr>
          <p:cNvPr id="12" name="Google Shape;243;p12"/>
          <p:cNvSpPr txBox="1">
            <a:spLocks/>
          </p:cNvSpPr>
          <p:nvPr/>
        </p:nvSpPr>
        <p:spPr>
          <a:xfrm>
            <a:off x="838200" y="1051486"/>
            <a:ext cx="10515600" cy="49182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sz="2500" b="1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Definition : </a:t>
            </a:r>
            <a:endParaRPr lang="en-GB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GB" sz="2500" b="1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Classification</a:t>
            </a:r>
            <a:r>
              <a:rPr lang="en-GB" sz="25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is a supervised learning task in machine learning where the goal is to predict the categorical class labels of new instances based on past observations.</a:t>
            </a:r>
            <a:endParaRPr lang="en-GB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</a:pPr>
            <a:r>
              <a:rPr lang="en-GB" sz="25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					</a:t>
            </a:r>
            <a:r>
              <a:rPr lang="en-GB" sz="2500" b="1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OR</a:t>
            </a:r>
            <a:endParaRPr lang="en-GB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GB" sz="2500" b="1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Classification</a:t>
            </a:r>
            <a:r>
              <a:rPr lang="en-GB" sz="25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is a supervised learning task in machine learning where the model learns from </a:t>
            </a:r>
            <a:r>
              <a:rPr lang="en-GB" sz="2500" b="1" dirty="0" err="1" smtClean="0">
                <a:highlight>
                  <a:srgbClr val="FFFF00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labeled</a:t>
            </a:r>
            <a:r>
              <a:rPr lang="en-GB" sz="2500" b="1" dirty="0" smtClean="0">
                <a:highlight>
                  <a:srgbClr val="FFFF00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training data </a:t>
            </a:r>
            <a:r>
              <a:rPr lang="en-GB" sz="25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to categorize new, unseen data into predefined classes (categories).</a:t>
            </a:r>
            <a:endParaRPr lang="en-GB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101600"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000"/>
            </a:pPr>
            <a:endParaRPr lang="en-GB" sz="2500" dirty="0" smtClean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just">
              <a:lnSpc>
                <a:spcPct val="100000"/>
              </a:lnSpc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sz="2500" b="1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Goal</a:t>
            </a:r>
            <a:r>
              <a:rPr lang="en-GB" sz="25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: Predict a discrete output (class label) given an input.</a:t>
            </a:r>
            <a:endParaRPr lang="en-GB" sz="25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94167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82815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Introduction to Classification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9</a:t>
            </a:fld>
            <a:endParaRPr lang="en-IN"/>
          </a:p>
        </p:txBody>
      </p:sp>
      <p:sp>
        <p:nvSpPr>
          <p:cNvPr id="10" name="Google Shape;221;p10"/>
          <p:cNvSpPr txBox="1">
            <a:spLocks/>
          </p:cNvSpPr>
          <p:nvPr/>
        </p:nvSpPr>
        <p:spPr>
          <a:xfrm>
            <a:off x="838200" y="1129993"/>
            <a:ext cx="10515600" cy="232667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buClr>
                <a:schemeClr val="dk1"/>
              </a:buClr>
              <a:buSzPts val="3200"/>
            </a:pPr>
            <a:r>
              <a:rPr lang="en-GB" sz="32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Supervised Machine learning is a branch of artificial intelligence that focuses in training models to make predictions or decisions based on labelled training data.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buClr>
                <a:schemeClr val="dk1"/>
              </a:buClr>
              <a:buSzPts val="1400"/>
            </a:pPr>
            <a:endParaRPr lang="en-GB" sz="1400" b="1" dirty="0" smtClean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algn="l">
              <a:buClr>
                <a:schemeClr val="dk1"/>
              </a:buClr>
              <a:buSzPts val="3200"/>
            </a:pPr>
            <a:r>
              <a:rPr lang="en-GB" sz="3200" b="1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How you classify the Raw Input ?</a:t>
            </a:r>
            <a:endParaRPr lang="en-GB" sz="32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3700827"/>
            <a:ext cx="9905650" cy="2400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9892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82815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Introduction to Classification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/>
          </a:p>
        </p:txBody>
      </p:sp>
      <p:sp>
        <p:nvSpPr>
          <p:cNvPr id="11" name="Google Shape;233;p11"/>
          <p:cNvSpPr txBox="1">
            <a:spLocks/>
          </p:cNvSpPr>
          <p:nvPr/>
        </p:nvSpPr>
        <p:spPr>
          <a:xfrm>
            <a:off x="838200" y="1258750"/>
            <a:ext cx="10515600" cy="4918213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just">
              <a:spcBef>
                <a:spcPts val="0"/>
              </a:spcBef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GB" sz="2500" b="1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Definition:</a:t>
            </a:r>
            <a:r>
              <a:rPr lang="en-GB" sz="25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Predicting discrete class labels based on input features.</a:t>
            </a:r>
            <a:endParaRPr lang="en-GB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GB" sz="2500" b="1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Input (X):</a:t>
            </a:r>
            <a:r>
              <a:rPr lang="en-GB" sz="25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Features → e.g., weight, </a:t>
            </a:r>
            <a:r>
              <a:rPr lang="en-GB" sz="2500" dirty="0" err="1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color</a:t>
            </a:r>
            <a:r>
              <a:rPr lang="en-GB" sz="25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, shape of fruit.</a:t>
            </a:r>
            <a:endParaRPr lang="en-GB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GB" sz="2500" b="1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Output (Y):</a:t>
            </a:r>
            <a:r>
              <a:rPr lang="en-GB" sz="25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Classes → e.g., Apple, Banana, Mango.</a:t>
            </a:r>
            <a:endParaRPr lang="en-GB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GB" sz="2500" b="1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Goal:</a:t>
            </a:r>
            <a:r>
              <a:rPr lang="en-GB" sz="25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Learn a mapping function f : X → Y</a:t>
            </a:r>
            <a:endParaRPr lang="en-GB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GB" sz="2500" b="1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Visual Suggestion:</a:t>
            </a:r>
            <a:endParaRPr lang="en-GB" sz="25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dk1"/>
              </a:buClr>
              <a:buSzPts val="2400"/>
            </a:pPr>
            <a:r>
              <a:rPr lang="en-GB" sz="25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	</a:t>
            </a:r>
            <a:r>
              <a:rPr lang="en-GB" sz="2500" b="1" dirty="0" smtClean="0">
                <a:solidFill>
                  <a:srgbClr val="00B05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Dataset (fruit features) → ML model → Predicted Class.</a:t>
            </a:r>
            <a:endParaRPr lang="en-GB" sz="2500" b="1" dirty="0" smtClean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28600" indent="-228600" algn="just"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GB" sz="25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 </a:t>
            </a:r>
            <a:r>
              <a:rPr lang="en-GB" sz="2500" b="1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classifier</a:t>
            </a:r>
            <a:r>
              <a:rPr lang="en-GB" sz="25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in machine learning is an algorithm or model that categorizes input data into predefined classes or labels. In simple terms, it’s used for </a:t>
            </a:r>
            <a:r>
              <a:rPr lang="en-GB" sz="2500" b="1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classification tasks</a:t>
            </a:r>
            <a:r>
              <a:rPr lang="en-GB" sz="25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— deciding "which category does this data point belong to?"</a:t>
            </a:r>
            <a:endParaRPr lang="en-GB" sz="25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9166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82815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Basic Steps for Classification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11</a:t>
            </a:fld>
            <a:endParaRPr lang="en-IN"/>
          </a:p>
        </p:txBody>
      </p:sp>
      <p:sp>
        <p:nvSpPr>
          <p:cNvPr id="11" name="Google Shape;283;p16"/>
          <p:cNvSpPr txBox="1">
            <a:spLocks/>
          </p:cNvSpPr>
          <p:nvPr/>
        </p:nvSpPr>
        <p:spPr>
          <a:xfrm>
            <a:off x="426321" y="1076836"/>
            <a:ext cx="11121252" cy="51511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GB" sz="28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Step 1 : </a:t>
            </a:r>
            <a:r>
              <a:rPr lang="en-GB" sz="28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Data Collection &amp; Data </a:t>
            </a:r>
            <a:r>
              <a:rPr lang="en-GB" sz="28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Pre-processing</a:t>
            </a:r>
          </a:p>
          <a:p>
            <a:pPr algn="just">
              <a:spcBef>
                <a:spcPts val="0"/>
              </a:spcBef>
              <a:buClr>
                <a:schemeClr val="dk1"/>
              </a:buClr>
              <a:buSzPct val="100000"/>
            </a:pPr>
            <a:endParaRPr lang="en-GB" sz="28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GB" sz="28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Step 2: Training : </a:t>
            </a:r>
            <a:r>
              <a:rPr lang="en-GB" sz="28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In training phase, where the classification technique constructs the model by learning from a given training data set accompanied by their related class label attributes</a:t>
            </a:r>
            <a:r>
              <a:rPr lang="en-GB" sz="28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.</a:t>
            </a:r>
          </a:p>
          <a:p>
            <a:pPr algn="just">
              <a:spcBef>
                <a:spcPts val="0"/>
              </a:spcBef>
              <a:buClr>
                <a:schemeClr val="dk1"/>
              </a:buClr>
              <a:buSzPct val="100000"/>
            </a:pPr>
            <a:endParaRPr lang="en-GB" sz="2800" dirty="0"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GB" sz="2800" b="1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Step 3 : Testing : </a:t>
            </a:r>
            <a:r>
              <a:rPr lang="en-GB" sz="2800" dirty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It estimates the performance of the derived model using the test data set.</a:t>
            </a:r>
          </a:p>
        </p:txBody>
      </p:sp>
    </p:spTree>
    <p:extLst>
      <p:ext uri="{BB962C8B-B14F-4D97-AF65-F5344CB8AC3E}">
        <p14:creationId xmlns:p14="http://schemas.microsoft.com/office/powerpoint/2010/main" val="2858820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82815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Types of Classification Problems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12</a:t>
            </a:fld>
            <a:endParaRPr lang="en-IN"/>
          </a:p>
        </p:txBody>
      </p:sp>
      <p:sp>
        <p:nvSpPr>
          <p:cNvPr id="11" name="Google Shape;283;p16"/>
          <p:cNvSpPr txBox="1">
            <a:spLocks/>
          </p:cNvSpPr>
          <p:nvPr/>
        </p:nvSpPr>
        <p:spPr>
          <a:xfrm>
            <a:off x="554908" y="1090977"/>
            <a:ext cx="11121252" cy="515117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GB" b="1" dirty="0" smtClean="0">
                <a:latin typeface="Arial"/>
                <a:ea typeface="Arial"/>
                <a:cs typeface="Arial"/>
                <a:sym typeface="Arial"/>
              </a:rPr>
              <a:t>Binary Classification:</a:t>
            </a: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dirty="0" smtClean="0"/>
              <a:t> 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epresented as “positive” and “negative” or “1” and “0”</a:t>
            </a:r>
          </a:p>
          <a:p>
            <a:pPr algn="just">
              <a:buClr>
                <a:schemeClr val="dk1"/>
              </a:buClr>
              <a:buSzPct val="100000"/>
            </a:pPr>
            <a:r>
              <a:rPr lang="en-GB" dirty="0" smtClean="0">
                <a:solidFill>
                  <a:srgbClr val="FF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Example : </a:t>
            </a:r>
            <a:r>
              <a:rPr lang="en-GB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disease present or absent, </a:t>
            </a:r>
            <a:r>
              <a:rPr lang="en-GB" dirty="0" smtClean="0">
                <a:solidFill>
                  <a:srgbClr val="FF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Yes/No, Spam/Not Spam.</a:t>
            </a:r>
            <a:endParaRPr lang="en-GB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dk1"/>
              </a:buClr>
              <a:buSzPct val="100000"/>
            </a:pPr>
            <a:endParaRPr lang="en-GB" sz="100" dirty="0" smtClean="0">
              <a:latin typeface="Arial"/>
              <a:ea typeface="Arial"/>
              <a:cs typeface="Arial"/>
              <a:sym typeface="Arial"/>
            </a:endParaRPr>
          </a:p>
          <a:p>
            <a:pPr algn="just">
              <a:buClr>
                <a:schemeClr val="dk1"/>
              </a:buClr>
              <a:buSzPct val="100000"/>
            </a:pPr>
            <a:r>
              <a:rPr lang="en-GB" b="1" dirty="0" smtClean="0">
                <a:latin typeface="Arial"/>
                <a:ea typeface="Arial"/>
                <a:cs typeface="Arial"/>
                <a:sym typeface="Arial"/>
              </a:rPr>
              <a:t>Multi-class Classification:</a:t>
            </a: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 Handwritten digits (0–9),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S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entiment analysis (positive, negative, neutral), and image classification (various object categories)</a:t>
            </a:r>
            <a:r>
              <a:rPr lang="en-GB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.</a:t>
            </a:r>
            <a:endParaRPr lang="en-GB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dk1"/>
              </a:buClr>
              <a:buSzPct val="100000"/>
            </a:pP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Example: when there are more than two categories or classes involved, like grading students based on their marks (e.g., A, B, C, D, F), it becomes an example of a multi-classification problem.</a:t>
            </a:r>
            <a:endParaRPr lang="en-GB" sz="400" dirty="0" smtClean="0">
              <a:latin typeface="Arial"/>
              <a:ea typeface="Arial"/>
              <a:cs typeface="Arial"/>
              <a:sym typeface="Arial"/>
            </a:endParaRPr>
          </a:p>
          <a:p>
            <a:pPr algn="just">
              <a:buClr>
                <a:schemeClr val="dk1"/>
              </a:buClr>
              <a:buSzPct val="100000"/>
            </a:pPr>
            <a:r>
              <a:rPr lang="en-GB" b="1" dirty="0" smtClean="0">
                <a:latin typeface="Arial"/>
                <a:ea typeface="Arial"/>
                <a:cs typeface="Arial"/>
                <a:sym typeface="Arial"/>
              </a:rPr>
              <a:t>Multi-label Classification:</a:t>
            </a: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E</a:t>
            </a:r>
            <a:r>
              <a:rPr lang="en-GB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ach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instance can belong to multiple classes simultaneously.</a:t>
            </a:r>
          </a:p>
          <a:p>
            <a:pPr algn="just">
              <a:buClr>
                <a:schemeClr val="dk1"/>
              </a:buClr>
              <a:buSzPct val="100000"/>
            </a:pPr>
            <a:r>
              <a:rPr lang="en-GB" dirty="0">
                <a:solidFill>
                  <a:srgbClr val="FF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Example : </a:t>
            </a:r>
            <a:r>
              <a:rPr lang="en-GB" dirty="0" smtClean="0">
                <a:solidFill>
                  <a:srgbClr val="FF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A movie can be both Comedy + Romance, </a:t>
            </a:r>
            <a:r>
              <a:rPr lang="en-GB" dirty="0" smtClean="0">
                <a:solidFill>
                  <a:srgbClr val="FF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news article may belong to multiple categories such as “politics,” “sports,” and “technology” simultaneously</a:t>
            </a:r>
            <a:r>
              <a:rPr lang="en-GB" dirty="0" smtClean="0">
                <a:solidFill>
                  <a:srgbClr val="FF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.</a:t>
            </a:r>
            <a:endParaRPr lang="en-GB" dirty="0">
              <a:solidFill>
                <a:srgbClr val="FF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7401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82815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Working Principle of Classification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13</a:t>
            </a:fld>
            <a:endParaRPr lang="en-IN"/>
          </a:p>
        </p:txBody>
      </p:sp>
      <p:pic>
        <p:nvPicPr>
          <p:cNvPr id="10" name="Google Shape;316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77441" y="1188159"/>
            <a:ext cx="10576359" cy="48299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59936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1428" y="4550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73961" y="282815"/>
            <a:ext cx="6354071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GB" sz="280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Working Principle of Classification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14</a:t>
            </a:fld>
            <a:endParaRPr lang="en-IN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920236"/>
            <a:ext cx="12192000" cy="5436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235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34" y="240615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15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530020" y="298769"/>
            <a:ext cx="56426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latin typeface="Arial"/>
                <a:ea typeface="Arial"/>
                <a:cs typeface="Arial"/>
                <a:sym typeface="Arial"/>
              </a:rPr>
              <a:t>Learning Activity-1: Think-pair-share</a:t>
            </a:r>
            <a:endParaRPr lang="en-IN" sz="2400" dirty="0"/>
          </a:p>
        </p:txBody>
      </p:sp>
      <p:sp>
        <p:nvSpPr>
          <p:cNvPr id="5" name="Rectangle 4"/>
          <p:cNvSpPr/>
          <p:nvPr/>
        </p:nvSpPr>
        <p:spPr>
          <a:xfrm>
            <a:off x="3874734" y="653463"/>
            <a:ext cx="752951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Explain how in given scenario Machine Learning is classified?</a:t>
            </a: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0562" y="1594678"/>
            <a:ext cx="10447935" cy="3505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2099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16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4530020" y="298769"/>
            <a:ext cx="564268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b="1" dirty="0" smtClean="0">
                <a:latin typeface="Arial"/>
                <a:ea typeface="Arial"/>
                <a:cs typeface="Arial"/>
                <a:sym typeface="Arial"/>
              </a:rPr>
              <a:t>Learning Activity-1: Think-pair-share</a:t>
            </a:r>
            <a:endParaRPr lang="en-IN" sz="2400" dirty="0"/>
          </a:p>
        </p:txBody>
      </p:sp>
      <p:sp>
        <p:nvSpPr>
          <p:cNvPr id="5" name="Rectangle 4"/>
          <p:cNvSpPr/>
          <p:nvPr/>
        </p:nvSpPr>
        <p:spPr>
          <a:xfrm>
            <a:off x="3529012" y="854440"/>
            <a:ext cx="821055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latin typeface="Arial"/>
                <a:ea typeface="Arial"/>
                <a:cs typeface="Arial"/>
                <a:sym typeface="Arial"/>
              </a:rPr>
              <a:t>Explain how in given scenario Machine Learning is classified?</a:t>
            </a:r>
            <a:endParaRPr lang="en-IN" dirty="0"/>
          </a:p>
        </p:txBody>
      </p:sp>
      <p:sp>
        <p:nvSpPr>
          <p:cNvPr id="10" name="Google Shape;334;p21"/>
          <p:cNvSpPr txBox="1">
            <a:spLocks/>
          </p:cNvSpPr>
          <p:nvPr/>
        </p:nvSpPr>
        <p:spPr>
          <a:xfrm>
            <a:off x="2243139" y="1964010"/>
            <a:ext cx="7567803" cy="1644592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0"/>
              </a:spcBef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 b="1" dirty="0" smtClean="0">
                <a:solidFill>
                  <a:schemeClr val="dk2"/>
                </a:solidFill>
              </a:rPr>
              <a:t>Reflection of</a:t>
            </a:r>
            <a:br>
              <a:rPr lang="en-US" sz="4000" b="1" dirty="0" smtClean="0">
                <a:solidFill>
                  <a:schemeClr val="dk2"/>
                </a:solidFill>
              </a:rPr>
            </a:br>
            <a:r>
              <a:rPr lang="en-US" sz="4000" b="1" dirty="0" smtClean="0">
                <a:solidFill>
                  <a:schemeClr val="dk2"/>
                </a:solidFill>
              </a:rPr>
              <a:t>Learning Activity-1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6081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20656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17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3900566" y="70796"/>
            <a:ext cx="676743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dirty="0"/>
              <a:t>Measure the efficiency of a Classification model (Training/test split)</a:t>
            </a:r>
          </a:p>
        </p:txBody>
      </p:sp>
      <p:sp>
        <p:nvSpPr>
          <p:cNvPr id="10" name="Google Shape;348;p22"/>
          <p:cNvSpPr txBox="1">
            <a:spLocks/>
          </p:cNvSpPr>
          <p:nvPr/>
        </p:nvSpPr>
        <p:spPr>
          <a:xfrm>
            <a:off x="104932" y="1455791"/>
            <a:ext cx="11896568" cy="485961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buClr>
                <a:schemeClr val="dk1"/>
              </a:buClr>
              <a:buSzPct val="100000"/>
            </a:pPr>
            <a:r>
              <a:rPr lang="en-GB" sz="2200" b="1" u="sng" dirty="0" smtClean="0">
                <a:highlight>
                  <a:srgbClr val="FFFF00"/>
                </a:highlight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Training and Testing Split</a:t>
            </a:r>
            <a:r>
              <a:rPr lang="en-GB" sz="22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: It is the splitting of a dataset into multiple parts. We train our model using one part and test its effectiveness on another.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dk1"/>
              </a:buClr>
              <a:buSzPct val="100000"/>
            </a:pPr>
            <a:r>
              <a:rPr lang="en-GB" sz="2200" b="1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Data splitting is the process of splitting data into 3 sets: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228600" algn="just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2200" b="1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Training set :</a:t>
            </a:r>
            <a:r>
              <a:rPr lang="en-GB" sz="22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Data which we use to design our models.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228600" algn="just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2200" b="1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Validation set :</a:t>
            </a:r>
            <a:r>
              <a:rPr lang="en-GB" sz="22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Data which we use to refine our models.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228600" algn="just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2200" b="1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Testing set :</a:t>
            </a:r>
            <a:r>
              <a:rPr lang="en-GB" sz="22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 Data which we use to test our models.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>
              <a:buClr>
                <a:schemeClr val="dk1"/>
              </a:buClr>
              <a:buSzPct val="100000"/>
            </a:pPr>
            <a:r>
              <a:rPr lang="en-GB" sz="22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If we do not split our data, we might test our model with the same data that we use to train our model.</a:t>
            </a: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Clr>
                <a:schemeClr val="dk1"/>
              </a:buClr>
              <a:buSzPct val="100000"/>
            </a:pPr>
            <a:r>
              <a:rPr lang="en-GB" sz="2200" b="1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Example</a:t>
            </a:r>
            <a:endParaRPr lang="en-GB" sz="2200" dirty="0" smtClean="0">
              <a:latin typeface="Times New Roman" panose="02020603050405020304" pitchFamily="18" charset="0"/>
              <a:ea typeface="Arial"/>
              <a:cs typeface="Times New Roman" panose="02020603050405020304" pitchFamily="18" charset="0"/>
              <a:sym typeface="Arial"/>
            </a:endParaRPr>
          </a:p>
          <a:p>
            <a:pPr marL="685800" lvl="1" indent="-228600" algn="just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22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If the model is a trading strategy specifically designed for Apple stock in 2008, and we test its effectiveness on Apple stock in 2008, of course it is going to do well.</a:t>
            </a:r>
          </a:p>
          <a:p>
            <a:pPr lvl="1" algn="just">
              <a:buClr>
                <a:schemeClr val="dk1"/>
              </a:buClr>
              <a:buSzPct val="100000"/>
            </a:pPr>
            <a:endParaRPr lang="en-GB" sz="22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85800" lvl="1" indent="-228600" algn="just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sz="2200" dirty="0" smtClean="0"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  <a:sym typeface="Arial"/>
              </a:rPr>
              <a:t>We need to test it on 2009’s data. Thus, 2008 is our training set and 2009 is our testing set.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76689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20656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18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3900566" y="70796"/>
            <a:ext cx="676743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dirty="0"/>
              <a:t>Measure the efficiency of a Classification model (Training/test split)</a:t>
            </a:r>
          </a:p>
        </p:txBody>
      </p:sp>
      <p:sp>
        <p:nvSpPr>
          <p:cNvPr id="11" name="Google Shape;358;p23"/>
          <p:cNvSpPr txBox="1">
            <a:spLocks/>
          </p:cNvSpPr>
          <p:nvPr/>
        </p:nvSpPr>
        <p:spPr>
          <a:xfrm>
            <a:off x="292319" y="1281980"/>
            <a:ext cx="4839929" cy="61247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b="1" smtClean="0"/>
              <a:t>Data Splitting in Modelling</a:t>
            </a:r>
            <a:endParaRPr lang="en-US" dirty="0"/>
          </a:p>
        </p:txBody>
      </p:sp>
      <p:pic>
        <p:nvPicPr>
          <p:cNvPr id="12" name="Google Shape;35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31591" y="1905488"/>
            <a:ext cx="9298284" cy="400116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4281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20656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19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3900566" y="70796"/>
            <a:ext cx="676743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dirty="0"/>
              <a:t>Measure the efficiency of a Classification model (Training/test split)</a:t>
            </a:r>
          </a:p>
        </p:txBody>
      </p:sp>
      <p:sp>
        <p:nvSpPr>
          <p:cNvPr id="10" name="Google Shape;369;p24"/>
          <p:cNvSpPr txBox="1">
            <a:spLocks/>
          </p:cNvSpPr>
          <p:nvPr/>
        </p:nvSpPr>
        <p:spPr>
          <a:xfrm>
            <a:off x="680332" y="1361646"/>
            <a:ext cx="10515600" cy="142441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b="1" dirty="0" smtClean="0"/>
              <a:t>1. Holdout Method</a:t>
            </a:r>
            <a:r>
              <a:rPr lang="en-GB" dirty="0" smtClean="0"/>
              <a:t>: The holdout method involves splitting the dataset into a training set and a test set, training the model on the training set, and evaluating it on the test set.</a:t>
            </a:r>
          </a:p>
        </p:txBody>
      </p:sp>
      <p:pic>
        <p:nvPicPr>
          <p:cNvPr id="13" name="Google Shape;370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01889" y="2786063"/>
            <a:ext cx="8273845" cy="30952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516945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20656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20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3900566" y="70796"/>
            <a:ext cx="676743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dirty="0"/>
              <a:t>Measure the efficiency of a Classification model (Training/test split)</a:t>
            </a:r>
          </a:p>
        </p:txBody>
      </p:sp>
      <p:sp>
        <p:nvSpPr>
          <p:cNvPr id="11" name="Google Shape;379;p25"/>
          <p:cNvSpPr txBox="1">
            <a:spLocks/>
          </p:cNvSpPr>
          <p:nvPr/>
        </p:nvSpPr>
        <p:spPr>
          <a:xfrm>
            <a:off x="838200" y="1674114"/>
            <a:ext cx="10515600" cy="388033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b="1" smtClean="0">
                <a:latin typeface="Arial"/>
                <a:ea typeface="Arial"/>
                <a:cs typeface="Arial"/>
                <a:sym typeface="Arial"/>
              </a:rPr>
              <a:t>2. Cross-Validation</a:t>
            </a:r>
            <a:r>
              <a:rPr lang="en-GB" smtClean="0">
                <a:latin typeface="Arial"/>
                <a:ea typeface="Arial"/>
                <a:cs typeface="Arial"/>
                <a:sym typeface="Arial"/>
              </a:rPr>
              <a:t>: Cross-validation is a technique used to assess the generalization performance of a model by splitting the dataset into multiple subsets, training the model on a subset, and evaluating it on the remaining subsets. </a:t>
            </a:r>
            <a:endParaRPr lang="en-GB" smtClean="0"/>
          </a:p>
          <a:p>
            <a:pPr algn="just">
              <a:buClr>
                <a:schemeClr val="dk1"/>
              </a:buClr>
              <a:buSzPts val="2800"/>
            </a:pPr>
            <a:r>
              <a:rPr lang="en-GB" smtClean="0">
                <a:latin typeface="Arial"/>
                <a:ea typeface="Arial"/>
                <a:cs typeface="Arial"/>
                <a:sym typeface="Arial"/>
              </a:rPr>
              <a:t>With this technique, the data set is randomly divided into k equal-sized, mutually exclusive subsets. </a:t>
            </a:r>
            <a:endParaRPr lang="en-GB" smtClean="0"/>
          </a:p>
          <a:p>
            <a:pPr algn="just">
              <a:buClr>
                <a:schemeClr val="dk1"/>
              </a:buClr>
              <a:buSzPts val="2800"/>
            </a:pPr>
            <a:r>
              <a:rPr lang="en-GB" smtClean="0">
                <a:latin typeface="Arial"/>
                <a:ea typeface="Arial"/>
                <a:cs typeface="Arial"/>
                <a:sym typeface="Arial"/>
              </a:rPr>
              <a:t>One is retained for testing, while the others are utilized for training the model. For each of the k folds, the same procedure is followed.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21423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20656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21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3900566" y="70796"/>
            <a:ext cx="676743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dirty="0"/>
              <a:t>Measure the efficiency of a Classification model (Training/test split)</a:t>
            </a:r>
          </a:p>
        </p:txBody>
      </p:sp>
      <p:pic>
        <p:nvPicPr>
          <p:cNvPr id="8" name="Google Shape;390;p2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84787" y="1533832"/>
            <a:ext cx="9822425" cy="436037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35112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20656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22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3900566" y="293454"/>
            <a:ext cx="67674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Training/test split</a:t>
            </a:r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GB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</a:t>
            </a:r>
            <a:endParaRPr lang="en-GB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47662" y="1302128"/>
            <a:ext cx="1141095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+mj-lt"/>
              <a:buAutoNum type="arabicPeriod"/>
            </a:pPr>
            <a:r>
              <a:rPr lang="en-GB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Checks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real-world performance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Can the model work on new data? </a:t>
            </a:r>
          </a:p>
          <a:p>
            <a:pPr>
              <a:buFont typeface="+mj-lt"/>
              <a:buAutoNum type="arabicPeriod"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Detects </a:t>
            </a:r>
            <a:r>
              <a:rPr lang="en-GB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overfitting</a:t>
            </a:r>
            <a:r>
              <a:rPr lang="en-GB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Prevents us from believing a model is good just because it memorized the training data. </a:t>
            </a:r>
          </a:p>
          <a:p>
            <a:pPr>
              <a:buFont typeface="+mj-lt"/>
              <a:buAutoNum type="arabicPeriod"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an unbiased evaluation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The test data acts like a final exam. </a:t>
            </a:r>
          </a:p>
          <a:p>
            <a:pPr>
              <a:buFont typeface="+mj-lt"/>
              <a:buAutoNum type="arabicPeriod"/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 compare models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We can compare different algorithms using the same test data.</a:t>
            </a:r>
          </a:p>
        </p:txBody>
      </p:sp>
      <p:pic>
        <p:nvPicPr>
          <p:cNvPr id="8" name="Google Shape;469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002749" y="3647860"/>
            <a:ext cx="7397054" cy="225742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966775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23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3945849" y="328049"/>
            <a:ext cx="67674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dirty="0"/>
              <a:t>Challenges in Classification</a:t>
            </a:r>
          </a:p>
        </p:txBody>
      </p:sp>
      <p:sp>
        <p:nvSpPr>
          <p:cNvPr id="11" name="Google Shape;489;p34"/>
          <p:cNvSpPr txBox="1">
            <a:spLocks/>
          </p:cNvSpPr>
          <p:nvPr/>
        </p:nvSpPr>
        <p:spPr>
          <a:xfrm>
            <a:off x="443658" y="1334399"/>
            <a:ext cx="11304684" cy="4441541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US" b="1" dirty="0" err="1" smtClean="0"/>
              <a:t>Overfitting</a:t>
            </a:r>
            <a:r>
              <a:rPr lang="en-US" dirty="0" smtClean="0"/>
              <a:t> → Model performs well on training data but poorly on unseen data.</a:t>
            </a:r>
          </a:p>
          <a:p>
            <a:pPr algn="l">
              <a:spcBef>
                <a:spcPts val="0"/>
              </a:spcBef>
              <a:buClr>
                <a:schemeClr val="dk1"/>
              </a:buClr>
              <a:buSzPts val="2800"/>
            </a:pPr>
            <a:endParaRPr lang="en-US" dirty="0" smtClean="0"/>
          </a:p>
          <a:p>
            <a:pPr algn="l">
              <a:buClr>
                <a:schemeClr val="dk1"/>
              </a:buClr>
              <a:buSzPts val="2800"/>
            </a:pPr>
            <a:r>
              <a:rPr lang="en-US" b="1" dirty="0" smtClean="0"/>
              <a:t>Imbalanced Data</a:t>
            </a:r>
            <a:r>
              <a:rPr lang="en-US" dirty="0" smtClean="0"/>
              <a:t> → Class imbalance skews predictions toward majority class.</a:t>
            </a:r>
          </a:p>
          <a:p>
            <a:pPr algn="l">
              <a:buClr>
                <a:schemeClr val="dk1"/>
              </a:buClr>
              <a:buSzPts val="2800"/>
            </a:pPr>
            <a:endParaRPr lang="en-US" dirty="0" smtClean="0"/>
          </a:p>
          <a:p>
            <a:pPr algn="l">
              <a:buClr>
                <a:schemeClr val="dk1"/>
              </a:buClr>
              <a:buSzPts val="2800"/>
            </a:pPr>
            <a:r>
              <a:rPr lang="en-US" b="1" dirty="0" smtClean="0"/>
              <a:t>High-Dimensional Data</a:t>
            </a:r>
            <a:r>
              <a:rPr lang="en-US" dirty="0" smtClean="0"/>
              <a:t> → Too many features can cause complexity (curse of dimensionality).</a:t>
            </a:r>
          </a:p>
          <a:p>
            <a:pPr algn="l">
              <a:buClr>
                <a:schemeClr val="dk1"/>
              </a:buClr>
              <a:buSzPts val="2800"/>
            </a:pPr>
            <a:endParaRPr lang="en-US" dirty="0" smtClean="0"/>
          </a:p>
          <a:p>
            <a:pPr algn="l">
              <a:buClr>
                <a:schemeClr val="dk1"/>
              </a:buClr>
              <a:buSzPts val="2800"/>
            </a:pPr>
            <a:r>
              <a:rPr lang="en-US" b="1" dirty="0" smtClean="0"/>
              <a:t>Noise &amp; Outliers</a:t>
            </a:r>
            <a:r>
              <a:rPr lang="en-US" dirty="0" smtClean="0"/>
              <a:t> → Incorrect labels or unusual data can mislead models.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40723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24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3945849" y="105921"/>
            <a:ext cx="676743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dirty="0"/>
              <a:t>Common Classification Algorithms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741" y="1122363"/>
            <a:ext cx="10692518" cy="526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127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25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3945849" y="328049"/>
            <a:ext cx="67674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dirty="0"/>
              <a:t>Critical Question</a:t>
            </a:r>
          </a:p>
        </p:txBody>
      </p:sp>
      <p:sp>
        <p:nvSpPr>
          <p:cNvPr id="11" name="Google Shape;489;p34"/>
          <p:cNvSpPr txBox="1">
            <a:spLocks/>
          </p:cNvSpPr>
          <p:nvPr/>
        </p:nvSpPr>
        <p:spPr>
          <a:xfrm>
            <a:off x="443658" y="1777312"/>
            <a:ext cx="11304684" cy="244348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  <a:buClr>
                <a:schemeClr val="dk1"/>
              </a:buClr>
              <a:buSzPts val="2800"/>
            </a:pPr>
            <a:r>
              <a:rPr lang="en-GB" sz="4000" b="1" dirty="0">
                <a:solidFill>
                  <a:srgbClr val="FF0000"/>
                </a:solidFill>
              </a:rPr>
              <a:t>If your model has 99% training accuracy but only 60% test accuracy, what does this mean and what would you do?</a:t>
            </a:r>
          </a:p>
          <a:p>
            <a:pPr algn="just">
              <a:spcBef>
                <a:spcPts val="0"/>
              </a:spcBef>
              <a:buClr>
                <a:schemeClr val="dk1"/>
              </a:buClr>
              <a:buSzPts val="2800"/>
            </a:pPr>
            <a:endParaRPr 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4498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26</a:t>
            </a:fld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3945849" y="328049"/>
            <a:ext cx="676743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2800" b="1" dirty="0"/>
              <a:t>Answer of Critical Question</a:t>
            </a:r>
          </a:p>
        </p:txBody>
      </p:sp>
      <p:sp>
        <p:nvSpPr>
          <p:cNvPr id="11" name="Google Shape;489;p34"/>
          <p:cNvSpPr txBox="1">
            <a:spLocks/>
          </p:cNvSpPr>
          <p:nvPr/>
        </p:nvSpPr>
        <p:spPr>
          <a:xfrm>
            <a:off x="443658" y="1334399"/>
            <a:ext cx="11304684" cy="462348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 algn="just">
              <a:spcBef>
                <a:spcPts val="0"/>
              </a:spcBef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3200" b="1" dirty="0">
                <a:solidFill>
                  <a:srgbClr val="C00000"/>
                </a:solidFill>
              </a:rPr>
              <a:t>99% Training Accuracy → </a:t>
            </a:r>
            <a:r>
              <a:rPr lang="en-GB" sz="3200" b="1" dirty="0">
                <a:solidFill>
                  <a:srgbClr val="00B050"/>
                </a:solidFill>
              </a:rPr>
              <a:t>The model learned the training data extremely well</a:t>
            </a:r>
            <a:r>
              <a:rPr lang="en-GB" sz="3200" b="1" dirty="0" smtClean="0">
                <a:solidFill>
                  <a:srgbClr val="00B050"/>
                </a:solidFill>
              </a:rPr>
              <a:t>. </a:t>
            </a:r>
            <a:r>
              <a:rPr lang="en-GB" sz="3200" b="1" dirty="0" smtClean="0">
                <a:solidFill>
                  <a:srgbClr val="0070C0"/>
                </a:solidFill>
              </a:rPr>
              <a:t>60</a:t>
            </a:r>
            <a:r>
              <a:rPr lang="en-GB" sz="3200" b="1" dirty="0">
                <a:solidFill>
                  <a:srgbClr val="0070C0"/>
                </a:solidFill>
              </a:rPr>
              <a:t>% Test Accuracy →</a:t>
            </a:r>
            <a:r>
              <a:rPr lang="en-GB" sz="3200" dirty="0">
                <a:solidFill>
                  <a:srgbClr val="00B050"/>
                </a:solidFill>
              </a:rPr>
              <a:t> </a:t>
            </a:r>
            <a:r>
              <a:rPr lang="en-GB" sz="3200" b="1" dirty="0">
                <a:solidFill>
                  <a:srgbClr val="00B050"/>
                </a:solidFill>
              </a:rPr>
              <a:t>But it fails to generalize to unseen data</a:t>
            </a:r>
            <a:r>
              <a:rPr lang="en-GB" sz="3200" b="1" dirty="0" smtClean="0">
                <a:solidFill>
                  <a:srgbClr val="00B050"/>
                </a:solidFill>
              </a:rPr>
              <a:t>.</a:t>
            </a:r>
          </a:p>
          <a:p>
            <a:pPr algn="just">
              <a:spcBef>
                <a:spcPts val="0"/>
              </a:spcBef>
              <a:buClr>
                <a:schemeClr val="dk1"/>
              </a:buClr>
              <a:buSzPts val="2800"/>
            </a:pPr>
            <a:endParaRPr lang="en-GB" sz="3200" b="1" dirty="0">
              <a:solidFill>
                <a:srgbClr val="00B050"/>
              </a:solidFill>
            </a:endParaRPr>
          </a:p>
          <a:p>
            <a:pPr marL="457200" indent="-457200" algn="just">
              <a:spcBef>
                <a:spcPts val="0"/>
              </a:spcBef>
              <a:buClr>
                <a:schemeClr val="dk1"/>
              </a:buClr>
              <a:buSzPts val="2800"/>
              <a:buFont typeface="Wingdings" panose="05000000000000000000" pitchFamily="2" charset="2"/>
              <a:buChar char="Ø"/>
            </a:pPr>
            <a:r>
              <a:rPr lang="en-GB" sz="3200" b="1" dirty="0">
                <a:solidFill>
                  <a:srgbClr val="C00000"/>
                </a:solidFill>
              </a:rPr>
              <a:t>Meaning: </a:t>
            </a:r>
            <a:r>
              <a:rPr lang="en-GB" sz="3200" b="1" dirty="0">
                <a:solidFill>
                  <a:srgbClr val="00B050"/>
                </a:solidFill>
              </a:rPr>
              <a:t>The model is </a:t>
            </a:r>
            <a:r>
              <a:rPr lang="en-GB" sz="3200" b="1" dirty="0">
                <a:solidFill>
                  <a:srgbClr val="0070C0"/>
                </a:solidFill>
              </a:rPr>
              <a:t>overfitting</a:t>
            </a:r>
            <a:r>
              <a:rPr lang="en-GB" sz="3200" b="1" dirty="0">
                <a:solidFill>
                  <a:srgbClr val="00B050"/>
                </a:solidFill>
              </a:rPr>
              <a:t>. It has memorized patterns (and possibly noise) in the training set rather than learning generalizable rules.</a:t>
            </a:r>
          </a:p>
          <a:p>
            <a:pPr algn="just">
              <a:spcBef>
                <a:spcPts val="0"/>
              </a:spcBef>
              <a:buClr>
                <a:schemeClr val="dk1"/>
              </a:buClr>
              <a:buSzPts val="2800"/>
            </a:pPr>
            <a:endParaRPr lang="en-US" sz="40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8494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>
            <a:noAutofit/>
          </a:bodyPr>
          <a:lstStyle/>
          <a:p>
            <a:r>
              <a:rPr lang="en-GB" sz="2800" dirty="0" smtClean="0"/>
              <a:t/>
            </a:r>
            <a:br>
              <a:rPr lang="en-GB" sz="2800" dirty="0" smtClean="0"/>
            </a:br>
            <a:endParaRPr lang="en-IN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27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195841" y="336722"/>
            <a:ext cx="592455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IN" sz="3200" b="1" dirty="0"/>
              <a:t>Activity 2: </a:t>
            </a:r>
            <a:r>
              <a:rPr lang="en-IN" sz="3200" b="1" dirty="0" smtClean="0"/>
              <a:t>Rapid Quiz</a:t>
            </a:r>
            <a:endParaRPr lang="en-IN" sz="3200" b="1" dirty="0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7737" y="2095500"/>
            <a:ext cx="2676525" cy="266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013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3FC14F6-7B57-DCCF-E6C1-F00D5A0C00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72061" y="256690"/>
            <a:ext cx="3781425" cy="540216"/>
          </a:xfrm>
        </p:spPr>
        <p:txBody>
          <a:bodyPr>
            <a:normAutofit fontScale="90000"/>
          </a:bodyPr>
          <a:lstStyle/>
          <a:p>
            <a:r>
              <a:rPr lang="en-IN" sz="4400" b="1" dirty="0"/>
              <a:t>Summary</a:t>
            </a:r>
            <a:endParaRPr lang="en-IN" b="1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38DC841-660F-050E-F1D5-7EDF89E46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28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C48F32E8-1C2C-DDC5-5A63-CE0734EE2B2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200A3D7-8C56-079A-BFFF-58D27E7ED9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10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sp>
        <p:nvSpPr>
          <p:cNvPr id="11" name="Google Shape;515;p37"/>
          <p:cNvSpPr txBox="1">
            <a:spLocks/>
          </p:cNvSpPr>
          <p:nvPr/>
        </p:nvSpPr>
        <p:spPr>
          <a:xfrm>
            <a:off x="680332" y="1400959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t" anchorCtr="0">
            <a:normAutofit fontScale="9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 algn="just">
              <a:spcBef>
                <a:spcPts val="0"/>
              </a:spcBef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b="1" dirty="0" smtClean="0">
                <a:latin typeface="Arial"/>
                <a:ea typeface="Arial"/>
                <a:cs typeface="Arial"/>
                <a:sym typeface="Arial"/>
              </a:rPr>
              <a:t>Classification</a:t>
            </a: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 is a supervised learning task where models predict categorical outputs based on input features.</a:t>
            </a:r>
            <a:endParaRPr lang="en-GB" dirty="0" smtClean="0"/>
          </a:p>
          <a:p>
            <a:pPr marL="228600" indent="-228600" algn="just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Types include </a:t>
            </a:r>
            <a:r>
              <a:rPr lang="en-GB" b="1" dirty="0" smtClean="0">
                <a:latin typeface="Arial"/>
                <a:ea typeface="Arial"/>
                <a:cs typeface="Arial"/>
                <a:sym typeface="Arial"/>
              </a:rPr>
              <a:t>Binary</a:t>
            </a: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GB" b="1" dirty="0" smtClean="0">
                <a:latin typeface="Arial"/>
                <a:ea typeface="Arial"/>
                <a:cs typeface="Arial"/>
                <a:sym typeface="Arial"/>
              </a:rPr>
              <a:t>Multi-class</a:t>
            </a: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lang="en-GB" b="1" dirty="0" smtClean="0">
                <a:latin typeface="Arial"/>
                <a:ea typeface="Arial"/>
                <a:cs typeface="Arial"/>
                <a:sym typeface="Arial"/>
              </a:rPr>
              <a:t>Multi-label Classification</a:t>
            </a: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.</a:t>
            </a:r>
            <a:endParaRPr lang="en-GB" dirty="0" smtClean="0"/>
          </a:p>
          <a:p>
            <a:pPr marL="228600" indent="-228600" algn="just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b="1" dirty="0" smtClean="0">
                <a:latin typeface="Arial"/>
                <a:ea typeface="Arial"/>
                <a:cs typeface="Arial"/>
                <a:sym typeface="Arial"/>
              </a:rPr>
              <a:t>Training–testing split</a:t>
            </a: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 is essential for evaluating model performance and avoiding bias.</a:t>
            </a:r>
            <a:endParaRPr lang="en-GB" dirty="0" smtClean="0"/>
          </a:p>
          <a:p>
            <a:pPr marL="228600" indent="-228600" algn="just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b="1" dirty="0" smtClean="0">
                <a:latin typeface="Arial"/>
                <a:ea typeface="Arial"/>
                <a:cs typeface="Arial"/>
                <a:sym typeface="Arial"/>
              </a:rPr>
              <a:t>Overfitting &amp; </a:t>
            </a:r>
            <a:r>
              <a:rPr lang="en-GB" b="1" dirty="0" err="1" smtClean="0">
                <a:latin typeface="Arial"/>
                <a:ea typeface="Arial"/>
                <a:cs typeface="Arial"/>
                <a:sym typeface="Arial"/>
              </a:rPr>
              <a:t>Underfitting</a:t>
            </a: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 are major challenges — models must balance complexity and generalization.</a:t>
            </a:r>
            <a:endParaRPr lang="en-GB" dirty="0" smtClean="0"/>
          </a:p>
          <a:p>
            <a:pPr marL="228600" indent="-228600" algn="just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Different algorithms (Logistic Regression, </a:t>
            </a:r>
            <a:r>
              <a:rPr lang="en-GB" dirty="0" err="1" smtClean="0">
                <a:latin typeface="Arial"/>
                <a:ea typeface="Arial"/>
                <a:cs typeface="Arial"/>
                <a:sym typeface="Arial"/>
              </a:rPr>
              <a:t>kNN</a:t>
            </a: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, Decision Trees, Random Forest, SVM, Naïve Bayes, Neural Networks) are used depending on the problem.</a:t>
            </a:r>
            <a:endParaRPr lang="en-GB" dirty="0" smtClean="0"/>
          </a:p>
          <a:p>
            <a:pPr marL="228600" indent="-228600" algn="just"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GB" b="1" dirty="0" smtClean="0">
                <a:latin typeface="Arial"/>
                <a:ea typeface="Arial"/>
                <a:cs typeface="Arial"/>
                <a:sym typeface="Arial"/>
              </a:rPr>
              <a:t>Conclusion:</a:t>
            </a: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 A well-designed classification model helps in accurate decision-making, but proper evaluation and control of overfitting/</a:t>
            </a:r>
            <a:r>
              <a:rPr lang="en-GB" dirty="0" err="1" smtClean="0">
                <a:latin typeface="Arial"/>
                <a:ea typeface="Arial"/>
                <a:cs typeface="Arial"/>
                <a:sym typeface="Arial"/>
              </a:rPr>
              <a:t>underfitting</a:t>
            </a:r>
            <a:r>
              <a:rPr lang="en-GB" dirty="0" smtClean="0">
                <a:latin typeface="Arial"/>
                <a:ea typeface="Arial"/>
                <a:cs typeface="Arial"/>
                <a:sym typeface="Arial"/>
              </a:rPr>
              <a:t> are key to reliable performance.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113287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CC8EF4F-6060-143D-E2D3-D39BCB3AD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5" y="749508"/>
            <a:ext cx="9718111" cy="1576446"/>
          </a:xfrm>
        </p:spPr>
        <p:txBody>
          <a:bodyPr anchor="ctr">
            <a:normAutofit fontScale="90000"/>
          </a:bodyPr>
          <a:lstStyle/>
          <a:p>
            <a:r>
              <a:rPr lang="en-US" sz="4000" b="1" dirty="0"/>
              <a:t>Ensure attainment of LOs in alignment to the learning activities:</a:t>
            </a:r>
            <a:r>
              <a:rPr lang="en-IN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outcomes (1-2)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55C8336F-1062-6386-8BEE-9A71FD367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29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E29D7986-4818-A798-4420-A7D3A24FA08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grpSp>
        <p:nvGrpSpPr>
          <p:cNvPr id="14" name="Google Shape;131;p4"/>
          <p:cNvGrpSpPr/>
          <p:nvPr/>
        </p:nvGrpSpPr>
        <p:grpSpPr>
          <a:xfrm>
            <a:off x="336080" y="2417848"/>
            <a:ext cx="11519840" cy="3689404"/>
            <a:chOff x="-296006" y="0"/>
            <a:chExt cx="11519840" cy="3689404"/>
          </a:xfrm>
        </p:grpSpPr>
        <p:sp>
          <p:nvSpPr>
            <p:cNvPr id="15" name="Google Shape;132;p4"/>
            <p:cNvSpPr/>
            <p:nvPr/>
          </p:nvSpPr>
          <p:spPr>
            <a:xfrm>
              <a:off x="-296006" y="0"/>
              <a:ext cx="10472679" cy="1660232"/>
            </a:xfrm>
            <a:prstGeom prst="roundRect">
              <a:avLst>
                <a:gd name="adj" fmla="val 10000"/>
              </a:avLst>
            </a:prstGeom>
            <a:solidFill>
              <a:srgbClr val="E97131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Google Shape;133;p4"/>
            <p:cNvSpPr txBox="1"/>
            <p:nvPr/>
          </p:nvSpPr>
          <p:spPr>
            <a:xfrm>
              <a:off x="-247379" y="48627"/>
              <a:ext cx="9204523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800"/>
              </a:pPr>
              <a:r>
                <a:rPr lang="en-IN" sz="3200" b="0" i="0" u="none" strike="noStrike" cap="none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LO1: </a:t>
              </a:r>
              <a:r>
                <a:rPr lang="en-GB" sz="2600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Explain the basic setup of a classification problem and differentiate between training and testing </a:t>
              </a:r>
              <a:r>
                <a:rPr lang="en-GB" sz="2600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datasets.</a:t>
              </a:r>
              <a:endParaRPr lang="en-GB" sz="2600" dirty="0">
                <a:solidFill>
                  <a:schemeClr val="lt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  <p:sp>
          <p:nvSpPr>
            <p:cNvPr id="24" name="Google Shape;134;p4"/>
            <p:cNvSpPr/>
            <p:nvPr/>
          </p:nvSpPr>
          <p:spPr>
            <a:xfrm>
              <a:off x="1935180" y="2029172"/>
              <a:ext cx="9288654" cy="1660232"/>
            </a:xfrm>
            <a:prstGeom prst="roundRect">
              <a:avLst>
                <a:gd name="adj" fmla="val 10000"/>
              </a:avLst>
            </a:prstGeom>
            <a:solidFill>
              <a:srgbClr val="186923"/>
            </a:solidFill>
            <a:ln w="19050" cap="flat" cmpd="sng">
              <a:solidFill>
                <a:schemeClr val="lt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Google Shape;135;p4"/>
            <p:cNvSpPr txBox="1"/>
            <p:nvPr/>
          </p:nvSpPr>
          <p:spPr>
            <a:xfrm>
              <a:off x="1983806" y="2077799"/>
              <a:ext cx="9240027" cy="156297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44775" tIns="144775" rIns="144775" bIns="144775" anchor="ctr" anchorCtr="0">
              <a:noAutofit/>
            </a:bodyPr>
            <a:lstStyle/>
            <a:p>
              <a:pPr lvl="0">
                <a:lnSpc>
                  <a:spcPct val="90000"/>
                </a:lnSpc>
                <a:buClr>
                  <a:schemeClr val="lt1"/>
                </a:buClr>
                <a:buSzPts val="3800"/>
              </a:pPr>
              <a:r>
                <a:rPr lang="en-IN" sz="2800" b="0" i="0" u="none" strike="noStrike" cap="none" dirty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LO2</a:t>
              </a:r>
              <a:r>
                <a:rPr lang="en-IN" sz="2800" b="0" i="0" u="none" strike="noStrike" cap="none" dirty="0" smtClean="0">
                  <a:solidFill>
                    <a:schemeClr val="l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: </a:t>
              </a:r>
              <a:r>
                <a:rPr lang="en-GB" sz="2500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Arial"/>
                </a:rPr>
                <a:t>Identify and explain overfitting in classification models and apply appropriate techniques to improve model generalization.</a:t>
              </a:r>
            </a:p>
          </p:txBody>
        </p:sp>
        <p:sp>
          <p:nvSpPr>
            <p:cNvPr id="26" name="Google Shape;136;p4"/>
            <p:cNvSpPr/>
            <p:nvPr/>
          </p:nvSpPr>
          <p:spPr>
            <a:xfrm>
              <a:off x="8466195" y="1025289"/>
              <a:ext cx="1079150" cy="1079150"/>
            </a:xfrm>
            <a:prstGeom prst="downArrow">
              <a:avLst>
                <a:gd name="adj1" fmla="val 55000"/>
                <a:gd name="adj2" fmla="val 45000"/>
              </a:avLst>
            </a:prstGeom>
            <a:solidFill>
              <a:srgbClr val="F6D4CC">
                <a:alpha val="89803"/>
              </a:srgbClr>
            </a:solidFill>
            <a:ln w="19050" cap="flat" cmpd="sng">
              <a:solidFill>
                <a:srgbClr val="F6D4CC">
                  <a:alpha val="89803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7" name="Google Shape;137;p4"/>
            <p:cNvSpPr txBox="1"/>
            <p:nvPr/>
          </p:nvSpPr>
          <p:spPr>
            <a:xfrm>
              <a:off x="8748318" y="1311292"/>
              <a:ext cx="593532" cy="8120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3600"/>
                <a:buFont typeface="Arial"/>
                <a:buNone/>
              </a:pPr>
              <a:endParaRPr sz="2400" b="0" i="0" u="none" strike="noStrike" cap="none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740974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DE995B-751B-0A32-5A21-E7C3B8B5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38275" y="854440"/>
            <a:ext cx="9144000" cy="859381"/>
          </a:xfrm>
        </p:spPr>
        <p:txBody>
          <a:bodyPr>
            <a:noAutofit/>
          </a:bodyPr>
          <a:lstStyle/>
          <a:p>
            <a:r>
              <a:rPr lang="en-US" sz="4400" dirty="0" smtClean="0">
                <a:latin typeface="Georgia" panose="02040502050405020303" pitchFamily="18" charset="0"/>
              </a:rPr>
              <a:t>Post </a:t>
            </a:r>
            <a:r>
              <a:rPr lang="en-US" sz="4400" dirty="0">
                <a:latin typeface="Georgia" panose="02040502050405020303" pitchFamily="18" charset="0"/>
              </a:rPr>
              <a:t>S</a:t>
            </a:r>
            <a:r>
              <a:rPr lang="en-US" sz="4400" dirty="0" smtClean="0">
                <a:latin typeface="Georgia" panose="02040502050405020303" pitchFamily="18" charset="0"/>
              </a:rPr>
              <a:t>ession Activity</a:t>
            </a:r>
            <a:endParaRPr lang="en-IN" sz="2000" dirty="0">
              <a:latin typeface="Georgia" panose="02040502050405020303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EF65707-3814-3027-565A-48A3BE9C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30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C592EB9A-7F96-10B0-43BD-B1F95C6FBE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01523D9-5DDB-3527-A0E3-5779C8EBF3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9125" y="2105025"/>
            <a:ext cx="31623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718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BDE995B-751B-0A32-5A21-E7C3B8B54B6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173" y="1128467"/>
            <a:ext cx="10510759" cy="824524"/>
          </a:xfrm>
        </p:spPr>
        <p:txBody>
          <a:bodyPr>
            <a:noAutofit/>
          </a:bodyPr>
          <a:lstStyle/>
          <a:p>
            <a:r>
              <a:rPr lang="en-IN" sz="5400" dirty="0">
                <a:latin typeface="Georgia" panose="02040502050405020303" pitchFamily="18" charset="0"/>
              </a:rPr>
              <a:t>Information about the next lesson</a:t>
            </a:r>
            <a:endParaRPr lang="en-IN" sz="2000" dirty="0">
              <a:latin typeface="Georgia" panose="02040502050405020303" pitchFamily="18" charset="0"/>
            </a:endParaRP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171654" y="2613842"/>
            <a:ext cx="9586912" cy="1278647"/>
          </a:xfrm>
        </p:spPr>
        <p:txBody>
          <a:bodyPr>
            <a:noAutofit/>
          </a:bodyPr>
          <a:lstStyle/>
          <a:p>
            <a:pPr marL="457200" indent="-457200" algn="l">
              <a:buFont typeface="Wingdings" panose="05000000000000000000" pitchFamily="2" charset="2"/>
              <a:buChar char="Ø"/>
            </a:pPr>
            <a:r>
              <a:rPr lang="en-GB" sz="2800" b="1" dirty="0"/>
              <a:t>Supervised Learning: regression and classification problems, Simple Linear Regression</a:t>
            </a:r>
            <a:endParaRPr lang="en-IN" sz="2800" b="1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EF65707-3814-3027-565A-48A3BE9C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31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C592EB9A-7F96-10B0-43BD-B1F95C6FBE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5D834257-EC96-D536-3BBD-72E7CFA64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8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042243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4F6F593-41A2-5797-581D-24AD95F1C7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90691" y="1575601"/>
            <a:ext cx="4805996" cy="1297115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sz="40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Review and Reflection from students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506AAFE-4113-97E4-34C4-18F6BEDEA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32</a:t>
            </a:fld>
            <a:endParaRPr lang="en-IN"/>
          </a:p>
        </p:txBody>
      </p:sp>
      <p:pic>
        <p:nvPicPr>
          <p:cNvPr id="8" name="Picture 7" descr="A blue circle with text and words&#10;&#10;Description automatically generated">
            <a:extLst>
              <a:ext uri="{FF2B5EF4-FFF2-40B4-BE49-F238E27FC236}">
                <a16:creationId xmlns:a16="http://schemas.microsoft.com/office/drawing/2014/main" xmlns="" id="{2D872DDF-4447-626A-EA2D-F25500CB53B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BDEA843D-98A8-0F4E-0617-582CE9651D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xmlns="" id="{89D1390B-7E13-4B4F-9CB2-391063412E54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xmlns="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8" name="Freeform: Shape 13">
              <a:extLst>
                <a:ext uri="{FF2B5EF4-FFF2-40B4-BE49-F238E27FC236}">
                  <a16:creationId xmlns:a16="http://schemas.microsoft.com/office/drawing/2014/main" xmlns="" id="{9E720206-AA49-4786-A932-A2650DE09183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Freeform: Shape 14">
              <a:extLst>
                <a:ext uri="{FF2B5EF4-FFF2-40B4-BE49-F238E27FC236}">
                  <a16:creationId xmlns:a16="http://schemas.microsoft.com/office/drawing/2014/main" xmlns="" id="{C72F6EE6-EDE9-45A5-8F6D-02B9B7CB2C2F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Freeform: Shape 15">
              <a:extLst>
                <a:ext uri="{FF2B5EF4-FFF2-40B4-BE49-F238E27FC236}">
                  <a16:creationId xmlns:a16="http://schemas.microsoft.com/office/drawing/2014/main" xmlns="" id="{C093DC50-3BD7-46B1-A300-CD207E152FF4}"/>
                </a:ext>
                <a:ext uri="{C183D7F6-B498-43B3-948B-1728B52AA6E4}">
                  <adec:decorative xmlns:adec="http://schemas.microsoft.com/office/drawing/2017/decorative" xmlns="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xmlns="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21" name="Graphic 5" descr="Smiling Face with No Fill">
            <a:extLst>
              <a:ext uri="{FF2B5EF4-FFF2-40B4-BE49-F238E27FC236}">
                <a16:creationId xmlns:a16="http://schemas.microsoft.com/office/drawing/2014/main" xmlns="" id="{74418C2F-62A7-9D29-C346-38DEE044062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sp>
        <p:nvSpPr>
          <p:cNvPr id="23" name="Footer Placeholder 5">
            <a:extLst>
              <a:ext uri="{FF2B5EF4-FFF2-40B4-BE49-F238E27FC236}">
                <a16:creationId xmlns:a16="http://schemas.microsoft.com/office/drawing/2014/main" xmlns="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43139" y="6356350"/>
            <a:ext cx="8186736" cy="365125"/>
          </a:xfrm>
        </p:spPr>
        <p:txBody>
          <a:bodyPr/>
          <a:lstStyle/>
          <a:p>
            <a:r>
              <a:rPr lang="en-GB" sz="1400" smtClean="0"/>
              <a:t>Galgotias-Student Centered Active Learning Ecosystem &amp; Date 08-09-2026 </a:t>
            </a: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60189" y="3271986"/>
            <a:ext cx="266700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38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5519</TotalTime>
  <Words>1417</Words>
  <Application>Microsoft Office PowerPoint</Application>
  <PresentationFormat>Widescreen</PresentationFormat>
  <Paragraphs>198</Paragraphs>
  <Slides>32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Georgia</vt:lpstr>
      <vt:lpstr>Times New Roman</vt:lpstr>
      <vt:lpstr>Wingdings</vt:lpstr>
      <vt:lpstr>Office Theme</vt:lpstr>
      <vt:lpstr>Classification: setup, training/test split, overfitting    Session No.: 07 Course Name: Machine Learning Course Code: R1UC525B Instructor Name: Dr. Sivakumar Madeshwaran Duration: 50 Minutes Date of Conduction of Class: 08-09-2026 </vt:lpstr>
      <vt:lpstr>PowerPoint Presentation</vt:lpstr>
      <vt:lpstr>Reflect on the responses of post session activity  </vt:lpstr>
      <vt:lpstr>“Why do we divide a dataset into training and testing data when building a classification model?”</vt:lpstr>
      <vt:lpstr>PowerPoint Presentation</vt:lpstr>
      <vt:lpstr>At the end of this session students will be able to </vt:lpstr>
      <vt:lpstr>Session Outline</vt:lpstr>
      <vt:lpstr> </vt:lpstr>
      <vt:lpstr> </vt:lpstr>
      <vt:lpstr> </vt:lpstr>
      <vt:lpstr> </vt:lpstr>
      <vt:lpstr> </vt:lpstr>
      <vt:lpstr> </vt:lpstr>
      <vt:lpstr> </vt:lpstr>
      <vt:lpstr>PowerPoint Presentation</vt:lpstr>
      <vt:lpstr>PowerPoint Presentation</vt:lpstr>
      <vt:lpstr> </vt:lpstr>
      <vt:lpstr> </vt:lpstr>
      <vt:lpstr>PowerPoint Presentation</vt:lpstr>
      <vt:lpstr>PowerPoint Presentation</vt:lpstr>
      <vt:lpstr>PowerPoint Presentation</vt:lpstr>
      <vt:lpstr>PowerPoint Presentation</vt:lpstr>
      <vt:lpstr> </vt:lpstr>
      <vt:lpstr> </vt:lpstr>
      <vt:lpstr> </vt:lpstr>
      <vt:lpstr> </vt:lpstr>
      <vt:lpstr> </vt:lpstr>
      <vt:lpstr>Summary</vt:lpstr>
      <vt:lpstr>Ensure attainment of LOs in alignment to the learning activities: outcomes (1-2)</vt:lpstr>
      <vt:lpstr>Post Session Activity</vt:lpstr>
      <vt:lpstr>Information about the next lesson</vt:lpstr>
      <vt:lpstr>Review and Reflection from students</vt:lpstr>
    </vt:vector>
  </TitlesOfParts>
  <Company>Hewlett-Packard Company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web:  WWW, Web Browser, Client Server and Communication   Session No.: Course Name:  Course Code: Instructor Name: Duration: Date of Conduction of Class:  </dc:title>
  <dc:creator>Deepak Gupta</dc:creator>
  <cp:lastModifiedBy>Microsoft account</cp:lastModifiedBy>
  <cp:revision>281</cp:revision>
  <dcterms:created xsi:type="dcterms:W3CDTF">2024-08-22T06:33:55Z</dcterms:created>
  <dcterms:modified xsi:type="dcterms:W3CDTF">2026-09-06T12:47:54Z</dcterms:modified>
</cp:coreProperties>
</file>