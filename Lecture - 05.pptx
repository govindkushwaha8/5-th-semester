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2" r:id="rId3"/>
    <p:sldId id="345" r:id="rId4"/>
    <p:sldId id="283" r:id="rId5"/>
    <p:sldId id="298" r:id="rId6"/>
    <p:sldId id="300" r:id="rId7"/>
    <p:sldId id="299" r:id="rId8"/>
    <p:sldId id="285" r:id="rId9"/>
    <p:sldId id="291" r:id="rId10"/>
    <p:sldId id="330" r:id="rId11"/>
    <p:sldId id="346" r:id="rId12"/>
    <p:sldId id="347" r:id="rId13"/>
    <p:sldId id="348" r:id="rId14"/>
    <p:sldId id="341" r:id="rId15"/>
    <p:sldId id="342" r:id="rId16"/>
    <p:sldId id="297" r:id="rId17"/>
    <p:sldId id="284" r:id="rId18"/>
    <p:sldId id="289" r:id="rId19"/>
    <p:sldId id="290" r:id="rId20"/>
    <p:sldId id="281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CE2BF-E837-4849-B11C-0944C199F6A4}" v="228" dt="2024-09-19T16:05:47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 smtClean="0"/>
            <a:t>1 </a:t>
          </a:r>
          <a:r>
            <a:rPr lang="en-GB" dirty="0" smtClean="0"/>
            <a:t>Overview of the Different Approaches in Machine Learning</a:t>
          </a:r>
          <a:endParaRPr lang="en-IN" dirty="0" smtClean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 smtClean="0"/>
            <a:t>2 </a:t>
          </a:r>
          <a:r>
            <a:rPr lang="en-IN" dirty="0" smtClean="0"/>
            <a:t>Activity-1 (</a:t>
          </a:r>
          <a:r>
            <a:rPr lang="en-US" dirty="0" smtClean="0"/>
            <a:t>Think –Pair -Share</a:t>
          </a:r>
          <a:r>
            <a:rPr lang="en-IN" dirty="0" smtClean="0"/>
            <a:t>)</a:t>
          </a:r>
          <a:endParaRPr lang="en-IN" dirty="0" smtClean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 smtClean="0"/>
            <a:t>3 </a:t>
          </a:r>
          <a:r>
            <a:rPr lang="en-IN" dirty="0" smtClean="0"/>
            <a:t>Issue in ML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 smtClean="0"/>
            <a:t>4 </a:t>
          </a:r>
          <a:r>
            <a:rPr lang="en-IN" dirty="0" smtClean="0"/>
            <a:t>Activity-2 (Quiz on Wooflash)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 smtClean="0"/>
            <a:t>5 </a:t>
          </a:r>
          <a:r>
            <a:rPr lang="en-IN" dirty="0" smtClean="0"/>
            <a:t>Review and Reflections</a:t>
          </a: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FF76B5C-2320-4CB5-9844-D984662B1716}" type="pres">
      <dgm:prSet presAssocID="{C8BD7C71-8F1B-400D-96A3-6B553A93EB7F}" presName="thickLine" presStyleLbl="alignNode1" presStyleIdx="0" presStyleCnt="5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5"/>
      <dgm:spPr/>
      <dgm:t>
        <a:bodyPr/>
        <a:lstStyle/>
        <a:p>
          <a:endParaRPr lang="en-IN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5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5"/>
      <dgm:spPr/>
      <dgm:t>
        <a:bodyPr/>
        <a:lstStyle/>
        <a:p>
          <a:endParaRPr lang="en-IN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5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5"/>
      <dgm:spPr/>
      <dgm:t>
        <a:bodyPr/>
        <a:lstStyle/>
        <a:p>
          <a:endParaRPr lang="en-IN"/>
        </a:p>
      </dgm:t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5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5"/>
      <dgm:spPr/>
      <dgm:t>
        <a:bodyPr/>
        <a:lstStyle/>
        <a:p>
          <a:endParaRPr lang="en-IN"/>
        </a:p>
      </dgm:t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5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5"/>
      <dgm:spPr/>
      <dgm:t>
        <a:bodyPr/>
        <a:lstStyle/>
        <a:p>
          <a:endParaRPr lang="en-IN"/>
        </a:p>
      </dgm:t>
    </dgm:pt>
    <dgm:pt modelId="{88DBC881-0983-4C91-8705-CB8A16D50941}" type="pres">
      <dgm:prSet presAssocID="{BA2E5375-FD77-47B4-A888-7387932E6D62}" presName="vert1" presStyleCnt="0"/>
      <dgm:spPr/>
    </dgm:pt>
  </dgm:ptLst>
  <dgm:cxnLst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11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11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1 </a:t>
          </a:r>
          <a:r>
            <a:rPr lang="en-GB" sz="2900" kern="1200" dirty="0" smtClean="0"/>
            <a:t>Overview of the Different Approaches in Machine Learning</a:t>
          </a:r>
          <a:endParaRPr lang="en-IN" sz="2900" kern="1200" dirty="0" smtClean="0"/>
        </a:p>
      </dsp:txBody>
      <dsp:txXfrm>
        <a:off x="0" y="611"/>
        <a:ext cx="6900512" cy="1000833"/>
      </dsp:txXfrm>
    </dsp:sp>
    <dsp:sp modelId="{F83A5B86-9D43-4C81-A6D4-87875817B689}">
      <dsp:nvSpPr>
        <dsp:cNvPr id="0" name=""/>
        <dsp:cNvSpPr/>
      </dsp:nvSpPr>
      <dsp:spPr>
        <a:xfrm>
          <a:off x="0" y="1001444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1001444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2 </a:t>
          </a:r>
          <a:r>
            <a:rPr lang="en-IN" sz="2900" kern="1200" dirty="0" smtClean="0"/>
            <a:t>Activity-1 (</a:t>
          </a:r>
          <a:r>
            <a:rPr lang="en-US" sz="2900" kern="1200" dirty="0" smtClean="0"/>
            <a:t>Think –Pair -Share</a:t>
          </a:r>
          <a:r>
            <a:rPr lang="en-IN" sz="2900" kern="1200" dirty="0" smtClean="0"/>
            <a:t>)</a:t>
          </a:r>
          <a:endParaRPr lang="en-IN" sz="2900" kern="1200" dirty="0" smtClean="0"/>
        </a:p>
      </dsp:txBody>
      <dsp:txXfrm>
        <a:off x="0" y="1001444"/>
        <a:ext cx="6900512" cy="1000833"/>
      </dsp:txXfrm>
    </dsp:sp>
    <dsp:sp modelId="{7EE56E18-6978-43E9-9D4D-E31AA5BEE441}">
      <dsp:nvSpPr>
        <dsp:cNvPr id="0" name=""/>
        <dsp:cNvSpPr/>
      </dsp:nvSpPr>
      <dsp:spPr>
        <a:xfrm>
          <a:off x="0" y="200227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2002277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3 </a:t>
          </a:r>
          <a:r>
            <a:rPr lang="en-IN" sz="2900" kern="1200" dirty="0" smtClean="0"/>
            <a:t>Issue in ML</a:t>
          </a:r>
        </a:p>
      </dsp:txBody>
      <dsp:txXfrm>
        <a:off x="0" y="2002277"/>
        <a:ext cx="6900512" cy="1000833"/>
      </dsp:txXfrm>
    </dsp:sp>
    <dsp:sp modelId="{B514687E-679F-4404-A929-C733AA004539}">
      <dsp:nvSpPr>
        <dsp:cNvPr id="0" name=""/>
        <dsp:cNvSpPr/>
      </dsp:nvSpPr>
      <dsp:spPr>
        <a:xfrm>
          <a:off x="0" y="300311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3003110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4 </a:t>
          </a:r>
          <a:r>
            <a:rPr lang="en-IN" sz="2900" kern="1200" dirty="0" smtClean="0"/>
            <a:t>Activity-2 (Quiz on Wooflash)</a:t>
          </a:r>
          <a:endParaRPr lang="en-US" sz="2900" kern="1200" dirty="0"/>
        </a:p>
      </dsp:txBody>
      <dsp:txXfrm>
        <a:off x="0" y="3003110"/>
        <a:ext cx="6900512" cy="1000833"/>
      </dsp:txXfrm>
    </dsp:sp>
    <dsp:sp modelId="{0B062B2C-FD23-461E-89A1-3ECDF7A567C2}">
      <dsp:nvSpPr>
        <dsp:cNvPr id="0" name=""/>
        <dsp:cNvSpPr/>
      </dsp:nvSpPr>
      <dsp:spPr>
        <a:xfrm>
          <a:off x="0" y="4003943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4003943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5 </a:t>
          </a:r>
          <a:r>
            <a:rPr lang="en-IN" sz="2900" kern="1200" dirty="0" smtClean="0"/>
            <a:t>Review and Reflections</a:t>
          </a:r>
        </a:p>
      </dsp:txBody>
      <dsp:txXfrm>
        <a:off x="0" y="4003943"/>
        <a:ext cx="6900512" cy="1000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09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9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384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2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8521-80DC-4C10-A334-0CD1BEB604DB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3C427-BE3E-4252-BF7C-227E91D46CB3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ECE3F-A447-4055-912E-E46112F85C5D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65C85-7E5E-4340-AFE9-912755D336CC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52E39-4427-4AAA-B8C0-9E26B9DBA2B8}" type="datetime1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0F660-D78A-43B7-B156-884E27938A8B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E719F-1FA3-4949-98A4-334A03E7E87B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DD3F0-05B5-4644-A1B8-62F506C3289D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ECE2-0DD7-4D22-AB2A-BCA56D42B17E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6E40A-6331-44CA-9191-C5E48918E7BA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FD893-5B63-4986-AABB-586288AA07AB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3F2E85-6E5A-4474-A205-D101A8945CA7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smtClean="0"/>
              <a:t>Galgotias-Student Centered Active Learning Ecosystem &amp; Date 21-08-2026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Machine Learning Approaches overview (Regression, Classification, Clustering, Reinforcement Learning, Genetic Algorithm), Issues in Machine Learning</a:t>
            </a: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Session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No.: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05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Machine Learning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R1UC525B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Dr. Sivakumar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Madeshwaran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Minutes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r>
              <a:rPr lang="en-US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21</a:t>
            </a:r>
            <a:r>
              <a:rPr lang="en-US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-08-2026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sp>
        <p:nvSpPr>
          <p:cNvPr id="10" name="Google Shape;97;p11"/>
          <p:cNvSpPr txBox="1">
            <a:spLocks/>
          </p:cNvSpPr>
          <p:nvPr/>
        </p:nvSpPr>
        <p:spPr>
          <a:xfrm>
            <a:off x="4862414" y="155439"/>
            <a:ext cx="2624236" cy="699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3200"/>
            </a:pPr>
            <a:r>
              <a:rPr lang="en-US" sz="2800" b="1" dirty="0" smtClean="0">
                <a:latin typeface="Arial"/>
                <a:ea typeface="Arial"/>
                <a:cs typeface="Arial"/>
                <a:sym typeface="Arial"/>
              </a:rPr>
              <a:t>Recap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07;p11"/>
          <p:cNvSpPr txBox="1">
            <a:spLocks/>
          </p:cNvSpPr>
          <p:nvPr/>
        </p:nvSpPr>
        <p:spPr>
          <a:xfrm>
            <a:off x="455369" y="1146920"/>
            <a:ext cx="10898431" cy="50123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/>
              <a:t>1. </a:t>
            </a:r>
            <a:r>
              <a:rPr lang="en-US" sz="3200" dirty="0" smtClean="0"/>
              <a:t>Which of the following metrics is </a:t>
            </a:r>
            <a:r>
              <a:rPr lang="en-US" sz="3200" i="1" dirty="0" smtClean="0"/>
              <a:t>NOT</a:t>
            </a:r>
            <a:r>
              <a:rPr lang="en-US" sz="3200" dirty="0" smtClean="0"/>
              <a:t> used for regression tasks?</a:t>
            </a:r>
            <a:br>
              <a:rPr lang="en-US" sz="3200" dirty="0" smtClean="0"/>
            </a:br>
            <a:r>
              <a:rPr lang="en-US" sz="3200" dirty="0" smtClean="0"/>
              <a:t>a) Mean Absolute Error (MAE)</a:t>
            </a:r>
            <a:br>
              <a:rPr lang="en-US" sz="3200" dirty="0" smtClean="0"/>
            </a:br>
            <a:r>
              <a:rPr lang="en-US" sz="3200" dirty="0" smtClean="0"/>
              <a:t>b) Root Mean Squared Error (RMSE)</a:t>
            </a:r>
            <a:br>
              <a:rPr lang="en-US" sz="3200" dirty="0" smtClean="0"/>
            </a:br>
            <a:r>
              <a:rPr lang="en-US" sz="3200" dirty="0" smtClean="0"/>
              <a:t>c) R² Score</a:t>
            </a:r>
            <a:br>
              <a:rPr lang="en-US" sz="3200" dirty="0" smtClean="0"/>
            </a:br>
            <a:r>
              <a:rPr lang="en-US" sz="3200" dirty="0" smtClean="0"/>
              <a:t>d) F1 Score</a:t>
            </a:r>
          </a:p>
          <a:p>
            <a:pPr marL="0" indent="0">
              <a:buNone/>
            </a:pPr>
            <a:r>
              <a:rPr lang="en-US" sz="3200" b="1" dirty="0" smtClean="0"/>
              <a:t>2. </a:t>
            </a:r>
            <a:r>
              <a:rPr lang="en-US" sz="3200" dirty="0" smtClean="0"/>
              <a:t>In classification, Recall can be defined as:</a:t>
            </a:r>
            <a:br>
              <a:rPr lang="en-US" sz="3200" dirty="0" smtClean="0"/>
            </a:br>
            <a:r>
              <a:rPr lang="en-US" sz="3200" dirty="0" smtClean="0"/>
              <a:t>a) TP / (TP + FP)</a:t>
            </a:r>
            <a:br>
              <a:rPr lang="en-US" sz="3200" dirty="0" smtClean="0"/>
            </a:br>
            <a:r>
              <a:rPr lang="en-US" sz="3200" dirty="0" smtClean="0"/>
              <a:t>b) TP / (TP + FN)</a:t>
            </a:r>
            <a:br>
              <a:rPr lang="en-US" sz="3200" dirty="0" smtClean="0"/>
            </a:br>
            <a:r>
              <a:rPr lang="en-US" sz="3200" dirty="0" smtClean="0"/>
              <a:t>c) TN / (TN + FP)</a:t>
            </a:r>
            <a:br>
              <a:rPr lang="en-US" sz="3200" dirty="0" smtClean="0"/>
            </a:br>
            <a:r>
              <a:rPr lang="en-US" sz="3200" dirty="0" smtClean="0"/>
              <a:t>d) (TP + TN) / (Total Samples)</a:t>
            </a:r>
          </a:p>
          <a:p>
            <a:pPr marL="0" indent="0">
              <a:buNone/>
            </a:pPr>
            <a:r>
              <a:rPr lang="en-US" sz="3200" b="1" dirty="0" smtClean="0"/>
              <a:t>3. (True/False)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Silhouette Score is a performance metric used in supervised classification tasks.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sp>
        <p:nvSpPr>
          <p:cNvPr id="10" name="Google Shape;97;p11"/>
          <p:cNvSpPr txBox="1">
            <a:spLocks/>
          </p:cNvSpPr>
          <p:nvPr/>
        </p:nvSpPr>
        <p:spPr>
          <a:xfrm>
            <a:off x="4190902" y="176754"/>
            <a:ext cx="5424586" cy="699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3200"/>
            </a:pPr>
            <a:r>
              <a:rPr lang="en-US" sz="2800" b="1" dirty="0" smtClean="0">
                <a:latin typeface="Arial"/>
                <a:ea typeface="Arial"/>
                <a:cs typeface="Arial"/>
                <a:sym typeface="Arial"/>
              </a:rPr>
              <a:t>Recap - Reflections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07;p11"/>
          <p:cNvSpPr txBox="1">
            <a:spLocks/>
          </p:cNvSpPr>
          <p:nvPr/>
        </p:nvSpPr>
        <p:spPr>
          <a:xfrm>
            <a:off x="455369" y="1146920"/>
            <a:ext cx="10898431" cy="50123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/>
              <a:t>1. </a:t>
            </a:r>
            <a:r>
              <a:rPr lang="en-US" sz="3200" dirty="0" smtClean="0"/>
              <a:t>Which of the following metrics is </a:t>
            </a:r>
            <a:r>
              <a:rPr lang="en-US" sz="3200" i="1" dirty="0" smtClean="0"/>
              <a:t>NOT</a:t>
            </a:r>
            <a:r>
              <a:rPr lang="en-US" sz="3200" dirty="0" smtClean="0"/>
              <a:t> used for regression tasks?</a:t>
            </a:r>
            <a:br>
              <a:rPr lang="en-US" sz="3200" dirty="0" smtClean="0"/>
            </a:br>
            <a:r>
              <a:rPr lang="en-US" sz="3200" dirty="0" smtClean="0"/>
              <a:t>a) Mean Absolute Error (MAE)</a:t>
            </a:r>
            <a:br>
              <a:rPr lang="en-US" sz="3200" dirty="0" smtClean="0"/>
            </a:br>
            <a:r>
              <a:rPr lang="en-US" sz="3200" dirty="0" smtClean="0"/>
              <a:t>b) Root Mean Squared Error (RMSE)</a:t>
            </a:r>
            <a:br>
              <a:rPr lang="en-US" sz="3200" dirty="0" smtClean="0"/>
            </a:br>
            <a:r>
              <a:rPr lang="en-US" sz="3200" dirty="0" smtClean="0"/>
              <a:t>c) R² Score</a:t>
            </a:r>
            <a:br>
              <a:rPr lang="en-US" sz="3200" dirty="0" smtClean="0"/>
            </a:br>
            <a:r>
              <a:rPr lang="en-US" sz="3200" b="1" dirty="0" smtClean="0"/>
              <a:t>d) F1 Score</a:t>
            </a:r>
          </a:p>
          <a:p>
            <a:pPr marL="0" indent="0">
              <a:buNone/>
            </a:pPr>
            <a:r>
              <a:rPr lang="en-US" sz="3200" b="1" dirty="0" smtClean="0"/>
              <a:t>2. </a:t>
            </a:r>
            <a:r>
              <a:rPr lang="en-US" sz="3200" dirty="0" smtClean="0"/>
              <a:t>In classification, Recall can be defined as:</a:t>
            </a:r>
            <a:br>
              <a:rPr lang="en-US" sz="3200" dirty="0" smtClean="0"/>
            </a:br>
            <a:r>
              <a:rPr lang="en-US" sz="3200" dirty="0" smtClean="0"/>
              <a:t>a) TP / (TP + FP)</a:t>
            </a:r>
            <a:br>
              <a:rPr lang="en-US" sz="3200" dirty="0" smtClean="0"/>
            </a:br>
            <a:r>
              <a:rPr lang="en-US" sz="3200" b="1" dirty="0" smtClean="0"/>
              <a:t>b) TP / (TP + FN)</a:t>
            </a:r>
            <a:br>
              <a:rPr lang="en-US" sz="3200" b="1" dirty="0" smtClean="0"/>
            </a:br>
            <a:r>
              <a:rPr lang="en-US" sz="3200" dirty="0" smtClean="0"/>
              <a:t>c) TN / (TN + FP)</a:t>
            </a:r>
            <a:br>
              <a:rPr lang="en-US" sz="3200" dirty="0" smtClean="0"/>
            </a:br>
            <a:r>
              <a:rPr lang="en-US" sz="3200" dirty="0" smtClean="0"/>
              <a:t>d) (TP + TN) / (Total Samples)</a:t>
            </a:r>
          </a:p>
          <a:p>
            <a:pPr marL="0" indent="0">
              <a:buNone/>
            </a:pPr>
            <a:r>
              <a:rPr lang="en-US" sz="3200" b="1" dirty="0" smtClean="0"/>
              <a:t>3. (True/False)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Silhouette Score is a performance metric used in supervised classification tasks.</a:t>
            </a:r>
          </a:p>
          <a:p>
            <a:pPr marL="114300" indent="0">
              <a:buFont typeface="Arial" panose="020B0604020202020204" pitchFamily="34" charset="0"/>
              <a:buNone/>
            </a:pPr>
            <a:r>
              <a:rPr lang="en-US" sz="3200" b="1" dirty="0" smtClean="0"/>
              <a:t>Answer:</a:t>
            </a:r>
            <a:r>
              <a:rPr lang="en-US" sz="3200" dirty="0" smtClean="0"/>
              <a:t> </a:t>
            </a:r>
            <a:r>
              <a:rPr lang="en-US" sz="3200" b="1" dirty="0" smtClean="0"/>
              <a:t>False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8458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="" xmlns:a16="http://schemas.microsoft.com/office/drawing/2014/main" id="{B5812380-04B5-06B6-8506-DF79A9EF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98757"/>
            <a:ext cx="6780700" cy="3458156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481028" y="1101601"/>
            <a:ext cx="10872771" cy="115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Clr>
                <a:schemeClr val="lt1"/>
              </a:buClr>
              <a:buSzPts val="4000"/>
            </a:pP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“How can a machine learning system learn to make predictions or decisions from data</a:t>
            </a:r>
            <a:r>
              <a:rPr lang="en-GB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  <a:endParaRPr sz="4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5D34F9C-1388-82D8-8D48-0BF8C51BEFDE}"/>
              </a:ext>
            </a:extLst>
          </p:cNvPr>
          <p:cNvSpPr txBox="1"/>
          <p:nvPr/>
        </p:nvSpPr>
        <p:spPr>
          <a:xfrm>
            <a:off x="4519397" y="405155"/>
            <a:ext cx="519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15" name="Google Shape;162;p4" descr="What is an Emoji? - Answered - Twinkl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591" y="2728662"/>
            <a:ext cx="2023877" cy="20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334" y="2882558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5D34F9C-1388-82D8-8D48-0BF8C51BEFDE}"/>
              </a:ext>
            </a:extLst>
          </p:cNvPr>
          <p:cNvSpPr txBox="1"/>
          <p:nvPr/>
        </p:nvSpPr>
        <p:spPr>
          <a:xfrm>
            <a:off x="4005498" y="208109"/>
            <a:ext cx="679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 -Reflections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623" y="1153892"/>
            <a:ext cx="10324943" cy="49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the end of this session students will be able to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and differentiate major machine learning approaches, including Regression, Classification, Clustering, Reinforcement Learning, and Genetic Algorithms, with suitable examples.</a:t>
              </a:r>
              <a:endParaRPr lang="en-GB" sz="2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Identify and discuss key issues in machine learning</a:t>
              </a:r>
              <a:r>
                <a:rPr lang="en-GB" sz="25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.</a:t>
              </a:r>
              <a:endParaRPr lang="en-GB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67265" y="6356350"/>
            <a:ext cx="7133947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21-08-2026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9031655"/>
              </p:ext>
            </p:extLst>
          </p:nvPr>
        </p:nvGraphicFramePr>
        <p:xfrm>
          <a:off x="4305118" y="1218583"/>
          <a:ext cx="6900512" cy="5005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900566" y="245794"/>
            <a:ext cx="677867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Approaches  in Machine Learning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79376" y="993343"/>
            <a:ext cx="1123324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Machine Learning can broadly be divided into several approaches depending on the type of task, </a:t>
            </a:r>
            <a:r>
              <a:rPr lang="en-US" dirty="0" smtClean="0"/>
              <a:t>supervision </a:t>
            </a:r>
            <a:r>
              <a:rPr lang="en-US" dirty="0"/>
              <a:t>and learning strategy.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Classification</a:t>
            </a:r>
          </a:p>
          <a:p>
            <a:r>
              <a:rPr lang="en-US" b="1" dirty="0" smtClean="0"/>
              <a:t>Definition</a:t>
            </a:r>
            <a:r>
              <a:rPr lang="en-US" dirty="0"/>
              <a:t>: A supervised learning method where the output is a </a:t>
            </a:r>
            <a:r>
              <a:rPr lang="en-US" b="1" dirty="0"/>
              <a:t>discrete label</a:t>
            </a:r>
            <a:r>
              <a:rPr lang="en-US" dirty="0"/>
              <a:t> (category).</a:t>
            </a:r>
          </a:p>
          <a:p>
            <a:r>
              <a:rPr lang="en-US" b="1" dirty="0"/>
              <a:t>Goal</a:t>
            </a:r>
            <a:r>
              <a:rPr lang="en-US" dirty="0"/>
              <a:t>: Classify input data into one of several classes.</a:t>
            </a:r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Spam vs. Not Spam email detection.</a:t>
            </a:r>
          </a:p>
          <a:p>
            <a:pPr lvl="1"/>
            <a:r>
              <a:rPr lang="en-US" dirty="0"/>
              <a:t>Handwritten digit recognition.</a:t>
            </a:r>
          </a:p>
          <a:p>
            <a:pPr lvl="1"/>
            <a:r>
              <a:rPr lang="en-US" dirty="0"/>
              <a:t>Disease diagnosis (positive/negative).</a:t>
            </a:r>
          </a:p>
          <a:p>
            <a:r>
              <a:rPr lang="en-US" b="1" dirty="0"/>
              <a:t>Common Algorithms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Logistic Regression</a:t>
            </a:r>
          </a:p>
          <a:p>
            <a:pPr lvl="1"/>
            <a:r>
              <a:rPr lang="en-US" dirty="0"/>
              <a:t>Decision Trees &amp; Random Forests</a:t>
            </a:r>
          </a:p>
          <a:p>
            <a:pPr lvl="1"/>
            <a:r>
              <a:rPr lang="en-US" dirty="0"/>
              <a:t>Naïve Bayes</a:t>
            </a:r>
          </a:p>
          <a:p>
            <a:pPr lvl="1"/>
            <a:r>
              <a:rPr lang="en-US" dirty="0"/>
              <a:t>k-Nearest Neighbors </a:t>
            </a:r>
            <a:r>
              <a:rPr lang="en-US" dirty="0" smtClean="0"/>
              <a:t>(KNN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Support Vector Machines (SVM)</a:t>
            </a:r>
          </a:p>
          <a:p>
            <a:pPr lvl="1"/>
            <a:r>
              <a:rPr lang="en-US" dirty="0"/>
              <a:t>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8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sp>
        <p:nvSpPr>
          <p:cNvPr id="10" name="Google Shape;181;p8"/>
          <p:cNvSpPr txBox="1"/>
          <p:nvPr/>
        </p:nvSpPr>
        <p:spPr>
          <a:xfrm>
            <a:off x="385764" y="854440"/>
            <a:ext cx="11247534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Regression</a:t>
            </a:r>
          </a:p>
          <a:p>
            <a:r>
              <a:rPr lang="en-US" sz="2000" b="1" dirty="0" smtClean="0"/>
              <a:t>Definition</a:t>
            </a:r>
            <a:r>
              <a:rPr lang="en-US" sz="2000" dirty="0"/>
              <a:t>: A supervised learning method where the output is a </a:t>
            </a:r>
            <a:r>
              <a:rPr lang="en-US" sz="2000" b="1" dirty="0"/>
              <a:t>continuous value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Goal</a:t>
            </a:r>
            <a:r>
              <a:rPr lang="en-US" sz="2000" dirty="0"/>
              <a:t>: Predict numerical outcomes based on input features.</a:t>
            </a:r>
          </a:p>
          <a:p>
            <a:r>
              <a:rPr lang="en-US" sz="2000" b="1" dirty="0" smtClean="0"/>
              <a:t>Examples</a:t>
            </a:r>
            <a:r>
              <a:rPr lang="en-US" sz="2000" dirty="0"/>
              <a:t>:</a:t>
            </a:r>
          </a:p>
          <a:p>
            <a:r>
              <a:rPr lang="en-US" sz="2000" dirty="0"/>
              <a:t>Predicting house prices from size, location, and amenities.</a:t>
            </a:r>
          </a:p>
          <a:p>
            <a:r>
              <a:rPr lang="en-US" sz="2000" dirty="0"/>
              <a:t>Estimating stock prices.</a:t>
            </a:r>
          </a:p>
          <a:p>
            <a:endParaRPr lang="en-US" sz="2000" dirty="0"/>
          </a:p>
          <a:p>
            <a:r>
              <a:rPr lang="en-US" sz="2000" b="1" dirty="0"/>
              <a:t>Common Algorithms</a:t>
            </a:r>
            <a:r>
              <a:rPr lang="en-US" sz="2000" dirty="0"/>
              <a:t>:</a:t>
            </a:r>
          </a:p>
          <a:p>
            <a:r>
              <a:rPr lang="en-US" sz="2000" dirty="0"/>
              <a:t>Linear Regression</a:t>
            </a:r>
          </a:p>
          <a:p>
            <a:r>
              <a:rPr lang="en-US" sz="2000" dirty="0"/>
              <a:t>Polynomial Regression</a:t>
            </a:r>
          </a:p>
          <a:p>
            <a:r>
              <a:rPr lang="en-US" sz="2000" dirty="0"/>
              <a:t>Ridge and Lasso Regression</a:t>
            </a:r>
          </a:p>
          <a:p>
            <a:r>
              <a:rPr lang="en-US" sz="2000" dirty="0"/>
              <a:t>Support Vector Regression (SVR)</a:t>
            </a:r>
          </a:p>
          <a:p>
            <a:r>
              <a:rPr lang="en-US" sz="2000" dirty="0"/>
              <a:t>Neural Network </a:t>
            </a:r>
            <a:r>
              <a:rPr lang="en-US" sz="2000" dirty="0" smtClean="0"/>
              <a:t>Regression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3900566" y="245794"/>
            <a:ext cx="677867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Approaches  in Machine Learning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212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sp>
        <p:nvSpPr>
          <p:cNvPr id="10" name="Google Shape;181;p8"/>
          <p:cNvSpPr txBox="1"/>
          <p:nvPr/>
        </p:nvSpPr>
        <p:spPr>
          <a:xfrm>
            <a:off x="385764" y="1115100"/>
            <a:ext cx="11247534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Clustering</a:t>
            </a:r>
          </a:p>
          <a:p>
            <a:r>
              <a:rPr lang="en-US" sz="2000" b="1" dirty="0" smtClean="0"/>
              <a:t>Definition</a:t>
            </a:r>
            <a:r>
              <a:rPr lang="en-US" sz="2000" dirty="0"/>
              <a:t>:  An </a:t>
            </a:r>
            <a:r>
              <a:rPr lang="en-US" sz="2000" b="1" dirty="0"/>
              <a:t>unsupervised learning</a:t>
            </a:r>
            <a:r>
              <a:rPr lang="en-US" sz="2000" dirty="0"/>
              <a:t> technique where data is grouped into clusters based on similarity.</a:t>
            </a:r>
          </a:p>
          <a:p>
            <a:endParaRPr lang="en-US" sz="2000" dirty="0"/>
          </a:p>
          <a:p>
            <a:r>
              <a:rPr lang="en-US" sz="2000" b="1" dirty="0"/>
              <a:t>Goal</a:t>
            </a:r>
            <a:r>
              <a:rPr lang="en-US" sz="2000" dirty="0"/>
              <a:t>:  Discover hidden patterns or groupings without labeled data.</a:t>
            </a:r>
          </a:p>
          <a:p>
            <a:endParaRPr lang="en-US" sz="2000" dirty="0"/>
          </a:p>
          <a:p>
            <a:r>
              <a:rPr lang="en-US" sz="2000" b="1" dirty="0"/>
              <a:t>Examples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Customer segmentation in marketing.</a:t>
            </a:r>
          </a:p>
          <a:p>
            <a:pPr lvl="1"/>
            <a:r>
              <a:rPr lang="en-US" sz="2000" dirty="0"/>
              <a:t>Image compression.</a:t>
            </a:r>
          </a:p>
          <a:p>
            <a:pPr lvl="1"/>
            <a:r>
              <a:rPr lang="en-US" sz="2000" dirty="0"/>
              <a:t>Grouping genes with similar expression patterns.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Common Algorithms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k-Means Clustering</a:t>
            </a:r>
          </a:p>
          <a:p>
            <a:pPr lvl="1"/>
            <a:r>
              <a:rPr lang="en-US" sz="2000" dirty="0"/>
              <a:t>Hierarchical Clustering</a:t>
            </a:r>
          </a:p>
          <a:p>
            <a:pPr lvl="1"/>
            <a:r>
              <a:rPr lang="en-US" sz="2000" dirty="0"/>
              <a:t>DBSCAN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3900566" y="245794"/>
            <a:ext cx="677867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Approaches  in Machine Learning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018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sp>
        <p:nvSpPr>
          <p:cNvPr id="10" name="Google Shape;181;p8"/>
          <p:cNvSpPr txBox="1"/>
          <p:nvPr/>
        </p:nvSpPr>
        <p:spPr>
          <a:xfrm>
            <a:off x="385764" y="986032"/>
            <a:ext cx="11247534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Reinforcement </a:t>
            </a:r>
            <a:r>
              <a:rPr lang="en-US" sz="2000" b="1" dirty="0">
                <a:solidFill>
                  <a:srgbClr val="FF0000"/>
                </a:solidFill>
              </a:rPr>
              <a:t>Learning (RL)</a:t>
            </a:r>
          </a:p>
          <a:p>
            <a:r>
              <a:rPr lang="en-US" sz="2000" b="1" dirty="0" smtClean="0"/>
              <a:t>Definition</a:t>
            </a:r>
            <a:r>
              <a:rPr lang="en-US" sz="2000" dirty="0"/>
              <a:t>: A learning approach where an </a:t>
            </a:r>
            <a:r>
              <a:rPr lang="en-US" sz="2000" b="1" dirty="0"/>
              <a:t>agent interacts with an environment</a:t>
            </a:r>
            <a:r>
              <a:rPr lang="en-US" sz="2000" dirty="0"/>
              <a:t>, learning through </a:t>
            </a:r>
            <a:r>
              <a:rPr lang="en-US" sz="2000" b="1" dirty="0"/>
              <a:t>trial and error</a:t>
            </a:r>
            <a:r>
              <a:rPr lang="en-US" sz="2000" dirty="0"/>
              <a:t> by receiving rewards or penalties.</a:t>
            </a:r>
          </a:p>
          <a:p>
            <a:r>
              <a:rPr lang="en-US" sz="2000" b="1" dirty="0"/>
              <a:t>Goal</a:t>
            </a:r>
            <a:r>
              <a:rPr lang="en-US" sz="2000" dirty="0"/>
              <a:t>: Maximize cumulative reward by learning the best strategy (policy).</a:t>
            </a:r>
          </a:p>
          <a:p>
            <a:r>
              <a:rPr lang="en-US" sz="2000" b="1" dirty="0"/>
              <a:t>Examples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Game playing (Chess, Go, Atari).</a:t>
            </a:r>
          </a:p>
          <a:p>
            <a:pPr lvl="1"/>
            <a:r>
              <a:rPr lang="en-US" sz="2000" dirty="0"/>
              <a:t>Self-driving cars.</a:t>
            </a:r>
          </a:p>
          <a:p>
            <a:pPr lvl="1"/>
            <a:r>
              <a:rPr lang="en-US" sz="2000" dirty="0"/>
              <a:t>Robotics path planning.</a:t>
            </a:r>
          </a:p>
          <a:p>
            <a:r>
              <a:rPr lang="en-US" sz="2000" b="1" dirty="0"/>
              <a:t>Key Concepts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Agent, Environment, State, Action, Reward.</a:t>
            </a:r>
          </a:p>
          <a:p>
            <a:pPr lvl="1"/>
            <a:r>
              <a:rPr lang="en-US" sz="2000" dirty="0"/>
              <a:t>Policies (mapping from state → action).</a:t>
            </a:r>
          </a:p>
          <a:p>
            <a:pPr lvl="1"/>
            <a:r>
              <a:rPr lang="en-US" sz="2000" dirty="0"/>
              <a:t>Value functions (estimating long-term rewards).</a:t>
            </a:r>
          </a:p>
          <a:p>
            <a:r>
              <a:rPr lang="en-US" sz="2000" b="1" dirty="0"/>
              <a:t>Common Algorithms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Q-Learning</a:t>
            </a:r>
          </a:p>
          <a:p>
            <a:pPr lvl="1"/>
            <a:r>
              <a:rPr lang="en-US" sz="2000" dirty="0"/>
              <a:t>Deep Q-Networks (DQN)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3900566" y="245794"/>
            <a:ext cx="677867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Approaches  in Machine Learning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41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sp>
        <p:nvSpPr>
          <p:cNvPr id="10" name="Google Shape;181;p8"/>
          <p:cNvSpPr txBox="1"/>
          <p:nvPr/>
        </p:nvSpPr>
        <p:spPr>
          <a:xfrm>
            <a:off x="385764" y="986032"/>
            <a:ext cx="11247534" cy="513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Genetic Algorithm (GA)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b="1" dirty="0"/>
              <a:t>Definition</a:t>
            </a:r>
            <a:r>
              <a:rPr lang="en-US" dirty="0"/>
              <a:t>: An </a:t>
            </a:r>
            <a:r>
              <a:rPr lang="en-US" b="1" dirty="0"/>
              <a:t>optimization and search heuristic</a:t>
            </a:r>
            <a:r>
              <a:rPr lang="en-US" dirty="0"/>
              <a:t> inspired by natural evolution (Darwin’s survival of the fittest).</a:t>
            </a:r>
          </a:p>
          <a:p>
            <a:endParaRPr lang="en-US" dirty="0"/>
          </a:p>
          <a:p>
            <a:r>
              <a:rPr lang="en-US" b="1" dirty="0"/>
              <a:t>Goal</a:t>
            </a:r>
            <a:r>
              <a:rPr lang="en-US" dirty="0"/>
              <a:t>: Evolve the best solution to a problem using genetic operators.</a:t>
            </a:r>
          </a:p>
          <a:p>
            <a:endParaRPr lang="en-US" dirty="0"/>
          </a:p>
          <a:p>
            <a:r>
              <a:rPr lang="en-US" b="1" dirty="0"/>
              <a:t>Process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Initialize population (candidate solutions).</a:t>
            </a:r>
          </a:p>
          <a:p>
            <a:pPr lvl="1"/>
            <a:r>
              <a:rPr lang="en-US" dirty="0"/>
              <a:t>Evaluate fitness of each candidate.</a:t>
            </a:r>
          </a:p>
          <a:p>
            <a:pPr lvl="1"/>
            <a:r>
              <a:rPr lang="en-US" dirty="0"/>
              <a:t>Select parents based on fitness.</a:t>
            </a:r>
          </a:p>
          <a:p>
            <a:pPr lvl="1"/>
            <a:r>
              <a:rPr lang="en-US" dirty="0"/>
              <a:t>Apply crossover and mutation.</a:t>
            </a:r>
          </a:p>
          <a:p>
            <a:pPr lvl="1"/>
            <a:r>
              <a:rPr lang="en-US" dirty="0"/>
              <a:t>Generate new population → repeat until optimal solution found.</a:t>
            </a:r>
          </a:p>
          <a:p>
            <a:pPr lvl="1"/>
            <a:endParaRPr lang="en-US" dirty="0"/>
          </a:p>
          <a:p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Feature selection in ML.</a:t>
            </a:r>
          </a:p>
          <a:p>
            <a:pPr lvl="1"/>
            <a:r>
              <a:rPr lang="en-US" dirty="0"/>
              <a:t>Neural network weight optimization.</a:t>
            </a:r>
          </a:p>
          <a:p>
            <a:pPr lvl="1"/>
            <a:r>
              <a:rPr lang="en-US" dirty="0"/>
              <a:t>Scheduling and planning problems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900566" y="245794"/>
            <a:ext cx="677867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5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Approaches  in Machine Learning</a:t>
            </a:r>
            <a:endParaRPr lang="en-GB" sz="25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763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sp>
        <p:nvSpPr>
          <p:cNvPr id="11" name="Google Shape;131;p5">
            <a:extLst>
              <a:ext uri="{FF2B5EF4-FFF2-40B4-BE49-F238E27FC236}">
                <a16:creationId xmlns:a16="http://schemas.microsoft.com/office/drawing/2014/main" xmlns="" id="{CB132406-BCA1-1FC8-B6BE-79682FA2EBAA}"/>
              </a:ext>
            </a:extLst>
          </p:cNvPr>
          <p:cNvSpPr txBox="1">
            <a:spLocks/>
          </p:cNvSpPr>
          <p:nvPr/>
        </p:nvSpPr>
        <p:spPr>
          <a:xfrm>
            <a:off x="257175" y="1246875"/>
            <a:ext cx="11376123" cy="11485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FFFFFF"/>
              </a:buClr>
              <a:buSzPct val="100000"/>
            </a:pPr>
            <a:r>
              <a:rPr lang="en-GB" sz="27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</a:t>
            </a:r>
            <a:r>
              <a:rPr lang="en-GB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you had to teach a computer to predict house prices, spam email, group customers by buying habits, or play chess, what would you need to give it first?</a:t>
            </a:r>
            <a:endParaRPr lang="en-GB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30020" y="298769"/>
            <a:ext cx="5642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Activity-1: Think-pair-share</a:t>
            </a:r>
            <a:endParaRPr lang="en-IN" sz="24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185075"/>
              </p:ext>
            </p:extLst>
          </p:nvPr>
        </p:nvGraphicFramePr>
        <p:xfrm>
          <a:off x="666751" y="2575850"/>
          <a:ext cx="10687049" cy="3327400"/>
        </p:xfrm>
        <a:graphic>
          <a:graphicData uri="http://schemas.openxmlformats.org/drawingml/2006/table">
            <a:tbl>
              <a:tblPr firstRow="1" bandRow="1"/>
              <a:tblGrid>
                <a:gridCol w="36074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074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4721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How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Predict house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data with house size, location, price.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Spam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Emails labeled spam / not spam.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Group</a:t>
                      </a:r>
                      <a:r>
                        <a:rPr lang="en-US" baseline="0" dirty="0"/>
                        <a:t> customers by buying habits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Purchase history (no labels).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 chess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Rewards for wins/losses.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Genetic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</a:t>
                      </a:r>
                      <a:r>
                        <a:rPr lang="en-US" baseline="0" dirty="0"/>
                        <a:t> out best solution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20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sp>
        <p:nvSpPr>
          <p:cNvPr id="10" name="Google Shape;191;p9">
            <a:extLst>
              <a:ext uri="{FF2B5EF4-FFF2-40B4-BE49-F238E27FC236}">
                <a16:creationId xmlns:a16="http://schemas.microsoft.com/office/drawing/2014/main" xmlns="" id="{F2694849-DB94-C349-52CE-E41EBBE4E72B}"/>
              </a:ext>
            </a:extLst>
          </p:cNvPr>
          <p:cNvSpPr txBox="1"/>
          <p:nvPr/>
        </p:nvSpPr>
        <p:spPr>
          <a:xfrm>
            <a:off x="442913" y="1066476"/>
            <a:ext cx="11190385" cy="523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 smtClean="0"/>
              <a:t>Despite </a:t>
            </a:r>
            <a:r>
              <a:rPr lang="en-US" sz="2000" b="1" dirty="0"/>
              <a:t>its power, ML faces several challenges:</a:t>
            </a:r>
          </a:p>
          <a:p>
            <a:r>
              <a:rPr lang="en-US" sz="2000" b="1" dirty="0" smtClean="0"/>
              <a:t>1. Data-Related </a:t>
            </a:r>
            <a:r>
              <a:rPr lang="en-US" sz="2000" b="1" dirty="0"/>
              <a:t>Issues</a:t>
            </a:r>
          </a:p>
          <a:p>
            <a:r>
              <a:rPr lang="en-US" sz="1800" b="1" dirty="0"/>
              <a:t>Insufficient Data</a:t>
            </a:r>
            <a:r>
              <a:rPr lang="en-US" sz="1800" dirty="0"/>
              <a:t>: ML needs lots of labeled data; small datasets → overfitting.</a:t>
            </a:r>
          </a:p>
          <a:p>
            <a:r>
              <a:rPr lang="en-US" sz="1800" b="1" dirty="0"/>
              <a:t>Noisy Data</a:t>
            </a:r>
            <a:r>
              <a:rPr lang="en-US" sz="1800" dirty="0"/>
              <a:t>: Incorrect or inconsistent data reduces accuracy.</a:t>
            </a:r>
          </a:p>
          <a:p>
            <a:r>
              <a:rPr lang="en-US" sz="1800" b="1" dirty="0"/>
              <a:t>Imbalanced Data</a:t>
            </a:r>
            <a:r>
              <a:rPr lang="en-US" sz="1800" dirty="0"/>
              <a:t>: Some classes dominate (e.g., fraud detection → very few fraud cases).</a:t>
            </a:r>
          </a:p>
          <a:p>
            <a:r>
              <a:rPr lang="en-US" sz="1800" b="1" dirty="0"/>
              <a:t>High Dimensionality</a:t>
            </a:r>
            <a:r>
              <a:rPr lang="en-US" sz="1800" dirty="0"/>
              <a:t>: Too many features (curse of dimensionality).</a:t>
            </a:r>
          </a:p>
          <a:p>
            <a:endParaRPr lang="en-US" sz="1800" dirty="0"/>
          </a:p>
          <a:p>
            <a:r>
              <a:rPr lang="en-US" sz="2000" b="1" dirty="0"/>
              <a:t>2. Algorithmic Issues</a:t>
            </a:r>
          </a:p>
          <a:p>
            <a:r>
              <a:rPr lang="en-US" sz="1800" b="1" dirty="0"/>
              <a:t>Overfitting</a:t>
            </a:r>
            <a:r>
              <a:rPr lang="en-US" sz="1800" dirty="0"/>
              <a:t>: Model learns noise instead of patterns → poor generalization.</a:t>
            </a:r>
          </a:p>
          <a:p>
            <a:r>
              <a:rPr lang="en-US" sz="1800" b="1" dirty="0" err="1"/>
              <a:t>Underfitting</a:t>
            </a:r>
            <a:r>
              <a:rPr lang="en-US" sz="1800" dirty="0"/>
              <a:t>: Model too simple → fails to capture relationships.</a:t>
            </a:r>
          </a:p>
          <a:p>
            <a:r>
              <a:rPr lang="en-US" sz="1800" b="1" dirty="0"/>
              <a:t>Scalability</a:t>
            </a:r>
            <a:r>
              <a:rPr lang="en-US" sz="1800" dirty="0"/>
              <a:t>: Many algorithms don’t work well with big data.</a:t>
            </a:r>
          </a:p>
          <a:p>
            <a:r>
              <a:rPr lang="en-US" sz="1800" b="1" dirty="0"/>
              <a:t>Model Interpretability</a:t>
            </a:r>
            <a:r>
              <a:rPr lang="en-US" sz="1800" dirty="0"/>
              <a:t>: Complex models (deep learning) are black-boxes.</a:t>
            </a:r>
          </a:p>
          <a:p>
            <a:endParaRPr lang="en-US" sz="2000" dirty="0"/>
          </a:p>
          <a:p>
            <a:r>
              <a:rPr lang="en-US" sz="2000" b="1" dirty="0"/>
              <a:t>3. Computational Issues</a:t>
            </a:r>
          </a:p>
          <a:p>
            <a:r>
              <a:rPr lang="en-US" sz="1800" b="1" dirty="0"/>
              <a:t>High Computational Cost</a:t>
            </a:r>
            <a:r>
              <a:rPr lang="en-US" sz="1800" dirty="0"/>
              <a:t>: Training large ML models is resource-intensive.</a:t>
            </a:r>
          </a:p>
          <a:p>
            <a:r>
              <a:rPr lang="en-US" sz="1800" b="1" dirty="0"/>
              <a:t>Real-Time Learning</a:t>
            </a:r>
            <a:r>
              <a:rPr lang="en-US" sz="1800" dirty="0"/>
              <a:t>: Some applications (self-driving cars) need instant decisions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4096303" y="191744"/>
            <a:ext cx="60335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Issues in Machine Learning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6538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95841" y="336722"/>
            <a:ext cx="59245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Activity 2: </a:t>
            </a:r>
            <a:r>
              <a:rPr lang="en-IN" sz="3200" b="1" dirty="0" smtClean="0"/>
              <a:t>Rapid Quiz</a:t>
            </a:r>
            <a:endParaRPr lang="en-IN" sz="3200" b="1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275" y="1900238"/>
            <a:ext cx="32194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1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FC14F6-7B57-DCCF-E6C1-F00D5A0C0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2061" y="256690"/>
            <a:ext cx="3781425" cy="540216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Summary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57188" y="1051486"/>
            <a:ext cx="1127611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Machine Learning offers multiple </a:t>
            </a:r>
            <a:r>
              <a:rPr lang="en-US" sz="2200" b="1" dirty="0"/>
              <a:t>approaches</a:t>
            </a:r>
            <a:r>
              <a:rPr lang="en-US" sz="2200" dirty="0"/>
              <a:t> — Regression, Classification, Clustering, Reinforcement Learning, and Genetic Algorithms — each suitable for different types of problems</a:t>
            </a:r>
            <a:r>
              <a:rPr lang="en-US" sz="2200" dirty="0" smtClean="0"/>
              <a:t>.</a:t>
            </a:r>
          </a:p>
          <a:p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Success in ML heavily depends on </a:t>
            </a:r>
            <a:r>
              <a:rPr lang="en-US" sz="2200" b="1" dirty="0"/>
              <a:t>quality training data</a:t>
            </a:r>
            <a:r>
              <a:rPr lang="en-US" sz="2200" dirty="0"/>
              <a:t>, proper </a:t>
            </a:r>
            <a:r>
              <a:rPr lang="en-US" sz="2200" b="1" dirty="0"/>
              <a:t>concept representation</a:t>
            </a:r>
            <a:r>
              <a:rPr lang="en-US" sz="2200" dirty="0"/>
              <a:t>, and effective </a:t>
            </a:r>
            <a:r>
              <a:rPr lang="en-US" sz="2200" b="1" dirty="0"/>
              <a:t>function approximation</a:t>
            </a:r>
            <a:r>
              <a:rPr lang="en-US" sz="2200" dirty="0" smtClean="0"/>
              <a:t>.</a:t>
            </a:r>
          </a:p>
          <a:p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While ML provides powerful solutions across domains (healthcare, finance, robotics, etc.), it faces </a:t>
            </a:r>
            <a:r>
              <a:rPr lang="en-US" sz="2200" b="1" dirty="0"/>
              <a:t>challenges</a:t>
            </a:r>
            <a:r>
              <a:rPr lang="en-US" sz="2200" dirty="0"/>
              <a:t> such as data limitations, algorithmic trade-offs, scalability, interpretability, and ethical concerns</a:t>
            </a:r>
            <a:r>
              <a:rPr lang="en-US" sz="2200" dirty="0" smtClean="0"/>
              <a:t>.</a:t>
            </a:r>
          </a:p>
          <a:p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Future directions focus on developing </a:t>
            </a:r>
            <a:r>
              <a:rPr lang="en-US" sz="2200" b="1" dirty="0"/>
              <a:t>more explainable, fair, efficient, and robust ML systems</a:t>
            </a:r>
            <a:r>
              <a:rPr lang="en-US" sz="2200" dirty="0"/>
              <a:t> that can work effectively in real-world, dynamic environments.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grpSp>
        <p:nvGrpSpPr>
          <p:cNvPr id="14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5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and differentiate major machine learning approaches, including Regression, Classification, Clustering, Reinforcement Learning, and Genetic Algorithms, with suitable examples.</a:t>
              </a:r>
              <a:endParaRPr lang="en-GB" sz="2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Identify and discuss key issues in machine learning</a:t>
              </a:r>
              <a:r>
                <a:rPr lang="en-GB" sz="25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.</a:t>
              </a:r>
              <a:endParaRPr lang="en-GB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854440"/>
            <a:ext cx="9144000" cy="859381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Georgia" panose="02040502050405020303" pitchFamily="18" charset="0"/>
              </a:rPr>
              <a:t>Post </a:t>
            </a:r>
            <a:r>
              <a:rPr lang="en-US" sz="4400" dirty="0">
                <a:latin typeface="Georgia" panose="02040502050405020303" pitchFamily="18" charset="0"/>
              </a:rPr>
              <a:t>S</a:t>
            </a:r>
            <a:r>
              <a:rPr lang="en-US" sz="4400" dirty="0" smtClean="0">
                <a:latin typeface="Georgia" panose="02040502050405020303" pitchFamily="18" charset="0"/>
              </a:rPr>
              <a:t>ession Activity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01523D9-5DDB-3527-A0E3-5779C8EB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12" y="2468223"/>
            <a:ext cx="31337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73" y="1128467"/>
            <a:ext cx="10510759" cy="824524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1654" y="2613842"/>
            <a:ext cx="9586912" cy="1278647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2800" b="1" dirty="0"/>
              <a:t>Data Science </a:t>
            </a:r>
            <a:r>
              <a:rPr lang="en-GB" sz="2800" b="1" dirty="0" err="1"/>
              <a:t>vs</a:t>
            </a:r>
            <a:r>
              <a:rPr lang="en-GB" sz="2800" b="1" dirty="0"/>
              <a:t> ML </a:t>
            </a:r>
            <a:r>
              <a:rPr lang="en-GB" sz="2800" b="1" dirty="0" err="1"/>
              <a:t>vs</a:t>
            </a:r>
            <a:r>
              <a:rPr lang="en-GB" sz="2800" b="1" dirty="0"/>
              <a:t> Deep Learning, Types of Learning: Supervised, Unsupervised, Reinforcement</a:t>
            </a:r>
            <a:endParaRPr lang="en-IN" sz="28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F6F593-41A2-5797-581D-24AD95F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691" y="1575601"/>
            <a:ext cx="480599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="" xmlns:a16="http://schemas.microsoft.com/office/drawing/2014/main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89D1390B-7E13-4B4F-9CB2-391063412E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3">
              <a:extLst>
                <a:ext uri="{FF2B5EF4-FFF2-40B4-BE49-F238E27FC236}">
                  <a16:creationId xmlns="" xmlns:a16="http://schemas.microsoft.com/office/drawing/2014/main" id="{9E720206-AA49-4786-A932-A2650DE091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="" xmlns:a16="http://schemas.microsoft.com/office/drawing/2014/main" id="{C72F6EE6-EDE9-45A5-8F6D-02B9B7CB2C2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="" xmlns:a16="http://schemas.microsoft.com/office/drawing/2014/main" id="{C093DC50-3BD7-46B1-A300-CD207E152F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Graphic 5" descr="Smiling Face with No Fill">
            <a:extLst>
              <a:ext uri="{FF2B5EF4-FFF2-40B4-BE49-F238E27FC236}">
                <a16:creationId xmlns="" xmlns:a16="http://schemas.microsoft.com/office/drawing/2014/main" id="{74418C2F-62A7-9D29-C346-38DEE0440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23" name="Footer Placeholder 5">
            <a:extLst>
              <a:ext uri="{FF2B5EF4-FFF2-40B4-BE49-F238E27FC236}">
                <a16:creationId xmlns=""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21-08-2026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4951" y="3271986"/>
            <a:ext cx="26574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4365</TotalTime>
  <Words>1214</Words>
  <Application>Microsoft Office PowerPoint</Application>
  <PresentationFormat>Widescreen</PresentationFormat>
  <Paragraphs>203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Georgia</vt:lpstr>
      <vt:lpstr>Times New Roman</vt:lpstr>
      <vt:lpstr>Wingdings</vt:lpstr>
      <vt:lpstr>Office Theme</vt:lpstr>
      <vt:lpstr>Machine Learning Approaches overview (Regression, Classification, Clustering, Reinforcement Learning, Genetic Algorithm), Issues in Machine Learning   Session No.: 05 Course Name: Machine Learning Course Code: R1UC525B Instructor Name: Dr. Sivakumar Madeshwaran Duration: 50 Minutes Date of Conduction of Class: 21-08-2026 </vt:lpstr>
      <vt:lpstr>PowerPoint Presentation</vt:lpstr>
      <vt:lpstr>PowerPoint Presentation</vt:lpstr>
      <vt:lpstr>Reflect on the responses of post session activity  </vt:lpstr>
      <vt:lpstr>“How can a machine learning system learn to make predictions or decisions from data?”</vt:lpstr>
      <vt:lpstr>PowerPoint Presentation</vt:lpstr>
      <vt:lpstr>At the end of this session students will be able to </vt:lpstr>
      <vt:lpstr>Session Outline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Summary</vt:lpstr>
      <vt:lpstr>Ensure attainment of LOs in alignment to the learning activities: outcomes (1-2)</vt:lpstr>
      <vt:lpstr>Post Session Activity</vt:lpstr>
      <vt:lpstr>Information about the next lesson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web:  WWW, Web Browser, Client Server and Communication   Session No.: Course Name:  Course Code: Instructor Name: Duration: Date of Conduction of Class:  </dc:title>
  <dc:creator>Deepak Gupta</dc:creator>
  <cp:lastModifiedBy>Microsoft account</cp:lastModifiedBy>
  <cp:revision>214</cp:revision>
  <dcterms:created xsi:type="dcterms:W3CDTF">2024-08-22T06:33:55Z</dcterms:created>
  <dcterms:modified xsi:type="dcterms:W3CDTF">2026-08-20T10:14:19Z</dcterms:modified>
</cp:coreProperties>
</file>