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2" r:id="rId3"/>
    <p:sldId id="283" r:id="rId4"/>
    <p:sldId id="298" r:id="rId5"/>
    <p:sldId id="300" r:id="rId6"/>
    <p:sldId id="299" r:id="rId7"/>
    <p:sldId id="393" r:id="rId8"/>
    <p:sldId id="285" r:id="rId9"/>
    <p:sldId id="350" r:id="rId10"/>
    <p:sldId id="359" r:id="rId11"/>
    <p:sldId id="349" r:id="rId12"/>
    <p:sldId id="368" r:id="rId13"/>
    <p:sldId id="378" r:id="rId14"/>
    <p:sldId id="379" r:id="rId15"/>
    <p:sldId id="382" r:id="rId16"/>
    <p:sldId id="383" r:id="rId17"/>
    <p:sldId id="385" r:id="rId18"/>
    <p:sldId id="341" r:id="rId19"/>
    <p:sldId id="384" r:id="rId20"/>
    <p:sldId id="391" r:id="rId21"/>
    <p:sldId id="392" r:id="rId22"/>
    <p:sldId id="284" r:id="rId23"/>
    <p:sldId id="289" r:id="rId24"/>
    <p:sldId id="290" r:id="rId25"/>
    <p:sldId id="281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CE2BF-E837-4849-B11C-0944C199F6A4}" v="228" dt="2024-09-19T16:05:47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94"/>
  </p:normalViewPr>
  <p:slideViewPr>
    <p:cSldViewPr snapToGrid="0">
      <p:cViewPr varScale="1">
        <p:scale>
          <a:sx n="67" d="100"/>
          <a:sy n="67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 smtClean="0"/>
            <a:t>1 Introduction</a:t>
          </a:r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 smtClean="0"/>
            <a:t>4 </a:t>
          </a:r>
          <a:r>
            <a:rPr lang="en-GB" dirty="0" smtClean="0"/>
            <a:t>Activity-1 </a:t>
          </a:r>
          <a:r>
            <a:rPr lang="en-IN" dirty="0" smtClean="0"/>
            <a:t>Problem Based Learning</a:t>
          </a:r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 smtClean="0"/>
            <a:t>6 Review and Reflections</a:t>
          </a:r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113434A6-C49A-4D7C-9CB2-B4A9C5F944C5}">
      <dgm:prSet/>
      <dgm:spPr/>
      <dgm:t>
        <a:bodyPr/>
        <a:lstStyle/>
        <a:p>
          <a:r>
            <a:rPr lang="en-US" dirty="0" smtClean="0"/>
            <a:t>2 </a:t>
          </a:r>
          <a:r>
            <a:rPr lang="en-IN" dirty="0" smtClean="0"/>
            <a:t>Regularization</a:t>
          </a:r>
        </a:p>
      </dgm:t>
    </dgm:pt>
    <dgm:pt modelId="{92A00AA5-8654-4E10-B99A-653D5D186B0F}" type="parTrans" cxnId="{733CCB97-D0A1-4EAB-89EE-BFBD61CB67A1}">
      <dgm:prSet/>
      <dgm:spPr/>
      <dgm:t>
        <a:bodyPr/>
        <a:lstStyle/>
        <a:p>
          <a:endParaRPr lang="en-IN"/>
        </a:p>
      </dgm:t>
    </dgm:pt>
    <dgm:pt modelId="{2502FDD1-8A4B-4C67-80BF-8DE9EC8614C5}" type="sibTrans" cxnId="{733CCB97-D0A1-4EAB-89EE-BFBD61CB67A1}">
      <dgm:prSet/>
      <dgm:spPr/>
      <dgm:t>
        <a:bodyPr/>
        <a:lstStyle/>
        <a:p>
          <a:endParaRPr lang="en-IN"/>
        </a:p>
      </dgm:t>
    </dgm:pt>
    <dgm:pt modelId="{57BC2F95-30E0-44EE-8105-0692FEBF845C}">
      <dgm:prSet/>
      <dgm:spPr/>
      <dgm:t>
        <a:bodyPr/>
        <a:lstStyle/>
        <a:p>
          <a:r>
            <a:rPr lang="en-GB" dirty="0" smtClean="0"/>
            <a:t>3 </a:t>
          </a:r>
          <a:r>
            <a:rPr lang="en-IN" dirty="0" smtClean="0"/>
            <a:t>Lasso Regression </a:t>
          </a:r>
        </a:p>
      </dgm:t>
    </dgm:pt>
    <dgm:pt modelId="{27DAA827-2DF7-4969-9A17-20C1C5AAB1D8}" type="parTrans" cxnId="{4866CFBE-BFDC-4A58-89F6-DC5E93AD521F}">
      <dgm:prSet/>
      <dgm:spPr/>
      <dgm:t>
        <a:bodyPr/>
        <a:lstStyle/>
        <a:p>
          <a:endParaRPr lang="en-IN"/>
        </a:p>
      </dgm:t>
    </dgm:pt>
    <dgm:pt modelId="{325EA8BA-C36D-4CA8-A7D8-6DE986194C25}" type="sibTrans" cxnId="{4866CFBE-BFDC-4A58-89F6-DC5E93AD521F}">
      <dgm:prSet/>
      <dgm:spPr/>
      <dgm:t>
        <a:bodyPr/>
        <a:lstStyle/>
        <a:p>
          <a:endParaRPr lang="en-IN"/>
        </a:p>
      </dgm:t>
    </dgm:pt>
    <dgm:pt modelId="{770CC07C-BE2F-4882-ACB9-2A89CD2F1EAB}">
      <dgm:prSet/>
      <dgm:spPr/>
      <dgm:t>
        <a:bodyPr/>
        <a:lstStyle/>
        <a:p>
          <a:r>
            <a:rPr lang="en-US" dirty="0" smtClean="0"/>
            <a:t>5 </a:t>
          </a:r>
          <a:r>
            <a:rPr lang="en-IN" dirty="0" smtClean="0"/>
            <a:t>Ridge Regression </a:t>
          </a:r>
        </a:p>
      </dgm:t>
    </dgm:pt>
    <dgm:pt modelId="{8DF8EFCF-25D3-447B-B726-C7F3947B309B}" type="parTrans" cxnId="{10B46928-40D6-424E-8132-23155176683A}">
      <dgm:prSet/>
      <dgm:spPr/>
      <dgm:t>
        <a:bodyPr/>
        <a:lstStyle/>
        <a:p>
          <a:endParaRPr lang="en-IN"/>
        </a:p>
      </dgm:t>
    </dgm:pt>
    <dgm:pt modelId="{13562706-5DF0-4477-9FD2-14D4E66BD4B5}" type="sibTrans" cxnId="{10B46928-40D6-424E-8132-23155176683A}">
      <dgm:prSet/>
      <dgm:spPr/>
      <dgm:t>
        <a:bodyPr/>
        <a:lstStyle/>
        <a:p>
          <a:endParaRPr lang="en-IN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6FF76B5C-2320-4CB5-9844-D984662B1716}" type="pres">
      <dgm:prSet presAssocID="{C8BD7C71-8F1B-400D-96A3-6B553A93EB7F}" presName="thickLine" presStyleLbl="alignNode1" presStyleIdx="0" presStyleCnt="6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6"/>
      <dgm:spPr/>
      <dgm:t>
        <a:bodyPr/>
        <a:lstStyle/>
        <a:p>
          <a:endParaRPr lang="en-IN"/>
        </a:p>
      </dgm:t>
    </dgm:pt>
    <dgm:pt modelId="{608B7948-37DA-4DDD-A56D-16AA8CC3AD50}" type="pres">
      <dgm:prSet presAssocID="{C8BD7C71-8F1B-400D-96A3-6B553A93EB7F}" presName="vert1" presStyleCnt="0"/>
      <dgm:spPr/>
    </dgm:pt>
    <dgm:pt modelId="{48957150-DC50-40B5-836F-D85E79EE67F6}" type="pres">
      <dgm:prSet presAssocID="{113434A6-C49A-4D7C-9CB2-B4A9C5F944C5}" presName="thickLine" presStyleLbl="alignNode1" presStyleIdx="1" presStyleCnt="6"/>
      <dgm:spPr/>
    </dgm:pt>
    <dgm:pt modelId="{32844BB1-992F-409D-BD7F-6070AB5679B8}" type="pres">
      <dgm:prSet presAssocID="{113434A6-C49A-4D7C-9CB2-B4A9C5F944C5}" presName="horz1" presStyleCnt="0"/>
      <dgm:spPr/>
    </dgm:pt>
    <dgm:pt modelId="{41F167DF-C041-4918-B0F4-C91997FECF79}" type="pres">
      <dgm:prSet presAssocID="{113434A6-C49A-4D7C-9CB2-B4A9C5F944C5}" presName="tx1" presStyleLbl="revTx" presStyleIdx="1" presStyleCnt="6"/>
      <dgm:spPr/>
      <dgm:t>
        <a:bodyPr/>
        <a:lstStyle/>
        <a:p>
          <a:endParaRPr lang="en-IN"/>
        </a:p>
      </dgm:t>
    </dgm:pt>
    <dgm:pt modelId="{7EF4DE97-DCED-467C-BB32-58E23AF80BEC}" type="pres">
      <dgm:prSet presAssocID="{113434A6-C49A-4D7C-9CB2-B4A9C5F944C5}" presName="vert1" presStyleCnt="0"/>
      <dgm:spPr/>
    </dgm:pt>
    <dgm:pt modelId="{74B8C237-990D-4814-A083-89542B829B28}" type="pres">
      <dgm:prSet presAssocID="{57BC2F95-30E0-44EE-8105-0692FEBF845C}" presName="thickLine" presStyleLbl="alignNode1" presStyleIdx="2" presStyleCnt="6"/>
      <dgm:spPr/>
    </dgm:pt>
    <dgm:pt modelId="{636E49F4-7A6F-4FED-AF64-874E77CC4E71}" type="pres">
      <dgm:prSet presAssocID="{57BC2F95-30E0-44EE-8105-0692FEBF845C}" presName="horz1" presStyleCnt="0"/>
      <dgm:spPr/>
    </dgm:pt>
    <dgm:pt modelId="{AEE8B3FA-302E-4D79-8397-07550B321079}" type="pres">
      <dgm:prSet presAssocID="{57BC2F95-30E0-44EE-8105-0692FEBF845C}" presName="tx1" presStyleLbl="revTx" presStyleIdx="2" presStyleCnt="6"/>
      <dgm:spPr/>
      <dgm:t>
        <a:bodyPr/>
        <a:lstStyle/>
        <a:p>
          <a:endParaRPr lang="en-IN"/>
        </a:p>
      </dgm:t>
    </dgm:pt>
    <dgm:pt modelId="{26D12B79-811F-4702-990C-1375A3AC3CC3}" type="pres">
      <dgm:prSet presAssocID="{57BC2F95-30E0-44EE-8105-0692FEBF845C}" presName="vert1" presStyleCnt="0"/>
      <dgm:spPr/>
    </dgm:pt>
    <dgm:pt modelId="{F83A5B86-9D43-4C81-A6D4-87875817B689}" type="pres">
      <dgm:prSet presAssocID="{311F9A05-A7F4-4328-B319-DBCDF0DF0E82}" presName="thickLine" presStyleLbl="alignNode1" presStyleIdx="3" presStyleCnt="6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3" presStyleCnt="6"/>
      <dgm:spPr/>
      <dgm:t>
        <a:bodyPr/>
        <a:lstStyle/>
        <a:p>
          <a:endParaRPr lang="en-IN"/>
        </a:p>
      </dgm:t>
    </dgm:pt>
    <dgm:pt modelId="{AA11931C-C560-424D-BE37-4872DC1B2048}" type="pres">
      <dgm:prSet presAssocID="{311F9A05-A7F4-4328-B319-DBCDF0DF0E82}" presName="vert1" presStyleCnt="0"/>
      <dgm:spPr/>
    </dgm:pt>
    <dgm:pt modelId="{CD170F0B-A430-45D3-A828-D04B8250B3C0}" type="pres">
      <dgm:prSet presAssocID="{770CC07C-BE2F-4882-ACB9-2A89CD2F1EAB}" presName="thickLine" presStyleLbl="alignNode1" presStyleIdx="4" presStyleCnt="6"/>
      <dgm:spPr/>
    </dgm:pt>
    <dgm:pt modelId="{BDC98114-317A-48EF-8827-8A1B442860EE}" type="pres">
      <dgm:prSet presAssocID="{770CC07C-BE2F-4882-ACB9-2A89CD2F1EAB}" presName="horz1" presStyleCnt="0"/>
      <dgm:spPr/>
    </dgm:pt>
    <dgm:pt modelId="{34EA4F90-0623-4E6C-AF6E-5A78901AB755}" type="pres">
      <dgm:prSet presAssocID="{770CC07C-BE2F-4882-ACB9-2A89CD2F1EAB}" presName="tx1" presStyleLbl="revTx" presStyleIdx="4" presStyleCnt="6"/>
      <dgm:spPr/>
      <dgm:t>
        <a:bodyPr/>
        <a:lstStyle/>
        <a:p>
          <a:endParaRPr lang="en-IN"/>
        </a:p>
      </dgm:t>
    </dgm:pt>
    <dgm:pt modelId="{02F7DACA-EFF2-4668-B501-11A0B342689C}" type="pres">
      <dgm:prSet presAssocID="{770CC07C-BE2F-4882-ACB9-2A89CD2F1EAB}" presName="vert1" presStyleCnt="0"/>
      <dgm:spPr/>
    </dgm:pt>
    <dgm:pt modelId="{7EE56E18-6978-43E9-9D4D-E31AA5BEE441}" type="pres">
      <dgm:prSet presAssocID="{81CB55E0-0FB6-485C-B15D-9BD278F78C6F}" presName="thickLine" presStyleLbl="alignNode1" presStyleIdx="5" presStyleCnt="6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5" presStyleCnt="6"/>
      <dgm:spPr/>
      <dgm:t>
        <a:bodyPr/>
        <a:lstStyle/>
        <a:p>
          <a:endParaRPr lang="en-IN"/>
        </a:p>
      </dgm:t>
    </dgm:pt>
    <dgm:pt modelId="{0E51C315-1B46-45D6-B4D4-E44AF2F7FE47}" type="pres">
      <dgm:prSet presAssocID="{81CB55E0-0FB6-485C-B15D-9BD278F78C6F}" presName="vert1" presStyleCnt="0"/>
      <dgm:spPr/>
    </dgm:pt>
  </dgm:ptLst>
  <dgm:cxnLst>
    <dgm:cxn modelId="{F549EAF9-2443-41C8-B372-A86A794E0229}" type="presOf" srcId="{770CC07C-BE2F-4882-ACB9-2A89CD2F1EAB}" destId="{34EA4F90-0623-4E6C-AF6E-5A78901AB755}" srcOrd="0" destOrd="0" presId="urn:microsoft.com/office/officeart/2008/layout/LinedList"/>
    <dgm:cxn modelId="{733CCB97-D0A1-4EAB-89EE-BFBD61CB67A1}" srcId="{B64DB52A-CA4F-4852-B41E-6A1F43CC58F9}" destId="{113434A6-C49A-4D7C-9CB2-B4A9C5F944C5}" srcOrd="1" destOrd="0" parTransId="{92A00AA5-8654-4E10-B99A-653D5D186B0F}" sibTransId="{2502FDD1-8A4B-4C67-80BF-8DE9EC8614C5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0D04798E-7FC3-44EA-AD9F-050F5619F6DE}" type="presOf" srcId="{57BC2F95-30E0-44EE-8105-0692FEBF845C}" destId="{AEE8B3FA-302E-4D79-8397-07550B321079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10B46928-40D6-424E-8132-23155176683A}" srcId="{B64DB52A-CA4F-4852-B41E-6A1F43CC58F9}" destId="{770CC07C-BE2F-4882-ACB9-2A89CD2F1EAB}" srcOrd="4" destOrd="0" parTransId="{8DF8EFCF-25D3-447B-B726-C7F3947B309B}" sibTransId="{13562706-5DF0-4477-9FD2-14D4E66BD4B5}"/>
    <dgm:cxn modelId="{A3BFF44A-0E2D-410C-B9EE-7AA1A8351732}" type="presOf" srcId="{113434A6-C49A-4D7C-9CB2-B4A9C5F944C5}" destId="{41F167DF-C041-4918-B0F4-C91997FECF79}" srcOrd="0" destOrd="0" presId="urn:microsoft.com/office/officeart/2008/layout/LinedList"/>
    <dgm:cxn modelId="{4866CFBE-BFDC-4A58-89F6-DC5E93AD521F}" srcId="{B64DB52A-CA4F-4852-B41E-6A1F43CC58F9}" destId="{57BC2F95-30E0-44EE-8105-0692FEBF845C}" srcOrd="2" destOrd="0" parTransId="{27DAA827-2DF7-4969-9A17-20C1C5AAB1D8}" sibTransId="{325EA8BA-C36D-4CA8-A7D8-6DE986194C25}"/>
    <dgm:cxn modelId="{6DCFA649-9D6E-469B-AACA-1BA847263E9A}" srcId="{B64DB52A-CA4F-4852-B41E-6A1F43CC58F9}" destId="{311F9A05-A7F4-4328-B319-DBCDF0DF0E82}" srcOrd="3" destOrd="0" parTransId="{23B85C74-2F21-4685-BD89-BB563657B099}" sibTransId="{91F4A534-BBDE-4EB5-BAE5-EACEB7D0B868}"/>
    <dgm:cxn modelId="{B28E7539-702F-4403-B38C-CCE2EC9E181E}" srcId="{B64DB52A-CA4F-4852-B41E-6A1F43CC58F9}" destId="{81CB55E0-0FB6-485C-B15D-9BD278F78C6F}" srcOrd="5" destOrd="0" parTransId="{81E23C2F-5B75-4C87-B80F-F92D751EF2D3}" sibTransId="{CA453529-0F48-4EF3-8F16-E732FB1811C3}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E837E2BC-1ECD-4C77-B5CC-A4986F333759}" type="presParOf" srcId="{573103A9-89AC-4873-8CB5-0F4B7370B2E1}" destId="{48957150-DC50-40B5-836F-D85E79EE67F6}" srcOrd="2" destOrd="0" presId="urn:microsoft.com/office/officeart/2008/layout/LinedList"/>
    <dgm:cxn modelId="{5E47C682-50E9-4990-8EB5-217D7ACB83C7}" type="presParOf" srcId="{573103A9-89AC-4873-8CB5-0F4B7370B2E1}" destId="{32844BB1-992F-409D-BD7F-6070AB5679B8}" srcOrd="3" destOrd="0" presId="urn:microsoft.com/office/officeart/2008/layout/LinedList"/>
    <dgm:cxn modelId="{E94BB4C5-76FD-408B-BFB6-4E69F2544C67}" type="presParOf" srcId="{32844BB1-992F-409D-BD7F-6070AB5679B8}" destId="{41F167DF-C041-4918-B0F4-C91997FECF79}" srcOrd="0" destOrd="0" presId="urn:microsoft.com/office/officeart/2008/layout/LinedList"/>
    <dgm:cxn modelId="{B68A403B-A903-4D2B-8B89-656A92A80AF6}" type="presParOf" srcId="{32844BB1-992F-409D-BD7F-6070AB5679B8}" destId="{7EF4DE97-DCED-467C-BB32-58E23AF80BEC}" srcOrd="1" destOrd="0" presId="urn:microsoft.com/office/officeart/2008/layout/LinedList"/>
    <dgm:cxn modelId="{18862338-0BB2-45C8-BAF5-093AE83270A5}" type="presParOf" srcId="{573103A9-89AC-4873-8CB5-0F4B7370B2E1}" destId="{74B8C237-990D-4814-A083-89542B829B28}" srcOrd="4" destOrd="0" presId="urn:microsoft.com/office/officeart/2008/layout/LinedList"/>
    <dgm:cxn modelId="{BE3C5062-B4AD-418E-B58A-EA7DD963E500}" type="presParOf" srcId="{573103A9-89AC-4873-8CB5-0F4B7370B2E1}" destId="{636E49F4-7A6F-4FED-AF64-874E77CC4E71}" srcOrd="5" destOrd="0" presId="urn:microsoft.com/office/officeart/2008/layout/LinedList"/>
    <dgm:cxn modelId="{DF60AFFA-3853-4638-AD5C-C825B86244BE}" type="presParOf" srcId="{636E49F4-7A6F-4FED-AF64-874E77CC4E71}" destId="{AEE8B3FA-302E-4D79-8397-07550B321079}" srcOrd="0" destOrd="0" presId="urn:microsoft.com/office/officeart/2008/layout/LinedList"/>
    <dgm:cxn modelId="{95ACD8AE-A7B5-4CE9-9250-0E7CBA837F52}" type="presParOf" srcId="{636E49F4-7A6F-4FED-AF64-874E77CC4E71}" destId="{26D12B79-811F-4702-990C-1375A3AC3CC3}" srcOrd="1" destOrd="0" presId="urn:microsoft.com/office/officeart/2008/layout/LinedList"/>
    <dgm:cxn modelId="{09135F7C-D882-4001-9420-48C6F669E5A1}" type="presParOf" srcId="{573103A9-89AC-4873-8CB5-0F4B7370B2E1}" destId="{F83A5B86-9D43-4C81-A6D4-87875817B689}" srcOrd="6" destOrd="0" presId="urn:microsoft.com/office/officeart/2008/layout/LinedList"/>
    <dgm:cxn modelId="{42A74311-A9B5-4722-908E-E69DF0F7B3F2}" type="presParOf" srcId="{573103A9-89AC-4873-8CB5-0F4B7370B2E1}" destId="{3BC975C1-0C99-4F97-8C52-C1CFA0BAF551}" srcOrd="7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EA03A68B-10C4-4D82-9E0A-ABFF72535A56}" type="presParOf" srcId="{573103A9-89AC-4873-8CB5-0F4B7370B2E1}" destId="{CD170F0B-A430-45D3-A828-D04B8250B3C0}" srcOrd="8" destOrd="0" presId="urn:microsoft.com/office/officeart/2008/layout/LinedList"/>
    <dgm:cxn modelId="{9E61E6D3-86FF-4E9A-8FB3-E5ECDA5089BF}" type="presParOf" srcId="{573103A9-89AC-4873-8CB5-0F4B7370B2E1}" destId="{BDC98114-317A-48EF-8827-8A1B442860EE}" srcOrd="9" destOrd="0" presId="urn:microsoft.com/office/officeart/2008/layout/LinedList"/>
    <dgm:cxn modelId="{C7632303-1212-4FCA-8D84-E293B74AA4D5}" type="presParOf" srcId="{BDC98114-317A-48EF-8827-8A1B442860EE}" destId="{34EA4F90-0623-4E6C-AF6E-5A78901AB755}" srcOrd="0" destOrd="0" presId="urn:microsoft.com/office/officeart/2008/layout/LinedList"/>
    <dgm:cxn modelId="{8B7CA79D-633F-493C-9E40-9B39D5AFF255}" type="presParOf" srcId="{BDC98114-317A-48EF-8827-8A1B442860EE}" destId="{02F7DACA-EFF2-4668-B501-11A0B342689C}" srcOrd="1" destOrd="0" presId="urn:microsoft.com/office/officeart/2008/layout/LinedList"/>
    <dgm:cxn modelId="{206F6E77-1951-4EBC-9057-DD630DD20CCA}" type="presParOf" srcId="{573103A9-89AC-4873-8CB5-0F4B7370B2E1}" destId="{7EE56E18-6978-43E9-9D4D-E31AA5BEE441}" srcOrd="10" destOrd="0" presId="urn:microsoft.com/office/officeart/2008/layout/LinedList"/>
    <dgm:cxn modelId="{5A60FA20-ADA2-431F-8796-1BE8C988B2D2}" type="presParOf" srcId="{573103A9-89AC-4873-8CB5-0F4B7370B2E1}" destId="{447FCB44-517C-43F4-BE59-391C36D21C9C}" srcOrd="11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2444"/>
          <a:ext cx="743920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2444"/>
          <a:ext cx="7439207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 dirty="0" smtClean="0"/>
            <a:t>1 Introduction</a:t>
          </a:r>
        </a:p>
      </dsp:txBody>
      <dsp:txXfrm>
        <a:off x="0" y="2444"/>
        <a:ext cx="7439207" cy="833416"/>
      </dsp:txXfrm>
    </dsp:sp>
    <dsp:sp modelId="{48957150-DC50-40B5-836F-D85E79EE67F6}">
      <dsp:nvSpPr>
        <dsp:cNvPr id="0" name=""/>
        <dsp:cNvSpPr/>
      </dsp:nvSpPr>
      <dsp:spPr>
        <a:xfrm>
          <a:off x="0" y="835860"/>
          <a:ext cx="743920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167DF-C041-4918-B0F4-C91997FECF79}">
      <dsp:nvSpPr>
        <dsp:cNvPr id="0" name=""/>
        <dsp:cNvSpPr/>
      </dsp:nvSpPr>
      <dsp:spPr>
        <a:xfrm>
          <a:off x="0" y="835860"/>
          <a:ext cx="7439207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2 </a:t>
          </a:r>
          <a:r>
            <a:rPr lang="en-IN" sz="2700" kern="1200" dirty="0" smtClean="0"/>
            <a:t>Regularization</a:t>
          </a:r>
        </a:p>
      </dsp:txBody>
      <dsp:txXfrm>
        <a:off x="0" y="835860"/>
        <a:ext cx="7439207" cy="833416"/>
      </dsp:txXfrm>
    </dsp:sp>
    <dsp:sp modelId="{74B8C237-990D-4814-A083-89542B829B28}">
      <dsp:nvSpPr>
        <dsp:cNvPr id="0" name=""/>
        <dsp:cNvSpPr/>
      </dsp:nvSpPr>
      <dsp:spPr>
        <a:xfrm>
          <a:off x="0" y="1669277"/>
          <a:ext cx="743920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8B3FA-302E-4D79-8397-07550B321079}">
      <dsp:nvSpPr>
        <dsp:cNvPr id="0" name=""/>
        <dsp:cNvSpPr/>
      </dsp:nvSpPr>
      <dsp:spPr>
        <a:xfrm>
          <a:off x="0" y="1669277"/>
          <a:ext cx="7439207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 dirty="0" smtClean="0"/>
            <a:t>3 </a:t>
          </a:r>
          <a:r>
            <a:rPr lang="en-IN" sz="2700" kern="1200" dirty="0" smtClean="0"/>
            <a:t>Lasso Regression </a:t>
          </a:r>
        </a:p>
      </dsp:txBody>
      <dsp:txXfrm>
        <a:off x="0" y="1669277"/>
        <a:ext cx="7439207" cy="833416"/>
      </dsp:txXfrm>
    </dsp:sp>
    <dsp:sp modelId="{F83A5B86-9D43-4C81-A6D4-87875817B689}">
      <dsp:nvSpPr>
        <dsp:cNvPr id="0" name=""/>
        <dsp:cNvSpPr/>
      </dsp:nvSpPr>
      <dsp:spPr>
        <a:xfrm>
          <a:off x="0" y="2502693"/>
          <a:ext cx="743920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2502694"/>
          <a:ext cx="7439207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 dirty="0" smtClean="0"/>
            <a:t>4 </a:t>
          </a:r>
          <a:r>
            <a:rPr lang="en-GB" sz="2700" kern="1200" dirty="0" smtClean="0"/>
            <a:t>Activity-1 </a:t>
          </a:r>
          <a:r>
            <a:rPr lang="en-IN" sz="2700" kern="1200" dirty="0" smtClean="0"/>
            <a:t>Problem Based Learning</a:t>
          </a:r>
        </a:p>
      </dsp:txBody>
      <dsp:txXfrm>
        <a:off x="0" y="2502694"/>
        <a:ext cx="7439207" cy="833416"/>
      </dsp:txXfrm>
    </dsp:sp>
    <dsp:sp modelId="{CD170F0B-A430-45D3-A828-D04B8250B3C0}">
      <dsp:nvSpPr>
        <dsp:cNvPr id="0" name=""/>
        <dsp:cNvSpPr/>
      </dsp:nvSpPr>
      <dsp:spPr>
        <a:xfrm>
          <a:off x="0" y="3336110"/>
          <a:ext cx="743920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A4F90-0623-4E6C-AF6E-5A78901AB755}">
      <dsp:nvSpPr>
        <dsp:cNvPr id="0" name=""/>
        <dsp:cNvSpPr/>
      </dsp:nvSpPr>
      <dsp:spPr>
        <a:xfrm>
          <a:off x="0" y="3336110"/>
          <a:ext cx="7439207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5 </a:t>
          </a:r>
          <a:r>
            <a:rPr lang="en-IN" sz="2700" kern="1200" dirty="0" smtClean="0"/>
            <a:t>Ridge Regression </a:t>
          </a:r>
        </a:p>
      </dsp:txBody>
      <dsp:txXfrm>
        <a:off x="0" y="3336110"/>
        <a:ext cx="7439207" cy="833416"/>
      </dsp:txXfrm>
    </dsp:sp>
    <dsp:sp modelId="{7EE56E18-6978-43E9-9D4D-E31AA5BEE441}">
      <dsp:nvSpPr>
        <dsp:cNvPr id="0" name=""/>
        <dsp:cNvSpPr/>
      </dsp:nvSpPr>
      <dsp:spPr>
        <a:xfrm>
          <a:off x="0" y="4169527"/>
          <a:ext cx="743920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4169527"/>
          <a:ext cx="7439207" cy="83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 dirty="0" smtClean="0"/>
            <a:t>6 Review and Reflections</a:t>
          </a:r>
        </a:p>
      </dsp:txBody>
      <dsp:txXfrm>
        <a:off x="0" y="4169527"/>
        <a:ext cx="7439207" cy="8334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909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0214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59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2384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110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363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327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828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579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0116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310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467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22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B68F5-D2A5-443A-AE01-96EFE3CFF30B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65EC-551F-4800-BE7F-AB3F01A2EFEF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77727-2F8C-4AFA-AA6B-74CB9605876A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0FE6-755D-4285-86A6-6A229A7ABA18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13178-8F3F-4703-9429-04D3B9E6840F}" type="datetime1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E3F-6C33-4D69-B42E-09F6E8EB6CB0}" type="datetime1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5FA68-60C1-4707-874A-2836C1646AB5}" type="datetime1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A9603-141A-47A4-BAE7-5BD39ADD7CB1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355E6-4BEA-4AE9-9661-358E0C42DC31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6E32-95D1-4566-B8F6-DFE7FE6554C7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EBB2-7FB7-4DC8-B15E-F73145B2A64A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59AE79-F1F4-409C-ADE8-7B63EB2B87FE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 smtClean="0"/>
              <a:t>Galgotias-Student Centered Active Learning Ecosystem &amp; Date 16-09-2026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8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GB" sz="3600" b="1" dirty="0">
                <a:latin typeface="Georgia" panose="02040502050405020303" pitchFamily="18" charset="0"/>
                <a:cs typeface="Arial" panose="020B0604020202020204" pitchFamily="34" charset="0"/>
              </a:rPr>
              <a:t>Ridge and Lasso </a:t>
            </a:r>
            <a:r>
              <a:rPr lang="en-GB" sz="36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Regression</a:t>
            </a:r>
            <a:br>
              <a:rPr lang="en-GB" sz="3600" b="1" dirty="0" smtClean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36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36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36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3600" b="1" dirty="0" smtClean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Session 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No.: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12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Name: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Machine Learning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R1UC525B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Instructor Name: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Dr. Sivakumar 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Madeshwaran</a:t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Duration: 50 Minutes</a:t>
            </a:r>
            <a:b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Date of Conduction of Class: </a:t>
            </a:r>
            <a:r>
              <a:rPr lang="en-US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16-09-2026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en-IN" sz="4800" b="1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622C87D-66F3-E0F4-0306-4C9A87A52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8ED013E-C79F-88E6-C380-BA222F110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sp>
        <p:nvSpPr>
          <p:cNvPr id="10" name="Google Shape;97;p11"/>
          <p:cNvSpPr txBox="1">
            <a:spLocks/>
          </p:cNvSpPr>
          <p:nvPr/>
        </p:nvSpPr>
        <p:spPr>
          <a:xfrm>
            <a:off x="4262339" y="264619"/>
            <a:ext cx="6167536" cy="699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3200"/>
            </a:pPr>
            <a:r>
              <a:rPr lang="en-US" sz="2800" b="1" dirty="0" smtClean="0">
                <a:latin typeface="Arial"/>
                <a:ea typeface="Arial"/>
                <a:cs typeface="Arial"/>
                <a:sym typeface="Arial"/>
              </a:rPr>
              <a:t>Recap of Previous Lecture</a:t>
            </a:r>
            <a:endParaRPr lang="en-US"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9E24863-85D1-2DEE-11C4-9939FF8418D1}"/>
              </a:ext>
            </a:extLst>
          </p:cNvPr>
          <p:cNvSpPr/>
          <p:nvPr/>
        </p:nvSpPr>
        <p:spPr>
          <a:xfrm>
            <a:off x="765911" y="1343237"/>
            <a:ext cx="104300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Exponential Family includes a broad range of distributions, such as Normal, Poisson, and Bernoulli, which are useful for various statistical models.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Likelihood Estimation involves constructing a likelihood function to quantify how likely observed data is for different parameter values.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Likelihood Estimation (MLE) is a method that maximizes this likelihood function to estimate model parameters.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 has desirable properties like consistency, efficiency, and asymptotic unbiasedness, making it a preferred method in large samples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Reflect on the responses of post session activity</a:t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="" xmlns:a16="http://schemas.microsoft.com/office/drawing/2014/main" id="{B5812380-04B5-06B6-8506-DF79A9EFA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698757"/>
            <a:ext cx="6780700" cy="3458156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CE23A4A-5CE7-2BA1-E1C7-649A5669B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53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Magnifying glass on clear background"/>
          <p:cNvPicPr preferRelativeResize="0"/>
          <p:nvPr/>
        </p:nvPicPr>
        <p:blipFill rotWithShape="1">
          <a:blip r:embed="rId3">
            <a:alphaModFix/>
          </a:blip>
          <a:srcRect l="8345" r="7282" b="-1"/>
          <a:stretch/>
        </p:blipFill>
        <p:spPr>
          <a:xfrm>
            <a:off x="3931920" y="10"/>
            <a:ext cx="82600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481029" y="1051486"/>
            <a:ext cx="10872771" cy="1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Clr>
                <a:schemeClr val="lt1"/>
              </a:buClr>
              <a:buSzPts val="4000"/>
            </a:pP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Ridge and Lasso Regression when ordinary Linear Regression already predicts the output?</a:t>
            </a:r>
            <a:endParaRPr sz="32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6" name="Google Shape;106;p2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09" name="Google Shape;109;p2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A49C41D1-93F9-4F00-A7D0-D86EB0FE0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28888" y="6356350"/>
            <a:ext cx="7300912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5D34F9C-1388-82D8-8D48-0BF8C51BEFDE}"/>
              </a:ext>
            </a:extLst>
          </p:cNvPr>
          <p:cNvSpPr txBox="1"/>
          <p:nvPr/>
        </p:nvSpPr>
        <p:spPr>
          <a:xfrm>
            <a:off x="4519397" y="405155"/>
            <a:ext cx="519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Question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15" name="Google Shape;162;p4" descr="What is an Emoji? - Answered - Twinkl ..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590" y="3263775"/>
            <a:ext cx="2023877" cy="202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0606" y="2918230"/>
            <a:ext cx="26574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7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Magnifying glass on clear background"/>
          <p:cNvPicPr preferRelativeResize="0"/>
          <p:nvPr/>
        </p:nvPicPr>
        <p:blipFill rotWithShape="1">
          <a:blip r:embed="rId3">
            <a:alphaModFix/>
          </a:blip>
          <a:srcRect l="8345" r="7282" b="-1"/>
          <a:stretch/>
        </p:blipFill>
        <p:spPr>
          <a:xfrm>
            <a:off x="3931920" y="10"/>
            <a:ext cx="82600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endParaRPr sz="28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09" name="Google Shape;109;p2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A49C41D1-93F9-4F00-A7D0-D86EB0FE0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28888" y="6356350"/>
            <a:ext cx="7300912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5D34F9C-1388-82D8-8D48-0BF8C51BEFDE}"/>
              </a:ext>
            </a:extLst>
          </p:cNvPr>
          <p:cNvSpPr txBox="1"/>
          <p:nvPr/>
        </p:nvSpPr>
        <p:spPr>
          <a:xfrm>
            <a:off x="4005498" y="208109"/>
            <a:ext cx="679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Question -Reflections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28" y="1278097"/>
            <a:ext cx="11152269" cy="452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At the end of this session students will be able to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1" name="Google Shape;131;p4"/>
          <p:cNvGrpSpPr/>
          <p:nvPr/>
        </p:nvGrpSpPr>
        <p:grpSpPr>
          <a:xfrm>
            <a:off x="336080" y="2417848"/>
            <a:ext cx="11519840" cy="3689404"/>
            <a:chOff x="-296006" y="0"/>
            <a:chExt cx="11519840" cy="3689404"/>
          </a:xfrm>
        </p:grpSpPr>
        <p:sp>
          <p:nvSpPr>
            <p:cNvPr id="132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-247379" y="48627"/>
              <a:ext cx="9204523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32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Explain the concepts of Ridge and Lasso Regression, </a:t>
              </a:r>
              <a:r>
                <a:rPr lang="en-GB" sz="2600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including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regularization and their role in reducing overfitting.</a:t>
              </a: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1983806" y="2077799"/>
              <a:ext cx="9240027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</a:t>
              </a:r>
              <a:r>
                <a:rPr lang="en-IN" sz="28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: </a:t>
              </a:r>
              <a:r>
                <a:rPr lang="en-GB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Apply and compare Ridge and Lasso Regression models using regression coefficients</a:t>
              </a: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8466195" y="1025289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8748318" y="131129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39" name="Google Shape;13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0" name="Google Shape;140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92F137E6-A257-43E9-85A6-31EF956DF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67265" y="6356350"/>
            <a:ext cx="7133947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99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800" b="1" dirty="0"/>
              <a:t>Ridge and Lasso Regression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854440"/>
            <a:ext cx="12192001" cy="600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A1553B-A216-73BB-FAAB-1FF7D4C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Session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41A9FE4B-6F20-1C22-6353-F1166E69B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154975"/>
              </p:ext>
            </p:extLst>
          </p:nvPr>
        </p:nvGraphicFramePr>
        <p:xfrm>
          <a:off x="3914593" y="1218583"/>
          <a:ext cx="7439207" cy="5005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24FF57-302B-97C8-BD3F-550746DA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A4DDE187-E81D-B835-E4CD-A2B8788BFA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53114F5-F06B-4D82-5258-AB40ED145D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55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800" b="1" dirty="0"/>
              <a:t>Regularization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66581" y="1118080"/>
            <a:ext cx="1089200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Overfitting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Regularization adds a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penalty on large coefficients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forcing the model to be simpler and reducing variance.</a:t>
            </a:r>
          </a:p>
          <a:p>
            <a:pPr lvl="0"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Multicollinearity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Stabilizes coefficient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when predictors are highly correlated.</a:t>
            </a:r>
          </a:p>
          <a:p>
            <a:pPr lvl="0"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Generalization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Makes the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on unseen (test) data by controlling complexity.</a:t>
            </a:r>
          </a:p>
          <a:p>
            <a:pPr lvl="0"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(Lasso)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removes irrelevant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by shrinking their coefficients to zero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2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600" y="0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75804" y="175756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AC6C57D-844E-4996-C4DC-1DC90466543A}"/>
              </a:ext>
            </a:extLst>
          </p:cNvPr>
          <p:cNvSpPr txBox="1"/>
          <p:nvPr/>
        </p:nvSpPr>
        <p:spPr>
          <a:xfrm>
            <a:off x="575162" y="953978"/>
            <a:ext cx="1131616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makes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features smaller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every feature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model.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If you have 5 features, Ridge will use all 5 but reduce their effect.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stays, but they must speak softly.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A8410F1-6770-94A6-C2EA-E44859095E5A}"/>
              </a:ext>
            </a:extLst>
          </p:cNvPr>
          <p:cNvSpPr txBox="1"/>
          <p:nvPr/>
        </p:nvSpPr>
        <p:spPr>
          <a:xfrm>
            <a:off x="575161" y="2292577"/>
            <a:ext cx="1131616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makes some features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completely zero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removing them from the model.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If you have 5 features, Lasso may decide only 2 are important → sets the other 3 to zero.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important people speak, the rest are silent.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pic>
        <p:nvPicPr>
          <p:cNvPr id="13" name="Picture 2" descr="Generated image">
            <a:extLst>
              <a:ext uri="{FF2B5EF4-FFF2-40B4-BE49-F238E27FC236}">
                <a16:creationId xmlns:a16="http://schemas.microsoft.com/office/drawing/2014/main" xmlns="" id="{4DF83FEE-E00A-DA80-763C-C7370ADED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01" b="12949"/>
          <a:stretch>
            <a:fillRect/>
          </a:stretch>
        </p:blipFill>
        <p:spPr bwMode="auto">
          <a:xfrm>
            <a:off x="7848600" y="3444670"/>
            <a:ext cx="4343400" cy="279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41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endParaRPr lang="en-GB" sz="2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7B70871-5C40-8329-72A5-03C91E2A31B1}"/>
              </a:ext>
            </a:extLst>
          </p:cNvPr>
          <p:cNvSpPr txBox="1"/>
          <p:nvPr/>
        </p:nvSpPr>
        <p:spPr>
          <a:xfrm>
            <a:off x="431923" y="915779"/>
            <a:ext cx="522263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a classroom:</a:t>
            </a: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 teacher trying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student marks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📘 Hours studied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📅 Attendance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📝 Homework completed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🎮 Time spent on games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Time on social media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B74542C-8687-0C5E-7760-262BBE13EEE5}"/>
              </a:ext>
            </a:extLst>
          </p:cNvPr>
          <p:cNvSpPr txBox="1"/>
          <p:nvPr/>
        </p:nvSpPr>
        <p:spPr>
          <a:xfrm>
            <a:off x="5967852" y="934329"/>
            <a:ext cx="609834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(L2)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says: “Every student (feature) can speak, but don’t speak too loudly.”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everyone contributes a little →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one is removed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"games" and "social media" still get some weight, but very small.</a:t>
            </a:r>
          </a:p>
          <a:p>
            <a:r>
              <a:rPr 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Everyone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stays in class, but talks quietly.</a:t>
            </a:r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864E86E-1E5B-611D-E558-7BF6245391B4}"/>
              </a:ext>
            </a:extLst>
          </p:cNvPr>
          <p:cNvSpPr txBox="1"/>
          <p:nvPr/>
        </p:nvSpPr>
        <p:spPr>
          <a:xfrm>
            <a:off x="356381" y="3697997"/>
            <a:ext cx="723313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 (L1)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says: “Only the important students (features) get to speak. Others keep silent.”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completely silence "games" and "social media".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→ only "hours studied" and "attendance" contribute.</a:t>
            </a:r>
          </a:p>
          <a:p>
            <a:r>
              <a:rPr 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students talk, others are silent (removed).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9430F1C-0A17-E0F3-93AD-9673C9BACE76}"/>
              </a:ext>
            </a:extLst>
          </p:cNvPr>
          <p:cNvSpPr txBox="1"/>
          <p:nvPr/>
        </p:nvSpPr>
        <p:spPr>
          <a:xfrm>
            <a:off x="7589519" y="3892383"/>
            <a:ext cx="42695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= keep all students, but control their voices.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= only let the best students speak, others silent.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99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28954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 (L1 Regularization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7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49760" y="809921"/>
            <a:ext cx="10589034" cy="548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 is a method used in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model by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a penalty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size of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adds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the absolute values of the coefficients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(called the L1 penalty) to the loss function that the model tries to minimize.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penalty encourages the model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shrink some of the coefficient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all the way to zero.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 = Linear Regression + Penalty.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penalty is based on the absolute values of coefficients → this is called the L1 penalty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02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28954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 Working</a:t>
            </a:r>
            <a:endParaRPr lang="en-GB" sz="27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A007B2B-29CF-A6FC-C279-C7D63A4D3619}"/>
              </a:ext>
            </a:extLst>
          </p:cNvPr>
          <p:cNvSpPr txBox="1"/>
          <p:nvPr/>
        </p:nvSpPr>
        <p:spPr>
          <a:xfrm>
            <a:off x="216082" y="854440"/>
            <a:ext cx="11460078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Ordinary Least Squares (OLS) Regression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en-IN" sz="20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Minimizes the sum of squared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errors between predicted and actual values.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Penalty Term for Lasso Regression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en-IN" sz="20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Adds the sum of absolute 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values of coefficients (λ∑ ∣ β j ∣) to the loss function.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Shrinking Coefficients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Lasso </a:t>
            </a:r>
            <a:r>
              <a:rPr lang="en-IN" sz="20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reduces the size of coefficients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with some becoming exactly zero.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Selecting the optimal λ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en-IN" sz="20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Chosen using techniques 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like cross-validation to balance bias and variance.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AA71780-50B5-C542-BC51-931C6012B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918" y="3661427"/>
            <a:ext cx="8742114" cy="269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64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28954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to use Lasso Regression</a:t>
            </a:r>
            <a:endParaRPr lang="en-GB" sz="27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C57C1C9-E748-2B4A-1909-4EEA2397C128}"/>
              </a:ext>
            </a:extLst>
          </p:cNvPr>
          <p:cNvSpPr txBox="1"/>
          <p:nvPr/>
        </p:nvSpPr>
        <p:spPr>
          <a:xfrm>
            <a:off x="528652" y="1099359"/>
            <a:ext cx="10445964" cy="490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Selection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It </a:t>
            </a:r>
            <a:r>
              <a:rPr lang="en-I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automatically selects most important features 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reducing the coefficients of less significant features to zero.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Collinearity: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When there is multicollinearity it can help us by </a:t>
            </a:r>
            <a:r>
              <a:rPr lang="en-I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reducing the coefficients 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correlated variables and selecting only one of them.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Regularization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It helps </a:t>
            </a:r>
            <a:r>
              <a:rPr lang="en-I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preventing overfitting 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penalizing large coefficients which is useful when the number of predictors is large.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Interpretability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Compared to traditional linear regression 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models that have all features lasso regression generates a model with fewer non-zero coefficients making model simpler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376333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28954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Lasso Regression</a:t>
            </a:r>
            <a:endParaRPr lang="en-GB" sz="27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xmlns="" id="{27824DB5-A30E-D400-B657-C84991FFBE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6" b="6641"/>
          <a:stretch>
            <a:fillRect/>
          </a:stretch>
        </p:blipFill>
        <p:spPr bwMode="auto">
          <a:xfrm>
            <a:off x="4872038" y="887338"/>
            <a:ext cx="7319962" cy="5501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85C4FB9-62B8-941B-0787-21255C99F15D}"/>
              </a:ext>
            </a:extLst>
          </p:cNvPr>
          <p:cNvSpPr txBox="1"/>
          <p:nvPr/>
        </p:nvSpPr>
        <p:spPr>
          <a:xfrm>
            <a:off x="642834" y="887338"/>
            <a:ext cx="439126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Feature Spaces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46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114202"/>
            <a:ext cx="63540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Activity 1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/>
              <a:t>Problem-Based Learning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6CFAF88-E168-98B0-4E64-D197B27988AD}"/>
              </a:ext>
            </a:extLst>
          </p:cNvPr>
          <p:cNvSpPr txBox="1"/>
          <p:nvPr/>
        </p:nvSpPr>
        <p:spPr>
          <a:xfrm>
            <a:off x="551938" y="1048665"/>
            <a:ext cx="1096706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Overfitting in a Real Dataset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are given a real-world dataset (e.g., housing prices or medical data) where the number of features is large.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"Your linear model is overfitting. How would you modify your regression approach using regularization?"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Students work in small groups to: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Ridge and Lasso as potential solutions.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which one fits better depending on the scenario (e.g., many correlated features vs. sparse features).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Justify their choice based on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82689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34" y="240615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014866" y="254804"/>
            <a:ext cx="65293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(L2 Regularization)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30AD223-4105-E07C-3506-216775E120D2}"/>
              </a:ext>
            </a:extLst>
          </p:cNvPr>
          <p:cNvSpPr/>
          <p:nvPr/>
        </p:nvSpPr>
        <p:spPr>
          <a:xfrm>
            <a:off x="401432" y="1386809"/>
            <a:ext cx="11261146" cy="3451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is a type of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a penalty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 of the size of the coefficients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loss function.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 by shrinking coefficients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unlike Lasso, it never makes them exactly zero.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 overfitting by keeping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simpler and more stable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56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34" y="240615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181083" y="222711"/>
            <a:ext cx="65774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(L2 Regularization)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6F4A302-F36B-C161-7B85-3BAFB55AF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480" y="1009470"/>
            <a:ext cx="8684458" cy="49774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975" y="3498202"/>
            <a:ext cx="62198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0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34" y="240615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75771" y="222711"/>
            <a:ext cx="6739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(L2 Regularization)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2A754DE-4A14-FA87-B5B4-5157C8B6052A}"/>
              </a:ext>
            </a:extLst>
          </p:cNvPr>
          <p:cNvSpPr txBox="1"/>
          <p:nvPr/>
        </p:nvSpPr>
        <p:spPr>
          <a:xfrm>
            <a:off x="3459798" y="672040"/>
            <a:ext cx="7356231" cy="587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Selection of the Ridge Parameter in Ridge Regression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BF15818-CA88-9837-8AEF-3A915A68BDF0}"/>
              </a:ext>
            </a:extLst>
          </p:cNvPr>
          <p:cNvSpPr txBox="1"/>
          <p:nvPr/>
        </p:nvSpPr>
        <p:spPr>
          <a:xfrm>
            <a:off x="400051" y="1284267"/>
            <a:ext cx="1139111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Cross-Validation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en-I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Splits data into training and validation 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sets multiple times to estimate model performance reliably.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Generalized Cross-Validation (GCV)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A computationally efficient form of cross-validation using a formula instead of explicit </a:t>
            </a:r>
            <a:r>
              <a:rPr lang="en-I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splitting.</a:t>
            </a:r>
            <a:endParaRPr lang="en-IN" sz="22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Criteria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en-I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selection methods </a:t>
            </a:r>
            <a:r>
              <a:rPr lang="en-IN" sz="22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that 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balance goodness of fit with model complexity.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Empirical Bayes Methods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Estimate prior distributions directly from the data to </a:t>
            </a:r>
            <a:r>
              <a:rPr lang="en-I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improve regularization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Stability Selection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lang="en-IN" sz="2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Combines subsampling 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variable selection to identify features that consistently appear important.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21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656AF7-96EE-359D-FA6F-95DA047C4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97269B3-0301-E0ED-38E4-DE311796A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FC58CD4-860E-A8C6-AC1E-E85FAA64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C5448154-F9C0-7EEB-95C1-3A8E03D468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AF6DD22-E7EF-4B43-EC2F-A7DE8651B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15" y="330681"/>
            <a:ext cx="2954860" cy="576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68579D5B-266B-C05A-8D29-EFA603F98CD1}"/>
              </a:ext>
            </a:extLst>
          </p:cNvPr>
          <p:cNvSpPr txBox="1">
            <a:spLocks/>
          </p:cNvSpPr>
          <p:nvPr/>
        </p:nvSpPr>
        <p:spPr>
          <a:xfrm>
            <a:off x="4038600" y="235368"/>
            <a:ext cx="6396019" cy="5623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E4ADB5E9-E2FE-95F7-1D5A-BDA5E999900B}"/>
              </a:ext>
            </a:extLst>
          </p:cNvPr>
          <p:cNvSpPr txBox="1"/>
          <p:nvPr/>
        </p:nvSpPr>
        <p:spPr>
          <a:xfrm>
            <a:off x="766654" y="1066476"/>
            <a:ext cx="4030745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Bias-Variance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21CF7768-0AF7-2176-1315-9D8D3803A880}"/>
              </a:ext>
            </a:extLst>
          </p:cNvPr>
          <p:cNvSpPr txBox="1"/>
          <p:nvPr/>
        </p:nvSpPr>
        <p:spPr>
          <a:xfrm>
            <a:off x="6212254" y="1131132"/>
            <a:ext cx="479669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Introduction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Selection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Variable Selection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D866886-E8F3-48CF-BE3A-D93BB70F564C}"/>
              </a:ext>
            </a:extLst>
          </p:cNvPr>
          <p:cNvSpPr txBox="1"/>
          <p:nvPr/>
        </p:nvSpPr>
        <p:spPr>
          <a:xfrm>
            <a:off x="2782026" y="3453243"/>
            <a:ext cx="6098344" cy="2595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 of Ridge Regression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Forecasting Economic Indicators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Medical Diagnosis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Sales Prediction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421664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656AF7-96EE-359D-FA6F-95DA047C4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97269B3-0301-E0ED-38E4-DE311796A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16-09-2026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FC58CD4-860E-A8C6-AC1E-E85FAA64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C5448154-F9C0-7EEB-95C1-3A8E03D468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AF6DD22-E7EF-4B43-EC2F-A7DE8651B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15" y="330681"/>
            <a:ext cx="2954860" cy="576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68579D5B-266B-C05A-8D29-EFA603F98CD1}"/>
              </a:ext>
            </a:extLst>
          </p:cNvPr>
          <p:cNvSpPr txBox="1">
            <a:spLocks/>
          </p:cNvSpPr>
          <p:nvPr/>
        </p:nvSpPr>
        <p:spPr>
          <a:xfrm>
            <a:off x="4038600" y="235368"/>
            <a:ext cx="6396019" cy="5623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(L2 Regularization)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45608C7C-A3AB-6B8F-2CF6-41F0F58EF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550233"/>
              </p:ext>
            </p:extLst>
          </p:nvPr>
        </p:nvGraphicFramePr>
        <p:xfrm>
          <a:off x="1161120" y="1089964"/>
          <a:ext cx="9597446" cy="48199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8145">
                  <a:extLst>
                    <a:ext uri="{9D8B030D-6E8A-4147-A177-3AD203B41FA5}">
                      <a16:colId xmlns:a16="http://schemas.microsoft.com/office/drawing/2014/main" xmlns="" val="1486609114"/>
                    </a:ext>
                  </a:extLst>
                </a:gridCol>
                <a:gridCol w="3078567">
                  <a:extLst>
                    <a:ext uri="{9D8B030D-6E8A-4147-A177-3AD203B41FA5}">
                      <a16:colId xmlns:a16="http://schemas.microsoft.com/office/drawing/2014/main" xmlns="" val="2150623714"/>
                    </a:ext>
                  </a:extLst>
                </a:gridCol>
                <a:gridCol w="3990734">
                  <a:extLst>
                    <a:ext uri="{9D8B030D-6E8A-4147-A177-3AD203B41FA5}">
                      <a16:colId xmlns:a16="http://schemas.microsoft.com/office/drawing/2014/main" xmlns="" val="3320462533"/>
                    </a:ext>
                  </a:extLst>
                </a:gridCol>
              </a:tblGrid>
              <a:tr h="69523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Ridge (L2)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Lasso (L1)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064487133"/>
                  </a:ext>
                </a:extLst>
              </a:tr>
              <a:tr h="69523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Penalty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Squares of coefficients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Absolute values of coefficients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167969651"/>
                  </a:ext>
                </a:extLst>
              </a:tr>
              <a:tr h="136713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Coefficient Shrinkage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but nonzero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 become exactly zero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906303310"/>
                  </a:ext>
                </a:extLst>
              </a:tr>
              <a:tr h="69523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Selection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No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Yes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873453447"/>
                  </a:ext>
                </a:extLst>
              </a:tr>
              <a:tr h="136713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Case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small/medium effects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 strong effects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454489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059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2061" y="256690"/>
            <a:ext cx="3781425" cy="540216"/>
          </a:xfrm>
        </p:spPr>
        <p:txBody>
          <a:bodyPr>
            <a:normAutofit fontScale="90000"/>
          </a:bodyPr>
          <a:lstStyle/>
          <a:p>
            <a:r>
              <a:rPr lang="en-IN" sz="4400" b="1" dirty="0"/>
              <a:t>Summary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200A3D7-8C56-079A-BFFF-58D27E7ED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2C23477-6016-05AD-A789-34DD078B4443}"/>
              </a:ext>
            </a:extLst>
          </p:cNvPr>
          <p:cNvSpPr txBox="1"/>
          <p:nvPr/>
        </p:nvSpPr>
        <p:spPr>
          <a:xfrm>
            <a:off x="1045301" y="1051486"/>
            <a:ext cx="996266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and Lasso are regularization techniques to prevent overfitting in regression models.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(L1) shrinks coefficients and can set some to zero, performing feature selection.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(L2) shrinks coefficients but keeps all features, useful for multicollinearity.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Lasso: Feature selection + regularization.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Ridge: Regularization only, keeps all variables.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improve model generalization and reduce overfitting.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32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C8EF4F-6060-143D-E2D3-D39BCB3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5" y="749508"/>
            <a:ext cx="9718111" cy="1576446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/>
              <a:t>Ensure attainment of LOs in alignment to the learning activities:</a:t>
            </a:r>
            <a:r>
              <a:rPr lang="en-IN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outcomes (1-2)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5C8336F-1062-6386-8BEE-9A71FD3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E29D7986-4818-A798-4420-A7D3A24FA0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grpSp>
        <p:nvGrpSpPr>
          <p:cNvPr id="16" name="Google Shape;131;p4"/>
          <p:cNvGrpSpPr/>
          <p:nvPr/>
        </p:nvGrpSpPr>
        <p:grpSpPr>
          <a:xfrm>
            <a:off x="336080" y="2417848"/>
            <a:ext cx="11519840" cy="3689404"/>
            <a:chOff x="-296006" y="0"/>
            <a:chExt cx="11519840" cy="3689404"/>
          </a:xfrm>
        </p:grpSpPr>
        <p:sp>
          <p:nvSpPr>
            <p:cNvPr id="17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Google Shape;133;p4"/>
            <p:cNvSpPr txBox="1"/>
            <p:nvPr/>
          </p:nvSpPr>
          <p:spPr>
            <a:xfrm>
              <a:off x="-247379" y="48627"/>
              <a:ext cx="9204523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32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Explain the concepts of Ridge and Lasso Regression, </a:t>
              </a:r>
              <a:r>
                <a:rPr lang="en-GB" sz="2600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including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regularization and their role in reducing overfitting.</a:t>
              </a:r>
            </a:p>
          </p:txBody>
        </p:sp>
        <p:sp>
          <p:nvSpPr>
            <p:cNvPr id="19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Google Shape;135;p4"/>
            <p:cNvSpPr txBox="1"/>
            <p:nvPr/>
          </p:nvSpPr>
          <p:spPr>
            <a:xfrm>
              <a:off x="1983806" y="2077799"/>
              <a:ext cx="9240027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</a:t>
              </a:r>
              <a:r>
                <a:rPr lang="en-IN" sz="28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: </a:t>
              </a:r>
              <a:r>
                <a:rPr lang="en-GB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Apply and compare Ridge and Lasso Regression models using regression coefficients</a:t>
              </a:r>
            </a:p>
          </p:txBody>
        </p:sp>
        <p:sp>
          <p:nvSpPr>
            <p:cNvPr id="21" name="Google Shape;136;p4"/>
            <p:cNvSpPr/>
            <p:nvPr/>
          </p:nvSpPr>
          <p:spPr>
            <a:xfrm>
              <a:off x="8466195" y="1025289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Google Shape;137;p4"/>
            <p:cNvSpPr txBox="1"/>
            <p:nvPr/>
          </p:nvSpPr>
          <p:spPr>
            <a:xfrm>
              <a:off x="8748318" y="131129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09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275" y="854440"/>
            <a:ext cx="9144000" cy="859381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Georgia" panose="02040502050405020303" pitchFamily="18" charset="0"/>
              </a:rPr>
              <a:t>Post </a:t>
            </a:r>
            <a:r>
              <a:rPr lang="en-US" sz="4400" dirty="0">
                <a:latin typeface="Georgia" panose="02040502050405020303" pitchFamily="18" charset="0"/>
              </a:rPr>
              <a:t>S</a:t>
            </a:r>
            <a:r>
              <a:rPr lang="en-US" sz="4400" dirty="0" smtClean="0">
                <a:latin typeface="Georgia" panose="02040502050405020303" pitchFamily="18" charset="0"/>
              </a:rPr>
              <a:t>ession Activity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01523D9-5DDB-3527-A0E3-5779C8EBF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324" y="2219324"/>
            <a:ext cx="338137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73" y="1128467"/>
            <a:ext cx="10510759" cy="824524"/>
          </a:xfrm>
        </p:spPr>
        <p:txBody>
          <a:bodyPr>
            <a:noAutofit/>
          </a:bodyPr>
          <a:lstStyle/>
          <a:p>
            <a:r>
              <a:rPr lang="en-IN" sz="5400" dirty="0">
                <a:latin typeface="Georgia" panose="02040502050405020303" pitchFamily="18" charset="0"/>
              </a:rPr>
              <a:t>Information about the next lesson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71654" y="2613842"/>
            <a:ext cx="9586912" cy="1972446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GB" sz="3200" b="1" dirty="0"/>
              <a:t>Naive Bayes</a:t>
            </a:r>
            <a:endParaRPr lang="en-IN" sz="32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834257-EC96-D536-3BBD-72E7CFA6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22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F6F593-41A2-5797-581D-24AD95F1C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0691" y="1575601"/>
            <a:ext cx="4805996" cy="129711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Review and Reflection from students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506AAFE-4113-97E4-34C4-18F6BEDE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26</a:t>
            </a:fld>
            <a:endParaRPr lang="en-IN"/>
          </a:p>
        </p:txBody>
      </p:sp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2D872DDF-4447-626A-EA2D-F25500CB53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DEA843D-98A8-0F4E-0617-582CE9651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89D1390B-7E13-4B4F-9CB2-391063412E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8" name="Freeform: Shape 13">
              <a:extLst>
                <a:ext uri="{FF2B5EF4-FFF2-40B4-BE49-F238E27FC236}">
                  <a16:creationId xmlns="" xmlns:a16="http://schemas.microsoft.com/office/drawing/2014/main" id="{9E720206-AA49-4786-A932-A2650DE0918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4">
              <a:extLst>
                <a:ext uri="{FF2B5EF4-FFF2-40B4-BE49-F238E27FC236}">
                  <a16:creationId xmlns="" xmlns:a16="http://schemas.microsoft.com/office/drawing/2014/main" id="{C72F6EE6-EDE9-45A5-8F6D-02B9B7CB2C2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5">
              <a:extLst>
                <a:ext uri="{FF2B5EF4-FFF2-40B4-BE49-F238E27FC236}">
                  <a16:creationId xmlns="" xmlns:a16="http://schemas.microsoft.com/office/drawing/2014/main" id="{C093DC50-3BD7-46B1-A300-CD207E152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Graphic 5" descr="Smiling Face with No Fill">
            <a:extLst>
              <a:ext uri="{FF2B5EF4-FFF2-40B4-BE49-F238E27FC236}">
                <a16:creationId xmlns="" xmlns:a16="http://schemas.microsoft.com/office/drawing/2014/main" id="{74418C2F-62A7-9D29-C346-38DEE0440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sp>
        <p:nvSpPr>
          <p:cNvPr id="23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16-09-2026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875" y="3280555"/>
            <a:ext cx="26670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3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8383</TotalTime>
  <Words>1491</Words>
  <Application>Microsoft Office PowerPoint</Application>
  <PresentationFormat>Widescreen</PresentationFormat>
  <Paragraphs>204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Georgia</vt:lpstr>
      <vt:lpstr>Times New Roman</vt:lpstr>
      <vt:lpstr>Wingdings</vt:lpstr>
      <vt:lpstr>Office Theme</vt:lpstr>
      <vt:lpstr>Ridge and Lasso Regression    Session No.: 12 Course Name: Machine Learning Course Code: R1UC525B Instructor Name: Dr. Sivakumar Madeshwaran Duration: 50 Minutes Date of Conduction of Class: 16-09-2026 </vt:lpstr>
      <vt:lpstr>PowerPoint Presentation</vt:lpstr>
      <vt:lpstr>Reflect on the responses of post session activity  </vt:lpstr>
      <vt:lpstr>Why do we need Ridge and Lasso Regression when ordinary Linear Regression already predicts the output?</vt:lpstr>
      <vt:lpstr>PowerPoint Presentation</vt:lpstr>
      <vt:lpstr>At the end of this session students will be able to </vt:lpstr>
      <vt:lpstr>PowerPoint Presentation</vt:lpstr>
      <vt:lpstr>Session Outline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Ensure attainment of LOs in alignment to the learning activities: outcomes (1-2)</vt:lpstr>
      <vt:lpstr>Post Session Activity</vt:lpstr>
      <vt:lpstr>Information about the next lesson</vt:lpstr>
      <vt:lpstr>Review and Reflection from students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web:  WWW, Web Browser, Client Server and Communication   Session No.: Course Name:  Course Code: Instructor Name: Duration: Date of Conduction of Class:  </dc:title>
  <dc:creator>Deepak Gupta</dc:creator>
  <cp:lastModifiedBy>Microsoft account</cp:lastModifiedBy>
  <cp:revision>389</cp:revision>
  <dcterms:created xsi:type="dcterms:W3CDTF">2024-08-22T06:33:55Z</dcterms:created>
  <dcterms:modified xsi:type="dcterms:W3CDTF">2026-09-16T09:38:11Z</dcterms:modified>
</cp:coreProperties>
</file>