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Georgia" panose="02040502050405020303" pitchFamily="18" charset="0"/>
      <p:regular r:id="rId20"/>
      <p:bold r:id="rId21"/>
      <p:italic r:id="rId22"/>
      <p:boldItalic r:id="rId23"/>
    </p:embeddedFont>
    <p:embeddedFont>
      <p:font typeface="Play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6" roundtripDataSignature="AMtx7mgX5hxbUD8Jp30HoAiJK4ovwTRL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3" name="Google Shape;10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7" name="Google Shape;23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7" name="Google Shape;27;p17" descr="A blue circle with text and words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798050" y="1447125"/>
            <a:ext cx="11150984" cy="4909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25000"/>
              <a:buNone/>
            </a:pPr>
            <a:r>
              <a:rPr lang="en-IN" b="1" dirty="0">
                <a:solidFill>
                  <a:srgbClr val="FF0000"/>
                </a:solidFill>
              </a:rPr>
              <a:t>Functional vs Non-Functional Requirements</a:t>
            </a:r>
            <a:br>
              <a:rPr lang="en-IN" sz="4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IN" sz="4800" b="1" dirty="0"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Session No.: </a:t>
            </a:r>
            <a: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Course Name: S</a:t>
            </a:r>
            <a: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ystem Design 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Course </a:t>
            </a:r>
            <a: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Code:</a:t>
            </a:r>
            <a:r>
              <a:rPr lang="en-IN" sz="1800" b="1" dirty="0"/>
              <a:t>RIUC515T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Instructor Name: </a:t>
            </a:r>
            <a:r>
              <a:rPr lang="en-IN" sz="1800" b="1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Dr. Syed Sabir Mohamed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Duration: 50 minutes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Date of Conduction of Class:</a:t>
            </a:r>
            <a:br>
              <a:rPr lang="en-IN" sz="1800" b="1" i="0" u="none" strike="noStrike" dirty="0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br>
              <a:rPr lang="en-IN" sz="1800" b="1" dirty="0">
                <a:latin typeface="Georgia"/>
                <a:ea typeface="Georgia"/>
                <a:cs typeface="Georgia"/>
                <a:sym typeface="Georgia"/>
              </a:rPr>
            </a:br>
            <a:endParaRPr sz="4800" b="1" dirty="0"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6" name="Google Shape;86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87" name="Google Shape;8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88" name="Google Shape;88;p1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5" y="176753"/>
            <a:ext cx="1190469" cy="11904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3048000" y="3246792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97" name="Google Shape;9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pic>
        <p:nvPicPr>
          <p:cNvPr id="98" name="Google Shape;9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7"/>
          <p:cNvSpPr txBox="1">
            <a:spLocks noGrp="1"/>
          </p:cNvSpPr>
          <p:nvPr>
            <p:ph type="title"/>
          </p:nvPr>
        </p:nvSpPr>
        <p:spPr>
          <a:xfrm>
            <a:off x="285752" y="1304433"/>
            <a:ext cx="421939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4000" b="1" i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Opening Question:</a:t>
            </a:r>
            <a:endParaRPr/>
          </a:p>
        </p:txBody>
      </p:sp>
      <p:sp>
        <p:nvSpPr>
          <p:cNvPr id="100" name="Google Shape;100;p27"/>
          <p:cNvSpPr/>
          <p:nvPr/>
        </p:nvSpPr>
        <p:spPr>
          <a:xfrm>
            <a:off x="600560" y="2442313"/>
            <a:ext cx="11049000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““When you use a mobile banking app, what do you expect it to do, and how do you expect it to perform?”</a:t>
            </a:r>
            <a:endParaRPr sz="3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06" name="Google Shape;106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pic>
        <p:nvPicPr>
          <p:cNvPr id="107" name="Google Shape;10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8"/>
          <p:cNvSpPr txBox="1">
            <a:spLocks noGrp="1"/>
          </p:cNvSpPr>
          <p:nvPr>
            <p:ph type="title"/>
          </p:nvPr>
        </p:nvSpPr>
        <p:spPr>
          <a:xfrm>
            <a:off x="285752" y="1304433"/>
            <a:ext cx="11593208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4000" b="1">
                <a:solidFill>
                  <a:srgbClr val="FF0000"/>
                </a:solidFill>
              </a:rPr>
              <a:t>By the end of this lesson, you should be able to </a:t>
            </a:r>
            <a:endParaRPr sz="4000" b="1">
              <a:solidFill>
                <a:srgbClr val="FF0000"/>
              </a:solidFill>
            </a:endParaRPr>
          </a:p>
        </p:txBody>
      </p:sp>
      <p:sp>
        <p:nvSpPr>
          <p:cNvPr id="109" name="Google Shape;109;p28"/>
          <p:cNvSpPr/>
          <p:nvPr/>
        </p:nvSpPr>
        <p:spPr>
          <a:xfrm>
            <a:off x="600560" y="2442313"/>
            <a:ext cx="11049000" cy="29854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Outcome: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Compare their roles in system design by explaining how </a:t>
            </a:r>
            <a:r>
              <a:rPr lang="en-I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requirements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 </a:t>
            </a:r>
            <a:r>
              <a:rPr lang="en-IN" sz="2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does, and </a:t>
            </a:r>
            <a:r>
              <a:rPr lang="en-IN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non-functional requirements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describe </a:t>
            </a:r>
            <a:r>
              <a:rPr lang="en-IN" sz="2800" b="0" i="1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lang="en-IN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performs.</a:t>
            </a: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lang="en-IN" sz="5400">
                <a:solidFill>
                  <a:srgbClr val="FF0000"/>
                </a:solidFill>
              </a:rPr>
              <a:t>Session Outline</a:t>
            </a:r>
            <a:endParaRPr>
              <a:solidFill>
                <a:srgbClr val="FF0000"/>
              </a:solidFill>
            </a:endParaRPr>
          </a:p>
        </p:txBody>
      </p:sp>
      <p:grpSp>
        <p:nvGrpSpPr>
          <p:cNvPr id="115" name="Google Shape;115;p5"/>
          <p:cNvGrpSpPr/>
          <p:nvPr/>
        </p:nvGrpSpPr>
        <p:grpSpPr>
          <a:xfrm>
            <a:off x="3869570" y="0"/>
            <a:ext cx="6900512" cy="5530734"/>
            <a:chOff x="0" y="2703"/>
            <a:chExt cx="6900512" cy="5530734"/>
          </a:xfrm>
        </p:grpSpPr>
        <p:cxnSp>
          <p:nvCxnSpPr>
            <p:cNvPr id="116" name="Google Shape;116;p5"/>
            <p:cNvCxnSpPr/>
            <p:nvPr/>
          </p:nvCxnSpPr>
          <p:spPr>
            <a:xfrm>
              <a:off x="0" y="2703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17" name="Google Shape;117;p5"/>
            <p:cNvSpPr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5"/>
            <p:cNvSpPr txBox="1"/>
            <p:nvPr/>
          </p:nvSpPr>
          <p:spPr>
            <a:xfrm>
              <a:off x="0" y="2703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 </a:t>
              </a:r>
              <a:r>
                <a:rPr lang="en-IN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Introduction</a:t>
              </a: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00"/>
                <a:buFont typeface="Arial"/>
                <a:buNone/>
              </a:pP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" name="Google Shape;119;p5"/>
            <p:cNvCxnSpPr/>
            <p:nvPr/>
          </p:nvCxnSpPr>
          <p:spPr>
            <a:xfrm>
              <a:off x="0" y="924492"/>
              <a:ext cx="6900512" cy="0"/>
            </a:xfrm>
            <a:prstGeom prst="straightConnector1">
              <a:avLst/>
            </a:prstGeom>
            <a:solidFill>
              <a:srgbClr val="176B22"/>
            </a:solidFill>
            <a:ln w="19050" cap="flat" cmpd="sng">
              <a:solidFill>
                <a:srgbClr val="176B2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0" name="Google Shape;120;p5"/>
            <p:cNvSpPr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5"/>
            <p:cNvSpPr txBox="1"/>
            <p:nvPr/>
          </p:nvSpPr>
          <p:spPr>
            <a:xfrm>
              <a:off x="0" y="924492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2.</a:t>
              </a:r>
              <a:r>
                <a:rPr lang="en-IN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Functional Requirements</a:t>
              </a: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" name="Google Shape;122;p5"/>
            <p:cNvCxnSpPr/>
            <p:nvPr/>
          </p:nvCxnSpPr>
          <p:spPr>
            <a:xfrm>
              <a:off x="0" y="1846281"/>
              <a:ext cx="6900512" cy="0"/>
            </a:xfrm>
            <a:prstGeom prst="straightConnector1">
              <a:avLst/>
            </a:prstGeom>
            <a:solidFill>
              <a:srgbClr val="0C9ED5"/>
            </a:solidFill>
            <a:ln w="19050" cap="flat" cmpd="sng">
              <a:solidFill>
                <a:srgbClr val="0C9ED5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3" name="Google Shape;123;p5"/>
            <p:cNvSpPr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5"/>
            <p:cNvSpPr txBox="1"/>
            <p:nvPr/>
          </p:nvSpPr>
          <p:spPr>
            <a:xfrm>
              <a:off x="0" y="1846281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</a:t>
              </a:r>
              <a:r>
                <a:rPr lang="en-IN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Non-Functional Requirements</a:t>
              </a: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" name="Google Shape;125;p5"/>
            <p:cNvCxnSpPr/>
            <p:nvPr/>
          </p:nvCxnSpPr>
          <p:spPr>
            <a:xfrm>
              <a:off x="0" y="2768070"/>
              <a:ext cx="6900512" cy="0"/>
            </a:xfrm>
            <a:prstGeom prst="straightConnector1">
              <a:avLst/>
            </a:prstGeom>
            <a:solidFill>
              <a:srgbClr val="A02891"/>
            </a:solidFill>
            <a:ln w="19050" cap="flat" cmpd="sng">
              <a:solidFill>
                <a:srgbClr val="A0289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6" name="Google Shape;126;p5"/>
            <p:cNvSpPr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5"/>
            <p:cNvSpPr txBox="1"/>
            <p:nvPr/>
          </p:nvSpPr>
          <p:spPr>
            <a:xfrm>
              <a:off x="0" y="2768070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  </a:t>
              </a:r>
              <a:r>
                <a:rPr lang="en-IN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Comparison</a:t>
              </a: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" name="Google Shape;128;p5"/>
            <p:cNvCxnSpPr/>
            <p:nvPr/>
          </p:nvCxnSpPr>
          <p:spPr>
            <a:xfrm>
              <a:off x="0" y="3689859"/>
              <a:ext cx="6900512" cy="0"/>
            </a:xfrm>
            <a:prstGeom prst="straightConnector1">
              <a:avLst/>
            </a:prstGeom>
            <a:solidFill>
              <a:srgbClr val="4EA62C"/>
            </a:solidFill>
            <a:ln w="19050" cap="flat" cmpd="sng">
              <a:solidFill>
                <a:srgbClr val="4EA62C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9" name="Google Shape;129;p5"/>
            <p:cNvSpPr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5"/>
            <p:cNvSpPr txBox="1"/>
            <p:nvPr/>
          </p:nvSpPr>
          <p:spPr>
            <a:xfrm>
              <a:off x="0" y="3689859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5. </a:t>
              </a:r>
              <a:r>
                <a:rPr lang="en-IN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Activity 1: Think–Pair–Share</a:t>
              </a: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" name="Google Shape;131;p5"/>
            <p:cNvCxnSpPr/>
            <p:nvPr/>
          </p:nvCxnSpPr>
          <p:spPr>
            <a:xfrm>
              <a:off x="0" y="4611648"/>
              <a:ext cx="6900512" cy="0"/>
            </a:xfrm>
            <a:prstGeom prst="straightConnector1">
              <a:avLst/>
            </a:prstGeom>
            <a:solidFill>
              <a:srgbClr val="E97131"/>
            </a:solidFill>
            <a:ln w="19050" cap="flat" cmpd="sng">
              <a:solidFill>
                <a:srgbClr val="E9713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32" name="Google Shape;132;p5"/>
            <p:cNvSpPr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"/>
            <p:cNvSpPr txBox="1"/>
            <p:nvPr/>
          </p:nvSpPr>
          <p:spPr>
            <a:xfrm>
              <a:off x="0" y="4611648"/>
              <a:ext cx="6900512" cy="9217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6 Activity -2 </a:t>
              </a:r>
              <a:r>
                <a:rPr lang="en-IN" sz="2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Activity 2: Quiz &amp; Explanation</a:t>
              </a: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27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endParaRPr/>
            </a:p>
          </p:txBody>
        </p:sp>
      </p:grpSp>
      <p:sp>
        <p:nvSpPr>
          <p:cNvPr id="134" name="Google Shape;1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3900566" y="5781374"/>
            <a:ext cx="6900512" cy="921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850" tIns="102850" rIns="102850" bIns="1028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</a:t>
            </a: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Conclusion &amp; Reflection</a:t>
            </a:r>
            <a:endParaRPr sz="27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5"/>
          <p:cNvCxnSpPr>
            <a:stCxn id="133" idx="1"/>
            <a:endCxn id="133" idx="3"/>
          </p:cNvCxnSpPr>
          <p:nvPr/>
        </p:nvCxnSpPr>
        <p:spPr>
          <a:xfrm>
            <a:off x="3869570" y="5069840"/>
            <a:ext cx="6900600" cy="0"/>
          </a:xfrm>
          <a:prstGeom prst="straightConnector1">
            <a:avLst/>
          </a:prstGeom>
          <a:noFill/>
          <a:ln w="9525" cap="flat" cmpd="sng">
            <a:solidFill>
              <a:srgbClr val="115D8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9" name="Google Shape;139;p5"/>
          <p:cNvCxnSpPr/>
          <p:nvPr/>
        </p:nvCxnSpPr>
        <p:spPr>
          <a:xfrm>
            <a:off x="3900566" y="6325397"/>
            <a:ext cx="6900512" cy="0"/>
          </a:xfrm>
          <a:prstGeom prst="straightConnector1">
            <a:avLst/>
          </a:prstGeom>
          <a:noFill/>
          <a:ln w="9525" cap="flat" cmpd="sng">
            <a:solidFill>
              <a:srgbClr val="115D8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9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>
                <a:solidFill>
                  <a:srgbClr val="FF0000"/>
                </a:solidFill>
              </a:rPr>
              <a:t>Introduction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45" name="Google Shape;145;p29"/>
          <p:cNvSpPr txBox="1">
            <a:spLocks noGrp="1"/>
          </p:cNvSpPr>
          <p:nvPr>
            <p:ph type="body" idx="1"/>
          </p:nvPr>
        </p:nvSpPr>
        <p:spPr>
          <a:xfrm>
            <a:off x="1005884" y="2006187"/>
            <a:ext cx="10515600" cy="2885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 dirty="0"/>
              <a:t>Requirements define what a system must achieve: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 b="1" dirty="0"/>
              <a:t>Functional Requirements</a:t>
            </a:r>
            <a:r>
              <a:rPr lang="en-IN" dirty="0"/>
              <a:t> → What the system should do.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 b="1" dirty="0"/>
              <a:t>Non-Functional Requirements</a:t>
            </a:r>
            <a:r>
              <a:rPr lang="en-IN" dirty="0"/>
              <a:t> → How the system should perform.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IN" dirty="0"/>
              <a:t>		👉 Both are essential for successful system design.</a:t>
            </a:r>
            <a:endParaRPr dirty="0"/>
          </a:p>
        </p:txBody>
      </p:sp>
      <p:sp>
        <p:nvSpPr>
          <p:cNvPr id="146" name="Google Shape;146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47" name="Google Shape;14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 dirty="0">
                <a:solidFill>
                  <a:srgbClr val="FF0000"/>
                </a:solidFill>
              </a:rPr>
              <a:t>Functional Requirements</a:t>
            </a: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53" name="Google Shape;153;p30"/>
          <p:cNvSpPr txBox="1">
            <a:spLocks noGrp="1"/>
          </p:cNvSpPr>
          <p:nvPr>
            <p:ph type="body" idx="1"/>
          </p:nvPr>
        </p:nvSpPr>
        <p:spPr>
          <a:xfrm>
            <a:off x="838200" y="1997440"/>
            <a:ext cx="11353800" cy="45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 dirty="0"/>
              <a:t>Definition</a:t>
            </a:r>
            <a:r>
              <a:rPr lang="en-IN" dirty="0"/>
              <a:t>: Specify the functions, tasks, and </a:t>
            </a:r>
            <a:r>
              <a:rPr lang="en-IN" dirty="0" err="1"/>
              <a:t>behaviors</a:t>
            </a:r>
            <a:r>
              <a:rPr lang="en-IN" dirty="0"/>
              <a:t> the system must provide.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 dirty="0"/>
              <a:t>Examples</a:t>
            </a:r>
            <a:r>
              <a:rPr lang="en-IN" dirty="0"/>
              <a:t>: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ATM allows users to withdraw cash.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Online banking system enables fund transfers.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Hospital system records patient details.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 dirty="0"/>
              <a:t>Focus</a:t>
            </a:r>
            <a:r>
              <a:rPr lang="en-IN" dirty="0"/>
              <a:t>: Describes </a:t>
            </a:r>
            <a:r>
              <a:rPr lang="en-IN" b="1" dirty="0"/>
              <a:t>WHAT</a:t>
            </a:r>
            <a:r>
              <a:rPr lang="en-IN" dirty="0"/>
              <a:t> the system does.</a:t>
            </a:r>
            <a:endParaRPr dirty="0"/>
          </a:p>
        </p:txBody>
      </p:sp>
      <p:sp>
        <p:nvSpPr>
          <p:cNvPr id="154" name="Google Shape;154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pic>
        <p:nvPicPr>
          <p:cNvPr id="155" name="Google Shape;15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FF0000"/>
                </a:solidFill>
              </a:rPr>
              <a:t>Non-Functional Requirements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1" name="Google Shape;161;p31"/>
          <p:cNvSpPr txBox="1">
            <a:spLocks noGrp="1"/>
          </p:cNvSpPr>
          <p:nvPr>
            <p:ph type="body" idx="1"/>
          </p:nvPr>
        </p:nvSpPr>
        <p:spPr>
          <a:xfrm>
            <a:off x="838200" y="1997440"/>
            <a:ext cx="11353800" cy="45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 dirty="0"/>
              <a:t>Definition</a:t>
            </a:r>
            <a:r>
              <a:rPr lang="en-IN" dirty="0"/>
              <a:t>: Define quality attributes, performance, and constraints.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 dirty="0"/>
              <a:t>Examples</a:t>
            </a:r>
            <a:r>
              <a:rPr lang="en-IN" dirty="0"/>
              <a:t>: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System must respond within 3 seconds.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The system must support 5,000 users simultaneously.</a:t>
            </a:r>
            <a:endParaRPr dirty="0"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 dirty="0"/>
              <a:t>Data must be encrypted during transmission.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 dirty="0"/>
              <a:t>Focus</a:t>
            </a:r>
            <a:r>
              <a:rPr lang="en-IN" dirty="0"/>
              <a:t>: Describes </a:t>
            </a:r>
            <a:r>
              <a:rPr lang="en-IN" b="1" dirty="0"/>
              <a:t>HOW</a:t>
            </a:r>
            <a:r>
              <a:rPr lang="en-IN" dirty="0"/>
              <a:t> the system performs.</a:t>
            </a:r>
            <a:endParaRPr dirty="0"/>
          </a:p>
        </p:txBody>
      </p:sp>
      <p:sp>
        <p:nvSpPr>
          <p:cNvPr id="162" name="Google Shape;16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838200" y="85444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FF0000"/>
                </a:solidFill>
              </a:rPr>
              <a:t>Comparison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9" name="Google Shape;169;p32"/>
          <p:cNvSpPr txBox="1">
            <a:spLocks noGrp="1"/>
          </p:cNvSpPr>
          <p:nvPr>
            <p:ph type="body" idx="1"/>
          </p:nvPr>
        </p:nvSpPr>
        <p:spPr>
          <a:xfrm>
            <a:off x="838200" y="1997440"/>
            <a:ext cx="11353800" cy="4541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Functional Requirements</a:t>
            </a:r>
            <a:r>
              <a:rPr lang="en-IN"/>
              <a:t>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Focus on services, operations, and tasks.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Example: </a:t>
            </a:r>
            <a:r>
              <a:rPr lang="en-IN" i="1"/>
              <a:t>“System shall allow login.”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Non-Functional Requirements</a:t>
            </a:r>
            <a:r>
              <a:rPr lang="en-IN"/>
              <a:t>: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Focus on performance, quality, and constraints.</a:t>
            </a:r>
            <a:endParaRPr/>
          </a:p>
          <a:p>
            <a: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IN"/>
              <a:t>Example: </a:t>
            </a:r>
            <a:r>
              <a:rPr lang="en-IN" i="1"/>
              <a:t>“System shall process login within 2 seconds.”</a:t>
            </a:r>
            <a:endParaRPr/>
          </a:p>
          <a:p>
            <a:pPr marL="9144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👉 Both are necessary for </a:t>
            </a:r>
            <a:r>
              <a:rPr lang="en-IN" b="1"/>
              <a:t>usability and efficiency</a:t>
            </a:r>
            <a:r>
              <a:rPr lang="en-IN"/>
              <a:t>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.</a:t>
            </a:r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pic>
        <p:nvPicPr>
          <p:cNvPr id="171" name="Google Shape;171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>
            <a:spLocks noGrp="1"/>
          </p:cNvSpPr>
          <p:nvPr>
            <p:ph type="title"/>
          </p:nvPr>
        </p:nvSpPr>
        <p:spPr>
          <a:xfrm>
            <a:off x="2335002" y="774678"/>
            <a:ext cx="8420822" cy="103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FF0000"/>
                </a:solidFill>
              </a:rPr>
              <a:t>Activity 1: Think–Pair–Share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7" name="Google Shape;1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/>
          <p:nvPr/>
        </p:nvSpPr>
        <p:spPr>
          <a:xfrm>
            <a:off x="1033220" y="1629018"/>
            <a:ext cx="9893085" cy="4278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Discuss in pairs: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system shall allow students to register for courses.”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Functional or Non-Functional?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system must respond within 5 seconds during registration.”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Functional or Non-Functional?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e-commerce site allows adding items to cart.”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Functional or Non-Functional?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Activity 1:</a:t>
            </a:r>
            <a:endParaRPr/>
          </a:p>
        </p:txBody>
      </p:sp>
      <p:sp>
        <p:nvSpPr>
          <p:cNvPr id="185" name="Google Shape;185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186" name="Google Shape;186;p34"/>
          <p:cNvSpPr/>
          <p:nvPr/>
        </p:nvSpPr>
        <p:spPr>
          <a:xfrm>
            <a:off x="681926" y="1293624"/>
            <a:ext cx="11019294" cy="5262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system shall allow students to register for courses.”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</a:t>
            </a:r>
            <a:b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(It describes what the system does.)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system must respond within 5 seconds during registration.”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Non-Functional Requirement</a:t>
            </a:r>
            <a:b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(It specifies performance criteria — how well the system performs.)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e-commerce site allows adding items to cart.”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</a:t>
            </a: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</a:t>
            </a:r>
            <a:b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(It defines a feature of the system.)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Functional = Describes </a:t>
            </a: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should do.</a:t>
            </a:r>
            <a:b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Non-Functional = Describes </a:t>
            </a: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the system should perform.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5"/>
          <p:cNvSpPr txBox="1">
            <a:spLocks noGrp="1"/>
          </p:cNvSpPr>
          <p:nvPr>
            <p:ph type="title"/>
          </p:nvPr>
        </p:nvSpPr>
        <p:spPr>
          <a:xfrm>
            <a:off x="2427992" y="790177"/>
            <a:ext cx="7127651" cy="1035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sz="3200" b="1">
                <a:solidFill>
                  <a:srgbClr val="FF0000"/>
                </a:solidFill>
              </a:rPr>
              <a:t>Activity 2: Quiz &amp; Explanation</a:t>
            </a:r>
            <a:endParaRPr sz="3200" b="1">
              <a:solidFill>
                <a:srgbClr val="FF0000"/>
              </a:solidFill>
            </a:endParaRPr>
          </a:p>
        </p:txBody>
      </p:sp>
      <p:sp>
        <p:nvSpPr>
          <p:cNvPr id="192" name="Google Shape;192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pic>
        <p:nvPicPr>
          <p:cNvPr id="193" name="Google Shape;193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5"/>
          <p:cNvSpPr/>
          <p:nvPr/>
        </p:nvSpPr>
        <p:spPr>
          <a:xfrm>
            <a:off x="692257" y="2047472"/>
            <a:ext cx="10311540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Quiz Questions: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Q1. </a:t>
            </a:r>
            <a:r>
              <a:rPr lang="en-IN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ATM system must allow balance inquiry.”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Functional or Non-Functional?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Q2. </a:t>
            </a:r>
            <a:r>
              <a:rPr lang="en-IN" sz="2400" b="0" i="1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“The ATM must process transactions within 2 seconds.”</a:t>
            </a:r>
            <a:r>
              <a:rPr lang="en-IN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Functional or Non-Functional?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279086" y="37195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rgbClr val="7030A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Reflection of Activity 2</a:t>
            </a:r>
            <a:endParaRPr b="1">
              <a:solidFill>
                <a:srgbClr val="7030A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201" name="Google Shape;201;p36"/>
          <p:cNvSpPr/>
          <p:nvPr/>
        </p:nvSpPr>
        <p:spPr>
          <a:xfrm>
            <a:off x="657697" y="1694141"/>
            <a:ext cx="10697939" cy="3970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Q1.</a:t>
            </a: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“The ATM system must allow balance inquiry.” → </a:t>
            </a:r>
            <a:r>
              <a:rPr lang="en-IN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Requirement</a:t>
            </a:r>
            <a:b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(Describes what the system should do.)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Q2.</a:t>
            </a: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“The ATM must process transactions within 2 seconds.” → </a:t>
            </a:r>
            <a:r>
              <a:rPr lang="en-IN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Non-Functional Requirement</a:t>
            </a:r>
            <a:b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(Describes how well the system should perform.)</a:t>
            </a:r>
            <a:endParaRPr/>
          </a:p>
          <a:p>
            <a:pPr marL="51435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14350" marR="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699654" y="11156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IN" b="1">
                <a:solidFill>
                  <a:schemeClr val="accent5"/>
                </a:solidFill>
              </a:rPr>
              <a:t>Summary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07" name="Google Shape;207;p37"/>
          <p:cNvSpPr txBox="1">
            <a:spLocks noGrp="1"/>
          </p:cNvSpPr>
          <p:nvPr>
            <p:ph type="body" idx="1"/>
          </p:nvPr>
        </p:nvSpPr>
        <p:spPr>
          <a:xfrm>
            <a:off x="699654" y="143712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Functional Requirements</a:t>
            </a:r>
            <a:r>
              <a:rPr lang="en-IN"/>
              <a:t> → WHAT the system does.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Non-Functional Requirements</a:t>
            </a:r>
            <a:r>
              <a:rPr lang="en-IN"/>
              <a:t> → HOW the system performs.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 b="1"/>
              <a:t>Examples: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Functional → User login, Fund transfer, Patient record entry.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IN"/>
              <a:t>Non-Functional → Response time, Security, Scalability.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IN"/>
              <a:t>👉 Analysts must capture and balance both for </a:t>
            </a:r>
            <a:r>
              <a:rPr lang="en-IN" b="1"/>
              <a:t>successful system design</a:t>
            </a:r>
            <a:r>
              <a:rPr lang="en-IN"/>
              <a:t>.</a:t>
            </a:r>
            <a:endParaRPr/>
          </a:p>
        </p:txBody>
      </p:sp>
      <p:sp>
        <p:nvSpPr>
          <p:cNvPr id="208" name="Google Shape;208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2"/>
          <p:cNvSpPr txBox="1">
            <a:spLocks noGrp="1"/>
          </p:cNvSpPr>
          <p:nvPr>
            <p:ph type="title"/>
          </p:nvPr>
        </p:nvSpPr>
        <p:spPr>
          <a:xfrm>
            <a:off x="572209" y="956159"/>
            <a:ext cx="9818849" cy="1647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3600" b="1">
                <a:solidFill>
                  <a:srgbClr val="FF0000"/>
                </a:solidFill>
              </a:rPr>
              <a:t>Ensure attainment of LOs in alignment to the learning activities:</a:t>
            </a: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2000" b="1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4" name="Google Shape;21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15" name="Google Shape;21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pic>
        <p:nvPicPr>
          <p:cNvPr id="216" name="Google Shape;21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2"/>
          <p:cNvSpPr/>
          <p:nvPr/>
        </p:nvSpPr>
        <p:spPr>
          <a:xfrm>
            <a:off x="752544" y="2306014"/>
            <a:ext cx="10927829" cy="368940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0000" y="0"/>
                </a:moveTo>
                <a:close/>
                <a:lnTo>
                  <a:pt x="-10000" y="120000"/>
                </a:lnTo>
              </a:path>
              <a:path w="120000" h="120000" fill="none" extrusionOk="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114300" marR="0" lvl="1" indent="-1143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Outcome: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 1 (Think–Pair–Share)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Students collaboratively identify and classify functional vs non-functional requirements.</a:t>
            </a:r>
            <a:endParaRPr/>
          </a:p>
          <a:p>
            <a:pPr marL="114300" marR="0" lvl="1" indent="-114300" algn="l" rtl="0">
              <a:lnSpc>
                <a:spcPct val="75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14300" marR="0" lvl="1" indent="-114300" algn="l" rtl="0">
              <a:lnSpc>
                <a:spcPct val="75000"/>
              </a:lnSpc>
              <a:spcBef>
                <a:spcPts val="1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IN"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Activity 2 (Quiz &amp; Explanation)</a:t>
            </a:r>
            <a:r>
              <a:rPr lang="en-IN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Reinforces conceptual clarity through quick checks and teacher-led explanations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>
            <a:spLocks noGrp="1"/>
          </p:cNvSpPr>
          <p:nvPr>
            <p:ph type="title"/>
          </p:nvPr>
        </p:nvSpPr>
        <p:spPr>
          <a:xfrm>
            <a:off x="866676" y="2722965"/>
            <a:ext cx="9818849" cy="740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  <a:t>Discussion on the post session activities</a:t>
            </a: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br>
              <a:rPr lang="en-IN" sz="36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2000" b="1">
              <a:solidFill>
                <a:srgbClr val="FF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23" name="Google Shape;223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24" name="Google Shape;224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pic>
        <p:nvPicPr>
          <p:cNvPr id="225" name="Google Shape;225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>
            <a:spLocks noGrp="1"/>
          </p:cNvSpPr>
          <p:nvPr>
            <p:ph type="title"/>
          </p:nvPr>
        </p:nvSpPr>
        <p:spPr>
          <a:xfrm>
            <a:off x="810944" y="1037157"/>
            <a:ext cx="9818849" cy="1588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IN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Information about the next lesson</a:t>
            </a:r>
            <a:br>
              <a:rPr lang="en-IN" sz="5400" b="1">
                <a:solidFill>
                  <a:srgbClr val="FF0000"/>
                </a:solidFill>
                <a:latin typeface="Georgia"/>
                <a:ea typeface="Georgia"/>
                <a:cs typeface="Georgia"/>
                <a:sym typeface="Georgia"/>
              </a:rPr>
            </a:br>
            <a:endParaRPr sz="3200" b="1">
              <a:solidFill>
                <a:srgbClr val="FF0000"/>
              </a:solidFill>
            </a:endParaRPr>
          </a:p>
        </p:txBody>
      </p:sp>
      <p:sp>
        <p:nvSpPr>
          <p:cNvPr id="231" name="Google Shape;2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32" name="Google Shape;23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pic>
        <p:nvPicPr>
          <p:cNvPr id="233" name="Google Shape;23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/>
          <p:nvPr/>
        </p:nvSpPr>
        <p:spPr>
          <a:xfrm>
            <a:off x="3084164" y="2668552"/>
            <a:ext cx="6927742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Components of System Design</a:t>
            </a:r>
            <a:endParaRPr sz="4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Galgotias University</a:t>
            </a:r>
            <a:endParaRPr/>
          </a:p>
        </p:txBody>
      </p:sp>
      <p:sp>
        <p:nvSpPr>
          <p:cNvPr id="240" name="Google Shape;24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pic>
        <p:nvPicPr>
          <p:cNvPr id="241" name="Google Shape;24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32" y="114202"/>
            <a:ext cx="3795634" cy="740238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4"/>
          <p:cNvSpPr txBox="1"/>
          <p:nvPr/>
        </p:nvSpPr>
        <p:spPr>
          <a:xfrm>
            <a:off x="2368358" y="1012729"/>
            <a:ext cx="6096000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IN" sz="7200" b="1" i="1" u="none" strike="noStrike" cap="none">
                <a:solidFill>
                  <a:srgbClr val="F6C5A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7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br>
              <a:rPr lang="en-I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14"/>
          <p:cNvSpPr txBox="1">
            <a:spLocks noGrp="1"/>
          </p:cNvSpPr>
          <p:nvPr>
            <p:ph type="title"/>
          </p:nvPr>
        </p:nvSpPr>
        <p:spPr>
          <a:xfrm>
            <a:off x="1459796" y="2616030"/>
            <a:ext cx="8682501" cy="1297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Play"/>
              <a:buNone/>
            </a:pPr>
            <a:r>
              <a:rPr lang="en-IN" sz="4000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rPr>
              <a:t>Review and Reflection from students</a:t>
            </a:r>
            <a:endParaRPr/>
          </a:p>
        </p:txBody>
      </p:sp>
      <p:pic>
        <p:nvPicPr>
          <p:cNvPr id="244" name="Google Shape;244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909592" y="3992875"/>
            <a:ext cx="2723699" cy="26359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766</Words>
  <Application>Microsoft Office PowerPoint</Application>
  <PresentationFormat>Widescreen</PresentationFormat>
  <Paragraphs>122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Times New Roman</vt:lpstr>
      <vt:lpstr>Georgia</vt:lpstr>
      <vt:lpstr>Play</vt:lpstr>
      <vt:lpstr>Office Theme</vt:lpstr>
      <vt:lpstr>Functional vs Non-Functional Requirements  Session No.: 1 Course Name: System Design  Course Code:RIUC515T Instructor Name: Dr. Syed Sabir Mohamed Duration: 50 minutes Date of Conduction of Class:   </vt:lpstr>
      <vt:lpstr>Opening Question:</vt:lpstr>
      <vt:lpstr>By the end of this lesson, you should be able to </vt:lpstr>
      <vt:lpstr>Session Outline</vt:lpstr>
      <vt:lpstr>Introduction </vt:lpstr>
      <vt:lpstr>Functional Requirements</vt:lpstr>
      <vt:lpstr>Non-Functional Requirements</vt:lpstr>
      <vt:lpstr>Comparison</vt:lpstr>
      <vt:lpstr>Activity 1: Think–Pair–Share</vt:lpstr>
      <vt:lpstr>Reflection Activity 1:</vt:lpstr>
      <vt:lpstr>Activity 2: Quiz &amp; Explanation</vt:lpstr>
      <vt:lpstr>Reflection of Activity 2</vt:lpstr>
      <vt:lpstr>Summary</vt:lpstr>
      <vt:lpstr>   Ensure attainment of LOs in alignment to the learning activities:    </vt:lpstr>
      <vt:lpstr>   Discussion on the post session activities    </vt:lpstr>
      <vt:lpstr>Information about the next lesson </vt:lpstr>
      <vt:lpstr>Review and Reflection from students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Functional vs Non-Functional Requirements  Session No.: 1 Course Name: System Design  Course Code:RIUC515T Instructor Name:Dr.Syed Sabir Mohamed Duration: 50 minutes Date of Conduction of Class:   </dc:title>
  <dc:creator>Deepak Gupta</dc:creator>
  <cp:lastModifiedBy>Santosh Sahu</cp:lastModifiedBy>
  <cp:revision>2</cp:revision>
  <dcterms:created xsi:type="dcterms:W3CDTF">2024-08-22T06:33:55Z</dcterms:created>
  <dcterms:modified xsi:type="dcterms:W3CDTF">2026-09-10T02:58:39Z</dcterms:modified>
</cp:coreProperties>
</file>