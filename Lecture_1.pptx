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76" r:id="rId10"/>
    <p:sldId id="263" r:id="rId11"/>
    <p:sldId id="266" r:id="rId12"/>
    <p:sldId id="277" r:id="rId13"/>
    <p:sldId id="267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eorgia" panose="02040502050405020303" pitchFamily="18" charset="0"/>
      <p:regular r:id="rId26"/>
      <p:bold r:id="rId27"/>
      <p:italic r:id="rId28"/>
      <p:boldItalic r:id="rId29"/>
    </p:embeddedFont>
    <p:embeddedFont>
      <p:font typeface="Play" panose="020B0604020202020204" charset="0"/>
      <p:regular r:id="rId30"/>
      <p:bold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+Pjb0Pgz7kh0TOdpilQr97rS8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42044E-069F-4821-99A7-5C0CC3AC29F7}">
  <a:tblStyle styleId="{4042044E-069F-4821-99A7-5C0CC3AC29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58"/>
  </p:normalViewPr>
  <p:slideViewPr>
    <p:cSldViewPr snapToGrid="0">
      <p:cViewPr varScale="1">
        <p:scale>
          <a:sx n="74" d="100"/>
          <a:sy n="74" d="100"/>
        </p:scale>
        <p:origin x="105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5BB0302C-9F0D-7A4D-5485-7191D5589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:notes">
            <a:extLst>
              <a:ext uri="{FF2B5EF4-FFF2-40B4-BE49-F238E27FC236}">
                <a16:creationId xmlns:a16="http://schemas.microsoft.com/office/drawing/2014/main" id="{C6763ACE-A66A-D41B-189A-7A78291417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29:notes">
            <a:extLst>
              <a:ext uri="{FF2B5EF4-FFF2-40B4-BE49-F238E27FC236}">
                <a16:creationId xmlns:a16="http://schemas.microsoft.com/office/drawing/2014/main" id="{E1E74EEC-E4EF-09F1-1BD7-EEDF151AD8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687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87CFC14A-3249-7E90-77A2-15DAF4A0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:notes">
            <a:extLst>
              <a:ext uri="{FF2B5EF4-FFF2-40B4-BE49-F238E27FC236}">
                <a16:creationId xmlns:a16="http://schemas.microsoft.com/office/drawing/2014/main" id="{DC82BB23-B77E-C184-6BC5-77E302CA22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29:notes">
            <a:extLst>
              <a:ext uri="{FF2B5EF4-FFF2-40B4-BE49-F238E27FC236}">
                <a16:creationId xmlns:a16="http://schemas.microsoft.com/office/drawing/2014/main" id="{366DE269-7F12-48B3-17B6-10B9086952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40759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2" name="Google Shape;27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555149" y="1367222"/>
            <a:ext cx="9078377" cy="381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l">
              <a:buSzPct val="100000"/>
            </a:pPr>
            <a:r>
              <a:rPr lang="en-IN" sz="5300" dirty="0">
                <a:latin typeface="Times New Roman"/>
                <a:ea typeface="Times New Roman"/>
                <a:cs typeface="Times New Roman"/>
                <a:sym typeface="Times New Roman"/>
              </a:rPr>
              <a:t>Introduction, Definition of Software Engineering</a:t>
            </a:r>
            <a:br>
              <a:rPr lang="en-IN" sz="53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Session No.: </a:t>
            </a:r>
            <a:r>
              <a:rPr lang="en-IN" sz="1800" b="1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b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Course Name: </a:t>
            </a:r>
            <a:r>
              <a:rPr lang="en-IN" sz="1800" b="1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Software Engineering </a:t>
            </a:r>
            <a:br>
              <a:rPr lang="en-IN" sz="1800" b="1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Course </a:t>
            </a:r>
            <a:r>
              <a:rPr lang="en-IN" sz="1800" b="1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Code: </a:t>
            </a:r>
            <a:r>
              <a:rPr lang="en-IN" sz="1600" b="1" dirty="0"/>
              <a:t>R1UC542B </a:t>
            </a:r>
            <a:b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Instructor Name: Dr. </a:t>
            </a:r>
            <a:r>
              <a:rPr lang="en-IN" sz="1800" b="1" i="0" u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Monalisa Panigrahi</a:t>
            </a:r>
            <a:b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Duration: 50 minutes</a:t>
            </a:r>
            <a:b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Date of Conduction of Class:</a:t>
            </a:r>
            <a:b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1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IN" sz="1800" b="1" dirty="0">
                <a:latin typeface="Georgia"/>
                <a:ea typeface="Georgia"/>
                <a:cs typeface="Georgia"/>
                <a:sym typeface="Georgia"/>
              </a:rPr>
            </a:br>
            <a:endParaRPr sz="4800" b="1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91" name="Google Shape;91;p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579580" y="1748046"/>
            <a:ext cx="5830456" cy="3710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What do you understand about Software ?? Give some examples ? 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/>
            </a:b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0" name="Google Shape;100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102" name="Google Shape;102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812800" y="1277871"/>
            <a:ext cx="30893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Question:</a:t>
            </a:r>
            <a:endParaRPr sz="2800" b="1" i="1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3" descr="315+ Thousand Asking Questions Royalty-Free Images, Stock Photos &amp; Pictures  | Shutterstoc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47865" y="1163782"/>
            <a:ext cx="3810000" cy="5234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1074596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n-IN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end of this session students will be able to 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By the end of this lesson, you should be able to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23" name="Google Shape;12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grpSp>
        <p:nvGrpSpPr>
          <p:cNvPr id="124" name="Google Shape;124;p4"/>
          <p:cNvGrpSpPr/>
          <p:nvPr/>
        </p:nvGrpSpPr>
        <p:grpSpPr>
          <a:xfrm>
            <a:off x="644056" y="2641380"/>
            <a:ext cx="9288654" cy="3640777"/>
            <a:chOff x="0" y="0"/>
            <a:chExt cx="9288654" cy="3640777"/>
          </a:xfrm>
        </p:grpSpPr>
        <p:sp>
          <p:nvSpPr>
            <p:cNvPr id="125" name="Google Shape;125;p4"/>
            <p:cNvSpPr/>
            <p:nvPr/>
          </p:nvSpPr>
          <p:spPr>
            <a:xfrm>
              <a:off x="0" y="0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48627" y="48627"/>
              <a:ext cx="7572674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5725" tIns="125725" rIns="125725" bIns="1257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3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LO: Explain Software Engineering and it basic Terminology .</a:t>
              </a:r>
              <a:endParaRPr sz="3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687801" y="2077799"/>
              <a:ext cx="6473075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5725" tIns="125725" rIns="125725" bIns="12572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00"/>
                <a:buFont typeface="Arial"/>
                <a:buNone/>
              </a:pPr>
              <a:r>
                <a:rPr lang="en-IN" sz="33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Write a Simple Java Program – Create and save a basic Java program (HelloWorld.java).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8" name="Google Shape;128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>
            <a:spLocks noGrp="1"/>
          </p:cNvSpPr>
          <p:nvPr>
            <p:ph type="title"/>
          </p:nvPr>
        </p:nvSpPr>
        <p:spPr>
          <a:xfrm>
            <a:off x="619950" y="711298"/>
            <a:ext cx="3418800" cy="55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IN" sz="5400"/>
              <a:t>Session Outline</a:t>
            </a:r>
            <a:endParaRPr/>
          </a:p>
        </p:txBody>
      </p:sp>
      <p:grpSp>
        <p:nvGrpSpPr>
          <p:cNvPr id="135" name="Google Shape;135;p5"/>
          <p:cNvGrpSpPr/>
          <p:nvPr/>
        </p:nvGrpSpPr>
        <p:grpSpPr>
          <a:xfrm>
            <a:off x="3900566" y="484321"/>
            <a:ext cx="6900512" cy="5530734"/>
            <a:chOff x="0" y="2703"/>
            <a:chExt cx="6900512" cy="5530734"/>
          </a:xfrm>
        </p:grpSpPr>
        <p:cxnSp>
          <p:nvCxnSpPr>
            <p:cNvPr id="136" name="Google Shape;136;p5"/>
            <p:cNvCxnSpPr/>
            <p:nvPr/>
          </p:nvCxnSpPr>
          <p:spPr>
            <a:xfrm>
              <a:off x="0" y="2703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7" name="Google Shape;137;p5"/>
            <p:cNvSpPr/>
            <p:nvPr/>
          </p:nvSpPr>
          <p:spPr>
            <a:xfrm>
              <a:off x="0" y="2703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 txBox="1"/>
            <p:nvPr/>
          </p:nvSpPr>
          <p:spPr>
            <a:xfrm>
              <a:off x="0" y="2703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IN" sz="2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</a:t>
              </a:r>
              <a:r>
                <a:rPr lang="en-IN" sz="27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Introduction </a:t>
              </a:r>
              <a:endParaRPr sz="2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5"/>
            <p:cNvCxnSpPr/>
            <p:nvPr/>
          </p:nvCxnSpPr>
          <p:spPr>
            <a:xfrm>
              <a:off x="0" y="924492"/>
              <a:ext cx="6900512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0" name="Google Shape;140;p5"/>
            <p:cNvSpPr/>
            <p:nvPr/>
          </p:nvSpPr>
          <p:spPr>
            <a:xfrm>
              <a:off x="0" y="924492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0" y="924492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lang="en-IN" sz="27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Types of Software  </a:t>
              </a:r>
              <a:endParaRPr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" name="Google Shape;142;p5"/>
            <p:cNvCxnSpPr/>
            <p:nvPr/>
          </p:nvCxnSpPr>
          <p:spPr>
            <a:xfrm>
              <a:off x="0" y="1846281"/>
              <a:ext cx="6900512" cy="0"/>
            </a:xfrm>
            <a:prstGeom prst="straightConnector1">
              <a:avLst/>
            </a:prstGeom>
            <a:solidFill>
              <a:srgbClr val="0C9ED5"/>
            </a:solidFill>
            <a:ln w="1905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3" name="Google Shape;143;p5"/>
            <p:cNvSpPr/>
            <p:nvPr/>
          </p:nvSpPr>
          <p:spPr>
            <a:xfrm>
              <a:off x="0" y="1846281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0" y="1846281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</a:t>
              </a:r>
              <a:r>
                <a:rPr lang="en-IN" sz="27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Activity -1 </a:t>
              </a:r>
              <a:endParaRPr sz="2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145;p5"/>
            <p:cNvCxnSpPr/>
            <p:nvPr/>
          </p:nvCxnSpPr>
          <p:spPr>
            <a:xfrm>
              <a:off x="0" y="2768070"/>
              <a:ext cx="6900512" cy="0"/>
            </a:xfrm>
            <a:prstGeom prst="straightConnector1">
              <a:avLst/>
            </a:prstGeom>
            <a:solidFill>
              <a:srgbClr val="A02891"/>
            </a:solidFill>
            <a:ln w="1905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6" name="Google Shape;146;p5"/>
            <p:cNvSpPr/>
            <p:nvPr/>
          </p:nvSpPr>
          <p:spPr>
            <a:xfrm>
              <a:off x="0" y="2768070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 txBox="1"/>
            <p:nvPr/>
          </p:nvSpPr>
          <p:spPr>
            <a:xfrm>
              <a:off x="0" y="2768070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IN" sz="2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 </a:t>
              </a:r>
              <a:r>
                <a:rPr lang="en-IN" sz="27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Importance of Software Engineering and scope </a:t>
              </a:r>
              <a:endParaRPr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" name="Google Shape;148;p5"/>
            <p:cNvCxnSpPr/>
            <p:nvPr/>
          </p:nvCxnSpPr>
          <p:spPr>
            <a:xfrm>
              <a:off x="0" y="3689859"/>
              <a:ext cx="6900512" cy="0"/>
            </a:xfrm>
            <a:prstGeom prst="straightConnector1">
              <a:avLst/>
            </a:prstGeom>
            <a:solidFill>
              <a:srgbClr val="4EA62C"/>
            </a:solidFill>
            <a:ln w="19050" cap="flat" cmpd="sng">
              <a:solidFill>
                <a:srgbClr val="4EA62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9" name="Google Shape;149;p5"/>
            <p:cNvSpPr/>
            <p:nvPr/>
          </p:nvSpPr>
          <p:spPr>
            <a:xfrm>
              <a:off x="0" y="3689859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0" y="3689859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</a:t>
              </a:r>
              <a:r>
                <a:rPr lang="en-IN" sz="27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Software Process and S/W Engineering Approaches. </a:t>
              </a:r>
              <a:endParaRPr sz="2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" name="Google Shape;151;p5"/>
            <p:cNvCxnSpPr/>
            <p:nvPr/>
          </p:nvCxnSpPr>
          <p:spPr>
            <a:xfrm>
              <a:off x="0" y="4611648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2" name="Google Shape;152;p5"/>
            <p:cNvSpPr/>
            <p:nvPr/>
          </p:nvSpPr>
          <p:spPr>
            <a:xfrm>
              <a:off x="0" y="4611648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5"/>
            <p:cNvSpPr txBox="1"/>
            <p:nvPr/>
          </p:nvSpPr>
          <p:spPr>
            <a:xfrm>
              <a:off x="0" y="4611648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7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 </a:t>
              </a:r>
              <a:r>
                <a:rPr lang="en-IN" sz="27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Activity -2</a:t>
              </a:r>
              <a:endPara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7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endPara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55" name="Google Shape;15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56" name="Google Shape;156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3900566" y="5781374"/>
            <a:ext cx="6900512" cy="92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0" tIns="102850" rIns="102850" bIns="1028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</a:t>
            </a:r>
            <a:r>
              <a:rPr lang="en-I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Reflection of Activity-2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2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5"/>
          <p:cNvCxnSpPr>
            <a:stCxn id="153" idx="1"/>
            <a:endCxn id="153" idx="3"/>
          </p:cNvCxnSpPr>
          <p:nvPr/>
        </p:nvCxnSpPr>
        <p:spPr>
          <a:xfrm>
            <a:off x="3900566" y="5554161"/>
            <a:ext cx="6900600" cy="0"/>
          </a:xfrm>
          <a:prstGeom prst="straightConnector1">
            <a:avLst/>
          </a:prstGeom>
          <a:noFill/>
          <a:ln w="9525" cap="flat" cmpd="sng">
            <a:solidFill>
              <a:srgbClr val="115D8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5"/>
          <p:cNvCxnSpPr/>
          <p:nvPr/>
        </p:nvCxnSpPr>
        <p:spPr>
          <a:xfrm>
            <a:off x="3900566" y="6325397"/>
            <a:ext cx="6900512" cy="0"/>
          </a:xfrm>
          <a:prstGeom prst="straightConnector1">
            <a:avLst/>
          </a:prstGeom>
          <a:noFill/>
          <a:ln w="9525" cap="flat" cmpd="sng">
            <a:solidFill>
              <a:srgbClr val="115D8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66" name="Google Shape;16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3468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 txBox="1">
            <a:spLocks noGrp="1"/>
          </p:cNvSpPr>
          <p:nvPr>
            <p:ph type="title"/>
          </p:nvPr>
        </p:nvSpPr>
        <p:spPr>
          <a:xfrm>
            <a:off x="469644" y="665361"/>
            <a:ext cx="285634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3600"/>
              <a:t>Introduction</a:t>
            </a:r>
            <a:r>
              <a:rPr lang="en-IN"/>
              <a:t> 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5188689" y="1605515"/>
            <a:ext cx="6444610" cy="414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Program</a:t>
            </a:r>
            <a: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 computer program is a collection of step-by-step instructions given to a computer to solve a problem or perform a task.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Software:</a:t>
            </a:r>
            <a: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Software is a program or set of programs containing instructions that provide the desired functionality.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Engineering</a:t>
            </a:r>
            <a: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Engineering is the process of designing and building something that serves a purpose efficiently and cost-effectively.</a:t>
            </a:r>
            <a:endParaRPr dirty="0"/>
          </a:p>
        </p:txBody>
      </p:sp>
      <p:pic>
        <p:nvPicPr>
          <p:cNvPr id="171" name="Google Shape;171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3964" y="1605516"/>
            <a:ext cx="4849091" cy="4140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>
            <a:spLocks noGrp="1"/>
          </p:cNvSpPr>
          <p:nvPr>
            <p:ph type="title"/>
          </p:nvPr>
        </p:nvSpPr>
        <p:spPr>
          <a:xfrm>
            <a:off x="156076" y="1777423"/>
            <a:ext cx="3483481" cy="79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2400" b="1">
                <a:latin typeface="Times New Roman"/>
                <a:ea typeface="Times New Roman"/>
                <a:cs typeface="Times New Roman"/>
                <a:sym typeface="Times New Roman"/>
              </a:rPr>
              <a:t>Types of Software's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179" name="Google Shape;17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3468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7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/>
          <p:nvPr/>
        </p:nvSpPr>
        <p:spPr>
          <a:xfrm>
            <a:off x="3795634" y="1557362"/>
            <a:ext cx="6096000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Software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software controls and manages the computer hardware and provides a platform for other software to run.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Operating Systems</a:t>
            </a:r>
            <a:r>
              <a:rPr lang="en-I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(Windows, Linux, macOS)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Device Drivers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Utility Programs</a:t>
            </a:r>
            <a:r>
              <a:rPr lang="en-I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(Disk cleanup, antivirus)</a:t>
            </a:r>
            <a:endParaRPr dirty="0"/>
          </a:p>
        </p:txBody>
      </p:sp>
      <p:sp>
        <p:nvSpPr>
          <p:cNvPr id="182" name="Google Shape;182;p27"/>
          <p:cNvSpPr/>
          <p:nvPr/>
        </p:nvSpPr>
        <p:spPr>
          <a:xfrm>
            <a:off x="3795634" y="3423108"/>
            <a:ext cx="6096000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Software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software is designed to help users perform specific tasks.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 Word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document writing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calculations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browsers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Chrome, Firefox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 apps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795634" y="5168205"/>
            <a:ext cx="60960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Software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software helps developers create other software.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Compilers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(GCC)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Interpreters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(Python interpreter)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IDEs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(Visual Studio, Code::Blocks)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353D4A-2121-764E-E1E2-46BD8C2C4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13706"/>
            <a:ext cx="12269972" cy="5770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GSCALE full form and date</a:t>
            </a:r>
            <a:endParaRPr/>
          </a:p>
        </p:txBody>
      </p:sp>
      <p:sp>
        <p:nvSpPr>
          <p:cNvPr id="199" name="Google Shape;19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200" name="Google Shape;200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 txBox="1"/>
          <p:nvPr/>
        </p:nvSpPr>
        <p:spPr>
          <a:xfrm>
            <a:off x="1708728" y="630396"/>
            <a:ext cx="985068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IN" sz="4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Learning Activity 1 (Quiz)</a:t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461819" y="1810326"/>
            <a:ext cx="5357557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What is Software Engineering?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Writing programs without planning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A systematic approach to developing and maintaining software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Using only hardware components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Installing operating systems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38068" y="3638553"/>
            <a:ext cx="609600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Windows Operating System is an example of: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Application Software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Programming Software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System Software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Utility Software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5819376" y="1674099"/>
            <a:ext cx="609600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Which of the following is Application Software?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Linux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MS Word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Compiler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Device Driver</a:t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5902036" y="3637978"/>
            <a:ext cx="609600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A compiler is an example of: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System Software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Application Software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Programming Software</a:t>
            </a:r>
            <a:b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Utility Software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 txBox="1">
            <a:spLocks noGrp="1"/>
          </p:cNvSpPr>
          <p:nvPr>
            <p:ph type="title"/>
          </p:nvPr>
        </p:nvSpPr>
        <p:spPr>
          <a:xfrm>
            <a:off x="1271108" y="967550"/>
            <a:ext cx="8246195" cy="164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IN" sz="4000" b="1">
                <a:solidFill>
                  <a:schemeClr val="dk2"/>
                </a:solidFill>
              </a:rPr>
              <a:t>Reflection Learning Activity 1</a:t>
            </a:r>
            <a:endParaRPr/>
          </a:p>
        </p:txBody>
      </p:sp>
      <p:sp>
        <p:nvSpPr>
          <p:cNvPr id="212" name="Google Shape;21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13" name="Google Shape;21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pic>
        <p:nvPicPr>
          <p:cNvPr id="214" name="Google Shape;214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/>
          <p:nvPr/>
        </p:nvSpPr>
        <p:spPr>
          <a:xfrm>
            <a:off x="1274619" y="2422467"/>
            <a:ext cx="609600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2-c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3-b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4-c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CE532EB-29F0-2570-9950-61BC32C49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>
            <a:extLst>
              <a:ext uri="{FF2B5EF4-FFF2-40B4-BE49-F238E27FC236}">
                <a16:creationId xmlns:a16="http://schemas.microsoft.com/office/drawing/2014/main" id="{E4415678-F546-F2AF-FEE4-799E139B12E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22" name="Google Shape;222;p29">
            <a:extLst>
              <a:ext uri="{FF2B5EF4-FFF2-40B4-BE49-F238E27FC236}">
                <a16:creationId xmlns:a16="http://schemas.microsoft.com/office/drawing/2014/main" id="{7376EA02-306F-BFB1-B8F1-B704A60119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223" name="Google Shape;223;p29">
            <a:extLst>
              <a:ext uri="{FF2B5EF4-FFF2-40B4-BE49-F238E27FC236}">
                <a16:creationId xmlns:a16="http://schemas.microsoft.com/office/drawing/2014/main" id="{0C304F96-B703-515C-B9C1-1E6D188542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3468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B5D41F7-4556-DC8F-F372-7DDCD33A73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>
            <a:extLst>
              <a:ext uri="{FF2B5EF4-FFF2-40B4-BE49-F238E27FC236}">
                <a16:creationId xmlns:a16="http://schemas.microsoft.com/office/drawing/2014/main" id="{295FE309-BB35-C1EA-5D7B-7E92893D81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7855" y="1374053"/>
            <a:ext cx="3454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Software Engineering</a:t>
            </a:r>
            <a:endParaRPr sz="2000" b="1" dirty="0"/>
          </a:p>
        </p:txBody>
      </p:sp>
      <p:sp>
        <p:nvSpPr>
          <p:cNvPr id="226" name="Google Shape;226;p29">
            <a:extLst>
              <a:ext uri="{FF2B5EF4-FFF2-40B4-BE49-F238E27FC236}">
                <a16:creationId xmlns:a16="http://schemas.microsoft.com/office/drawing/2014/main" id="{B633C3F8-C9C0-CD2F-69FD-468299EBF670}"/>
              </a:ext>
            </a:extLst>
          </p:cNvPr>
          <p:cNvSpPr txBox="1"/>
          <p:nvPr/>
        </p:nvSpPr>
        <p:spPr>
          <a:xfrm>
            <a:off x="4866409" y="1550351"/>
            <a:ext cx="4953000" cy="3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=</a:t>
            </a:r>
            <a:endParaRPr dirty="0"/>
          </a:p>
        </p:txBody>
      </p:sp>
      <p:sp>
        <p:nvSpPr>
          <p:cNvPr id="227" name="Google Shape;227;p29">
            <a:extLst>
              <a:ext uri="{FF2B5EF4-FFF2-40B4-BE49-F238E27FC236}">
                <a16:creationId xmlns:a16="http://schemas.microsoft.com/office/drawing/2014/main" id="{145D669B-AB8C-03BC-64DE-C10ABDFDB423}"/>
              </a:ext>
            </a:extLst>
          </p:cNvPr>
          <p:cNvSpPr txBox="1"/>
          <p:nvPr/>
        </p:nvSpPr>
        <p:spPr>
          <a:xfrm>
            <a:off x="702399" y="4516583"/>
            <a:ext cx="10446840" cy="74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9BAA4C-A186-EBDB-072F-17369291F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132608"/>
            <a:ext cx="12099852" cy="572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114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89" name="Google Shape;18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pic>
        <p:nvPicPr>
          <p:cNvPr id="190" name="Google Shape;19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3468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 txBox="1"/>
          <p:nvPr/>
        </p:nvSpPr>
        <p:spPr>
          <a:xfrm>
            <a:off x="3408218" y="1421243"/>
            <a:ext cx="7994171" cy="326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The systematic approach that is used in software engineering is sometimes called a software process</a:t>
            </a:r>
            <a:r>
              <a:rPr lang="en-IN" sz="18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software process is a sequence of activities that leads to the production of a software product. There are four fundamental activities that are common to all software processes.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activities are: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specification</a:t>
            </a:r>
            <a: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where customers and engineers define the software that is to be produced and the constraints on its operation.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development</a:t>
            </a:r>
            <a: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where the software is designed and programmed.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validation, </a:t>
            </a:r>
            <a: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the software is checked to ensure that it is what the customer requires.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evolution</a:t>
            </a:r>
            <a: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where the software is modified to reflect changing customer and market requirements.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737082" y="1421243"/>
            <a:ext cx="23214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process</a:t>
            </a: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pic>
        <p:nvPicPr>
          <p:cNvPr id="223" name="Google Shape;22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3468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267855" y="1374053"/>
            <a:ext cx="3454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Why Software Engineering Required</a:t>
            </a:r>
            <a:endParaRPr sz="2000" b="1" dirty="0"/>
          </a:p>
        </p:txBody>
      </p:sp>
      <p:sp>
        <p:nvSpPr>
          <p:cNvPr id="226" name="Google Shape;226;p29"/>
          <p:cNvSpPr txBox="1"/>
          <p:nvPr/>
        </p:nvSpPr>
        <p:spPr>
          <a:xfrm>
            <a:off x="4866409" y="1550351"/>
            <a:ext cx="4953000" cy="3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we are learning Software Engineering?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Complexity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minimize software cost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decrease time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Handling big projects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Reliable softwares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Effectiveness</a:t>
            </a:r>
            <a:endParaRPr/>
          </a:p>
        </p:txBody>
      </p:sp>
      <p:sp>
        <p:nvSpPr>
          <p:cNvPr id="227" name="Google Shape;227;p29"/>
          <p:cNvSpPr txBox="1"/>
          <p:nvPr/>
        </p:nvSpPr>
        <p:spPr>
          <a:xfrm>
            <a:off x="702399" y="4516582"/>
            <a:ext cx="10446840" cy="101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83C41C-26C4-0268-7462-1A8C1DD53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66476"/>
            <a:ext cx="11589487" cy="52898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01A42565-33C7-0B11-BA52-2040CC3F9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>
            <a:extLst>
              <a:ext uri="{FF2B5EF4-FFF2-40B4-BE49-F238E27FC236}">
                <a16:creationId xmlns:a16="http://schemas.microsoft.com/office/drawing/2014/main" id="{128C10E4-02FC-4D14-EB73-A36F8D01D85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22" name="Google Shape;222;p29">
            <a:extLst>
              <a:ext uri="{FF2B5EF4-FFF2-40B4-BE49-F238E27FC236}">
                <a16:creationId xmlns:a16="http://schemas.microsoft.com/office/drawing/2014/main" id="{859E725D-3CE6-DE4E-34F1-61BAB5F62C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pic>
        <p:nvPicPr>
          <p:cNvPr id="223" name="Google Shape;223;p29">
            <a:extLst>
              <a:ext uri="{FF2B5EF4-FFF2-40B4-BE49-F238E27FC236}">
                <a16:creationId xmlns:a16="http://schemas.microsoft.com/office/drawing/2014/main" id="{BAEF395D-89CC-6408-C4E6-88E3DD4802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3468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53F8E52-566F-A50F-8A7A-B325187493B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>
            <a:extLst>
              <a:ext uri="{FF2B5EF4-FFF2-40B4-BE49-F238E27FC236}">
                <a16:creationId xmlns:a16="http://schemas.microsoft.com/office/drawing/2014/main" id="{4B5E7791-9B7A-F4FA-F51C-6824CD609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7855" y="1374053"/>
            <a:ext cx="3454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Why Software Engineering Required</a:t>
            </a:r>
            <a:endParaRPr sz="2000" b="1" dirty="0"/>
          </a:p>
        </p:txBody>
      </p:sp>
      <p:sp>
        <p:nvSpPr>
          <p:cNvPr id="226" name="Google Shape;226;p29">
            <a:extLst>
              <a:ext uri="{FF2B5EF4-FFF2-40B4-BE49-F238E27FC236}">
                <a16:creationId xmlns:a16="http://schemas.microsoft.com/office/drawing/2014/main" id="{DA49FC4C-FA06-3009-2E8F-BDCDDC2FD55B}"/>
              </a:ext>
            </a:extLst>
          </p:cNvPr>
          <p:cNvSpPr txBox="1"/>
          <p:nvPr/>
        </p:nvSpPr>
        <p:spPr>
          <a:xfrm>
            <a:off x="4866409" y="1550351"/>
            <a:ext cx="4953000" cy="3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we are learning Software Engineering?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Complexity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minimize software cost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decrease time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Handling big projects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Reliable softwares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Effectiveness</a:t>
            </a:r>
            <a:endParaRPr/>
          </a:p>
        </p:txBody>
      </p:sp>
      <p:sp>
        <p:nvSpPr>
          <p:cNvPr id="227" name="Google Shape;227;p29">
            <a:extLst>
              <a:ext uri="{FF2B5EF4-FFF2-40B4-BE49-F238E27FC236}">
                <a16:creationId xmlns:a16="http://schemas.microsoft.com/office/drawing/2014/main" id="{FEC62025-0D4D-6C71-F4DF-1B1D19CA0BC5}"/>
              </a:ext>
            </a:extLst>
          </p:cNvPr>
          <p:cNvSpPr txBox="1"/>
          <p:nvPr/>
        </p:nvSpPr>
        <p:spPr>
          <a:xfrm>
            <a:off x="702399" y="4516582"/>
            <a:ext cx="10446840" cy="101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engineering principles use two important techniques to reduce problem complexity: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Decomposition.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40CFCC-4F08-C60D-8EB7-CD6FDBE15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86" y="1132608"/>
            <a:ext cx="12078586" cy="522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861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pic>
        <p:nvPicPr>
          <p:cNvPr id="234" name="Google Shape;23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3468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0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/>
        </p:nvSpPr>
        <p:spPr>
          <a:xfrm>
            <a:off x="5763491" y="1241714"/>
            <a:ext cx="5271654" cy="4829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9037" y="2434856"/>
            <a:ext cx="3962400" cy="3753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3F33ADF-3846-F7CA-BE36-4783F8000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081692"/>
            <a:ext cx="12046688" cy="52746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 txBox="1">
            <a:spLocks noGrp="1"/>
          </p:cNvSpPr>
          <p:nvPr>
            <p:ph type="title"/>
          </p:nvPr>
        </p:nvSpPr>
        <p:spPr>
          <a:xfrm>
            <a:off x="3085353" y="805210"/>
            <a:ext cx="8658781" cy="874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IN" sz="4000" b="1" dirty="0">
                <a:solidFill>
                  <a:schemeClr val="dk2"/>
                </a:solidFill>
              </a:rPr>
              <a:t>Activity-2  (Think pair share)</a:t>
            </a:r>
            <a:endParaRPr sz="4000" b="1" dirty="0">
              <a:solidFill>
                <a:schemeClr val="dk2"/>
              </a:solidFill>
            </a:endParaRPr>
          </a:p>
        </p:txBody>
      </p:sp>
      <p:sp>
        <p:nvSpPr>
          <p:cNvPr id="254" name="Google Shape;25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55" name="Google Shape;25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pic>
        <p:nvPicPr>
          <p:cNvPr id="256" name="Google Shape;256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9"/>
          <p:cNvSpPr/>
          <p:nvPr/>
        </p:nvSpPr>
        <p:spPr>
          <a:xfrm>
            <a:off x="674253" y="3007579"/>
            <a:ext cx="10880438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Study: Online Exam Registration System Failure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university launched a new online exam registration portal. On the last date of registration: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Thousands of students tried to log in at the same time.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website became very slow and then completely crashed.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students’ payments were deducted, but registration was not confirmed.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students missed the deadline.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university had to extend the deadline and faced complaints from students and parents.</a:t>
            </a:r>
            <a:endParaRPr dirty="0"/>
          </a:p>
        </p:txBody>
      </p:sp>
      <p:sp>
        <p:nvSpPr>
          <p:cNvPr id="259" name="Google Shape;259;p9"/>
          <p:cNvSpPr txBox="1"/>
          <p:nvPr/>
        </p:nvSpPr>
        <p:spPr>
          <a:xfrm>
            <a:off x="1468581" y="1566952"/>
            <a:ext cx="727138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Think – </a:t>
            </a:r>
            <a:r>
              <a:rPr lang="en-IN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About given scenario of software failure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Pair</a:t>
            </a:r>
            <a:r>
              <a:rPr lang="en-IN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Pair with your peers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</a:t>
            </a:r>
            <a:r>
              <a:rPr lang="en-IN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What went wrong?? 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"/>
          <p:cNvSpPr txBox="1">
            <a:spLocks noGrp="1"/>
          </p:cNvSpPr>
          <p:nvPr>
            <p:ph type="title"/>
          </p:nvPr>
        </p:nvSpPr>
        <p:spPr>
          <a:xfrm>
            <a:off x="486017" y="986023"/>
            <a:ext cx="11505861" cy="164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lang="en-IN" sz="32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Reflection- Learning Activity 2</a:t>
            </a:r>
            <a:endParaRPr/>
          </a:p>
        </p:txBody>
      </p:sp>
      <p:sp>
        <p:nvSpPr>
          <p:cNvPr id="265" name="Google Shape;2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66" name="Google Shape;2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pic>
        <p:nvPicPr>
          <p:cNvPr id="267" name="Google Shape;267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0"/>
          <p:cNvSpPr/>
          <p:nvPr/>
        </p:nvSpPr>
        <p:spPr>
          <a:xfrm>
            <a:off x="711200" y="2210030"/>
            <a:ext cx="60960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was not able to handle heavy user traffic.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 capacity was insufficient.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proper load or stress testing was conducted.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Payment gateway integration was poorly handled.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 of backup or recovery mechanism.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 error handling and system monitoring.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>
            <a:spLocks noGrp="1"/>
          </p:cNvSpPr>
          <p:nvPr>
            <p:ph type="title"/>
          </p:nvPr>
        </p:nvSpPr>
        <p:spPr>
          <a:xfrm>
            <a:off x="347472" y="1604859"/>
            <a:ext cx="11505861" cy="164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lang="en-IN" sz="32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endParaRPr/>
          </a:p>
        </p:txBody>
      </p:sp>
      <p:sp>
        <p:nvSpPr>
          <p:cNvPr id="275" name="Google Shape;27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76" name="Google Shape;27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pic>
        <p:nvPicPr>
          <p:cNvPr id="277" name="Google Shape;277;p3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2"/>
          <p:cNvSpPr/>
          <p:nvPr/>
        </p:nvSpPr>
        <p:spPr>
          <a:xfrm>
            <a:off x="674254" y="2542647"/>
            <a:ext cx="8922328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Software Engineering Required 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Process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Engineering basic principals </a:t>
            </a:r>
            <a:endParaRPr dirty="0"/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"/>
          <p:cNvSpPr txBox="1">
            <a:spLocks noGrp="1"/>
          </p:cNvSpPr>
          <p:nvPr>
            <p:ph type="title"/>
          </p:nvPr>
        </p:nvSpPr>
        <p:spPr>
          <a:xfrm>
            <a:off x="479165" y="749508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 sz="4000" b="1"/>
              <a:t>Ensure attainment of LOs in alignment to the learning activities:</a:t>
            </a:r>
            <a:r>
              <a:rPr lang="en-IN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outcomes (1-2)</a:t>
            </a:r>
            <a:endParaRPr/>
          </a:p>
        </p:txBody>
      </p:sp>
      <p:sp>
        <p:nvSpPr>
          <p:cNvPr id="285" name="Google Shape;28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86" name="Google Shape;28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grpSp>
        <p:nvGrpSpPr>
          <p:cNvPr id="287" name="Google Shape;287;p11"/>
          <p:cNvGrpSpPr/>
          <p:nvPr/>
        </p:nvGrpSpPr>
        <p:grpSpPr>
          <a:xfrm>
            <a:off x="644056" y="2615979"/>
            <a:ext cx="9288654" cy="2117187"/>
            <a:chOff x="0" y="0"/>
            <a:chExt cx="9288654" cy="2117187"/>
          </a:xfrm>
        </p:grpSpPr>
        <p:sp>
          <p:nvSpPr>
            <p:cNvPr id="288" name="Google Shape;288;p11"/>
            <p:cNvSpPr/>
            <p:nvPr/>
          </p:nvSpPr>
          <p:spPr>
            <a:xfrm>
              <a:off x="0" y="0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1"/>
            <p:cNvSpPr txBox="1"/>
            <p:nvPr/>
          </p:nvSpPr>
          <p:spPr>
            <a:xfrm>
              <a:off x="48627" y="48627"/>
              <a:ext cx="7572674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5250" tIns="175250" rIns="175250" bIns="17525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Explain Software Engineering and it basic terminology.</a:t>
              </a: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1"/>
            <p:cNvSpPr txBox="1"/>
            <p:nvPr/>
          </p:nvSpPr>
          <p:spPr>
            <a:xfrm>
              <a:off x="8452312" y="1305127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1" name="Google Shape;291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98" name="Google Shape;29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pic>
        <p:nvPicPr>
          <p:cNvPr id="299" name="Google Shape;299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 txBox="1"/>
          <p:nvPr/>
        </p:nvSpPr>
        <p:spPr>
          <a:xfrm>
            <a:off x="1634067" y="1468735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IN" sz="7200" b="1" i="1" u="none" strike="noStrike" cap="none">
                <a:solidFill>
                  <a:srgbClr val="F6C5A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7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4"/>
          <p:cNvSpPr txBox="1">
            <a:spLocks noGrp="1"/>
          </p:cNvSpPr>
          <p:nvPr>
            <p:ph type="title"/>
          </p:nvPr>
        </p:nvSpPr>
        <p:spPr>
          <a:xfrm>
            <a:off x="891759" y="2988331"/>
            <a:ext cx="8682501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IN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Review and Reflection from students</a:t>
            </a:r>
            <a:endParaRPr/>
          </a:p>
        </p:txBody>
      </p:sp>
      <p:pic>
        <p:nvPicPr>
          <p:cNvPr id="303" name="Google Shape;30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09592" y="3992875"/>
            <a:ext cx="2723699" cy="2635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 txBox="1">
            <a:spLocks noGrp="1"/>
          </p:cNvSpPr>
          <p:nvPr>
            <p:ph type="title"/>
          </p:nvPr>
        </p:nvSpPr>
        <p:spPr>
          <a:xfrm>
            <a:off x="769380" y="2547303"/>
            <a:ext cx="9818849" cy="158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Information about the next lesson</a:t>
            </a:r>
            <a:br>
              <a:rPr lang="en-IN" sz="54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IN" sz="5400" b="1" dirty="0">
                <a:latin typeface="Georgia"/>
                <a:ea typeface="Georgia"/>
                <a:cs typeface="Georgia"/>
                <a:sym typeface="Georgia"/>
              </a:rPr>
              <a:t>SDLC </a:t>
            </a:r>
            <a:br>
              <a:rPr lang="en-IN" sz="5400" dirty="0">
                <a:latin typeface="Georgia"/>
                <a:ea typeface="Georgia"/>
                <a:cs typeface="Georgia"/>
                <a:sym typeface="Georgia"/>
              </a:rPr>
            </a:br>
            <a:endParaRPr dirty="0"/>
          </a:p>
        </p:txBody>
      </p:sp>
      <p:sp>
        <p:nvSpPr>
          <p:cNvPr id="309" name="Google Shape;30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310" name="Google Shape;3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pic>
        <p:nvPicPr>
          <p:cNvPr id="311" name="Google Shape;311;p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917</Words>
  <Application>Microsoft Office PowerPoint</Application>
  <PresentationFormat>Widescreen</PresentationFormat>
  <Paragraphs>162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Georgia</vt:lpstr>
      <vt:lpstr>Play</vt:lpstr>
      <vt:lpstr>Cambria</vt:lpstr>
      <vt:lpstr>Times New Roman</vt:lpstr>
      <vt:lpstr>Office Theme</vt:lpstr>
      <vt:lpstr>Introduction, Definition of Software Engineering Session No.: 1 Course Name: Software Engineering  Course Code: R1UC542B  Instructor Name: Dr. Monalisa Panigrahi Duration: 50 minutes Date of Conduction of Class:   </vt:lpstr>
      <vt:lpstr>What do you understand about Software ?? Give some examples ?    </vt:lpstr>
      <vt:lpstr>At the end of this session students will be able to By the end of this lesson, you should be able to </vt:lpstr>
      <vt:lpstr>Session Outline</vt:lpstr>
      <vt:lpstr>Introduction </vt:lpstr>
      <vt:lpstr>Types of Software's</vt:lpstr>
      <vt:lpstr>PowerPoint Presentation</vt:lpstr>
      <vt:lpstr>Reflection Learning Activity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Activity-2  (Think pair share)</vt:lpstr>
      <vt:lpstr>Reflection- Learning Activity 2</vt:lpstr>
      <vt:lpstr>Conclusion:</vt:lpstr>
      <vt:lpstr>Ensure attainment of LOs in alignment to the learning activities: outcomes (1-2)</vt:lpstr>
      <vt:lpstr>Review and Reflection from students</vt:lpstr>
      <vt:lpstr>Information about the next lesson SDLC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Mona Lisa</cp:lastModifiedBy>
  <cp:revision>5</cp:revision>
  <dcterms:created xsi:type="dcterms:W3CDTF">2024-08-22T06:33:55Z</dcterms:created>
  <dcterms:modified xsi:type="dcterms:W3CDTF">2026-09-05T06:11:32Z</dcterms:modified>
</cp:coreProperties>
</file>