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82" r:id="rId3"/>
    <p:sldId id="318" r:id="rId4"/>
    <p:sldId id="283" r:id="rId5"/>
    <p:sldId id="298" r:id="rId6"/>
    <p:sldId id="300" r:id="rId7"/>
    <p:sldId id="299" r:id="rId8"/>
    <p:sldId id="285" r:id="rId9"/>
    <p:sldId id="291" r:id="rId10"/>
    <p:sldId id="320" r:id="rId11"/>
    <p:sldId id="321" r:id="rId12"/>
    <p:sldId id="297" r:id="rId13"/>
    <p:sldId id="322" r:id="rId14"/>
    <p:sldId id="323" r:id="rId15"/>
    <p:sldId id="324" r:id="rId16"/>
    <p:sldId id="325" r:id="rId17"/>
    <p:sldId id="326" r:id="rId18"/>
    <p:sldId id="327" r:id="rId19"/>
    <p:sldId id="328" r:id="rId20"/>
    <p:sldId id="329" r:id="rId21"/>
    <p:sldId id="309" r:id="rId22"/>
    <p:sldId id="284" r:id="rId23"/>
    <p:sldId id="289" r:id="rId24"/>
    <p:sldId id="290" r:id="rId25"/>
    <p:sldId id="281" r:id="rId26"/>
    <p:sldId id="277"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7CE2BF-E837-4849-B11C-0944C199F6A4}" v="228" dt="2024-09-19T16:05:47.4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6" autoAdjust="0"/>
    <p:restoredTop sz="94694"/>
  </p:normalViewPr>
  <p:slideViewPr>
    <p:cSldViewPr snapToGrid="0">
      <p:cViewPr varScale="1">
        <p:scale>
          <a:sx n="67" d="100"/>
          <a:sy n="67"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64DB52A-CA4F-4852-B41E-6A1F43CC58F9}"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C8BD7C71-8F1B-400D-96A3-6B553A93EB7F}">
      <dgm:prSet/>
      <dgm:spPr/>
      <dgm:t>
        <a:bodyPr/>
        <a:lstStyle/>
        <a:p>
          <a:r>
            <a:rPr lang="en-IN" dirty="0" smtClean="0"/>
            <a:t>1 </a:t>
          </a:r>
          <a:r>
            <a:rPr lang="en-IN" dirty="0" smtClean="0"/>
            <a:t>History of Machine learning</a:t>
          </a:r>
        </a:p>
      </dgm:t>
    </dgm:pt>
    <dgm:pt modelId="{BBCFB319-5299-4310-B646-22472DABF40A}" type="parTrans" cxnId="{942D76EB-4E8A-49F9-9193-131FE6139044}">
      <dgm:prSet/>
      <dgm:spPr/>
      <dgm:t>
        <a:bodyPr/>
        <a:lstStyle/>
        <a:p>
          <a:endParaRPr lang="en-US"/>
        </a:p>
      </dgm:t>
    </dgm:pt>
    <dgm:pt modelId="{AF1C4F3A-D240-4EB1-9ECB-2ED225CCC019}" type="sibTrans" cxnId="{942D76EB-4E8A-49F9-9193-131FE6139044}">
      <dgm:prSet/>
      <dgm:spPr/>
      <dgm:t>
        <a:bodyPr/>
        <a:lstStyle/>
        <a:p>
          <a:endParaRPr lang="en-US"/>
        </a:p>
      </dgm:t>
    </dgm:pt>
    <dgm:pt modelId="{311F9A05-A7F4-4328-B319-DBCDF0DF0E82}">
      <dgm:prSet/>
      <dgm:spPr/>
      <dgm:t>
        <a:bodyPr/>
        <a:lstStyle/>
        <a:p>
          <a:r>
            <a:rPr lang="en-IN" dirty="0" smtClean="0"/>
            <a:t>2 </a:t>
          </a:r>
          <a:r>
            <a:rPr lang="en-IN" dirty="0" smtClean="0"/>
            <a:t>Activity-1 (Gallery Walk)</a:t>
          </a:r>
        </a:p>
      </dgm:t>
    </dgm:pt>
    <dgm:pt modelId="{23B85C74-2F21-4685-BD89-BB563657B099}" type="parTrans" cxnId="{6DCFA649-9D6E-469B-AACA-1BA847263E9A}">
      <dgm:prSet/>
      <dgm:spPr/>
      <dgm:t>
        <a:bodyPr/>
        <a:lstStyle/>
        <a:p>
          <a:endParaRPr lang="en-US"/>
        </a:p>
      </dgm:t>
    </dgm:pt>
    <dgm:pt modelId="{91F4A534-BBDE-4EB5-BAE5-EACEB7D0B868}" type="sibTrans" cxnId="{6DCFA649-9D6E-469B-AACA-1BA847263E9A}">
      <dgm:prSet/>
      <dgm:spPr/>
      <dgm:t>
        <a:bodyPr/>
        <a:lstStyle/>
        <a:p>
          <a:endParaRPr lang="en-US"/>
        </a:p>
      </dgm:t>
    </dgm:pt>
    <dgm:pt modelId="{81CB55E0-0FB6-485C-B15D-9BD278F78C6F}">
      <dgm:prSet/>
      <dgm:spPr/>
      <dgm:t>
        <a:bodyPr/>
        <a:lstStyle/>
        <a:p>
          <a:r>
            <a:rPr lang="en-IN" dirty="0" smtClean="0"/>
            <a:t>3 </a:t>
          </a:r>
          <a:r>
            <a:rPr lang="en-GB" dirty="0" smtClean="0"/>
            <a:t>Life Cycle of Machine Learning</a:t>
          </a:r>
          <a:endParaRPr lang="en-IN" dirty="0" smtClean="0"/>
        </a:p>
      </dgm:t>
    </dgm:pt>
    <dgm:pt modelId="{81E23C2F-5B75-4C87-B80F-F92D751EF2D3}" type="parTrans" cxnId="{B28E7539-702F-4403-B38C-CCE2EC9E181E}">
      <dgm:prSet/>
      <dgm:spPr/>
      <dgm:t>
        <a:bodyPr/>
        <a:lstStyle/>
        <a:p>
          <a:endParaRPr lang="en-US"/>
        </a:p>
      </dgm:t>
    </dgm:pt>
    <dgm:pt modelId="{CA453529-0F48-4EF3-8F16-E732FB1811C3}" type="sibTrans" cxnId="{B28E7539-702F-4403-B38C-CCE2EC9E181E}">
      <dgm:prSet/>
      <dgm:spPr/>
      <dgm:t>
        <a:bodyPr/>
        <a:lstStyle/>
        <a:p>
          <a:endParaRPr lang="en-US"/>
        </a:p>
      </dgm:t>
    </dgm:pt>
    <dgm:pt modelId="{51474CA9-1ADD-4331-9534-6780C3A18768}">
      <dgm:prSet/>
      <dgm:spPr/>
      <dgm:t>
        <a:bodyPr/>
        <a:lstStyle/>
        <a:p>
          <a:r>
            <a:rPr lang="en-IN" dirty="0" smtClean="0"/>
            <a:t>4 Activity-2 (Quiz on Wooflash)</a:t>
          </a:r>
          <a:endParaRPr lang="en-US" dirty="0"/>
        </a:p>
      </dgm:t>
    </dgm:pt>
    <dgm:pt modelId="{BD15203B-A2C4-421B-84CE-AC22CC6E237F}" type="parTrans" cxnId="{C10A2E97-40D9-4123-9647-358E1A64D6C9}">
      <dgm:prSet/>
      <dgm:spPr/>
      <dgm:t>
        <a:bodyPr/>
        <a:lstStyle/>
        <a:p>
          <a:endParaRPr lang="en-US"/>
        </a:p>
      </dgm:t>
    </dgm:pt>
    <dgm:pt modelId="{5FA359DE-6932-424A-BDE2-579D3E29B33A}" type="sibTrans" cxnId="{C10A2E97-40D9-4123-9647-358E1A64D6C9}">
      <dgm:prSet/>
      <dgm:spPr/>
      <dgm:t>
        <a:bodyPr/>
        <a:lstStyle/>
        <a:p>
          <a:endParaRPr lang="en-US"/>
        </a:p>
      </dgm:t>
    </dgm:pt>
    <dgm:pt modelId="{BA2E5375-FD77-47B4-A888-7387932E6D62}">
      <dgm:prSet/>
      <dgm:spPr/>
      <dgm:t>
        <a:bodyPr/>
        <a:lstStyle/>
        <a:p>
          <a:r>
            <a:rPr lang="en-IN" dirty="0" smtClean="0"/>
            <a:t>5 Review and Reflections</a:t>
          </a:r>
        </a:p>
      </dgm:t>
    </dgm:pt>
    <dgm:pt modelId="{9F77997F-5AC0-4D93-89AC-B37B7BDB43EF}" type="parTrans" cxnId="{285F19B7-0DE6-4516-940F-56080AC841F9}">
      <dgm:prSet/>
      <dgm:spPr/>
      <dgm:t>
        <a:bodyPr/>
        <a:lstStyle/>
        <a:p>
          <a:endParaRPr lang="en-US"/>
        </a:p>
      </dgm:t>
    </dgm:pt>
    <dgm:pt modelId="{60B3BF56-C21F-456B-A5AC-F5C3D1CA9305}" type="sibTrans" cxnId="{285F19B7-0DE6-4516-940F-56080AC841F9}">
      <dgm:prSet/>
      <dgm:spPr/>
      <dgm:t>
        <a:bodyPr/>
        <a:lstStyle/>
        <a:p>
          <a:endParaRPr lang="en-US"/>
        </a:p>
      </dgm:t>
    </dgm:pt>
    <dgm:pt modelId="{573103A9-89AC-4873-8CB5-0F4B7370B2E1}" type="pres">
      <dgm:prSet presAssocID="{B64DB52A-CA4F-4852-B41E-6A1F43CC58F9}" presName="vert0" presStyleCnt="0">
        <dgm:presLayoutVars>
          <dgm:dir/>
          <dgm:animOne val="branch"/>
          <dgm:animLvl val="lvl"/>
        </dgm:presLayoutVars>
      </dgm:prSet>
      <dgm:spPr/>
      <dgm:t>
        <a:bodyPr/>
        <a:lstStyle/>
        <a:p>
          <a:endParaRPr lang="en-IN"/>
        </a:p>
      </dgm:t>
    </dgm:pt>
    <dgm:pt modelId="{6FF76B5C-2320-4CB5-9844-D984662B1716}" type="pres">
      <dgm:prSet presAssocID="{C8BD7C71-8F1B-400D-96A3-6B553A93EB7F}" presName="thickLine" presStyleLbl="alignNode1" presStyleIdx="0" presStyleCnt="5"/>
      <dgm:spPr/>
    </dgm:pt>
    <dgm:pt modelId="{41C87863-73DE-4F9B-A76B-880D805954CA}" type="pres">
      <dgm:prSet presAssocID="{C8BD7C71-8F1B-400D-96A3-6B553A93EB7F}" presName="horz1" presStyleCnt="0"/>
      <dgm:spPr/>
    </dgm:pt>
    <dgm:pt modelId="{CBF4003A-096B-4C8D-8E4F-9D9EAB681D72}" type="pres">
      <dgm:prSet presAssocID="{C8BD7C71-8F1B-400D-96A3-6B553A93EB7F}" presName="tx1" presStyleLbl="revTx" presStyleIdx="0" presStyleCnt="5"/>
      <dgm:spPr/>
      <dgm:t>
        <a:bodyPr/>
        <a:lstStyle/>
        <a:p>
          <a:endParaRPr lang="en-IN"/>
        </a:p>
      </dgm:t>
    </dgm:pt>
    <dgm:pt modelId="{608B7948-37DA-4DDD-A56D-16AA8CC3AD50}" type="pres">
      <dgm:prSet presAssocID="{C8BD7C71-8F1B-400D-96A3-6B553A93EB7F}" presName="vert1" presStyleCnt="0"/>
      <dgm:spPr/>
    </dgm:pt>
    <dgm:pt modelId="{F83A5B86-9D43-4C81-A6D4-87875817B689}" type="pres">
      <dgm:prSet presAssocID="{311F9A05-A7F4-4328-B319-DBCDF0DF0E82}" presName="thickLine" presStyleLbl="alignNode1" presStyleIdx="1" presStyleCnt="5"/>
      <dgm:spPr/>
    </dgm:pt>
    <dgm:pt modelId="{3BC975C1-0C99-4F97-8C52-C1CFA0BAF551}" type="pres">
      <dgm:prSet presAssocID="{311F9A05-A7F4-4328-B319-DBCDF0DF0E82}" presName="horz1" presStyleCnt="0"/>
      <dgm:spPr/>
    </dgm:pt>
    <dgm:pt modelId="{7BF0A7F7-0F37-4B11-9AED-B46FE7E128D8}" type="pres">
      <dgm:prSet presAssocID="{311F9A05-A7F4-4328-B319-DBCDF0DF0E82}" presName="tx1" presStyleLbl="revTx" presStyleIdx="1" presStyleCnt="5"/>
      <dgm:spPr/>
      <dgm:t>
        <a:bodyPr/>
        <a:lstStyle/>
        <a:p>
          <a:endParaRPr lang="en-IN"/>
        </a:p>
      </dgm:t>
    </dgm:pt>
    <dgm:pt modelId="{AA11931C-C560-424D-BE37-4872DC1B2048}" type="pres">
      <dgm:prSet presAssocID="{311F9A05-A7F4-4328-B319-DBCDF0DF0E82}" presName="vert1" presStyleCnt="0"/>
      <dgm:spPr/>
    </dgm:pt>
    <dgm:pt modelId="{7EE56E18-6978-43E9-9D4D-E31AA5BEE441}" type="pres">
      <dgm:prSet presAssocID="{81CB55E0-0FB6-485C-B15D-9BD278F78C6F}" presName="thickLine" presStyleLbl="alignNode1" presStyleIdx="2" presStyleCnt="5"/>
      <dgm:spPr/>
    </dgm:pt>
    <dgm:pt modelId="{447FCB44-517C-43F4-BE59-391C36D21C9C}" type="pres">
      <dgm:prSet presAssocID="{81CB55E0-0FB6-485C-B15D-9BD278F78C6F}" presName="horz1" presStyleCnt="0"/>
      <dgm:spPr/>
    </dgm:pt>
    <dgm:pt modelId="{89436931-860B-40AD-8DCE-CEE0F56E60ED}" type="pres">
      <dgm:prSet presAssocID="{81CB55E0-0FB6-485C-B15D-9BD278F78C6F}" presName="tx1" presStyleLbl="revTx" presStyleIdx="2" presStyleCnt="5"/>
      <dgm:spPr/>
      <dgm:t>
        <a:bodyPr/>
        <a:lstStyle/>
        <a:p>
          <a:endParaRPr lang="en-IN"/>
        </a:p>
      </dgm:t>
    </dgm:pt>
    <dgm:pt modelId="{0E51C315-1B46-45D6-B4D4-E44AF2F7FE47}" type="pres">
      <dgm:prSet presAssocID="{81CB55E0-0FB6-485C-B15D-9BD278F78C6F}" presName="vert1" presStyleCnt="0"/>
      <dgm:spPr/>
    </dgm:pt>
    <dgm:pt modelId="{B514687E-679F-4404-A929-C733AA004539}" type="pres">
      <dgm:prSet presAssocID="{51474CA9-1ADD-4331-9534-6780C3A18768}" presName="thickLine" presStyleLbl="alignNode1" presStyleIdx="3" presStyleCnt="5"/>
      <dgm:spPr/>
    </dgm:pt>
    <dgm:pt modelId="{80414A13-977F-40A0-BF88-8AEFF7DE361E}" type="pres">
      <dgm:prSet presAssocID="{51474CA9-1ADD-4331-9534-6780C3A18768}" presName="horz1" presStyleCnt="0"/>
      <dgm:spPr/>
    </dgm:pt>
    <dgm:pt modelId="{3E95DC57-D848-494F-A343-6CBABA986252}" type="pres">
      <dgm:prSet presAssocID="{51474CA9-1ADD-4331-9534-6780C3A18768}" presName="tx1" presStyleLbl="revTx" presStyleIdx="3" presStyleCnt="5"/>
      <dgm:spPr/>
      <dgm:t>
        <a:bodyPr/>
        <a:lstStyle/>
        <a:p>
          <a:endParaRPr lang="en-IN"/>
        </a:p>
      </dgm:t>
    </dgm:pt>
    <dgm:pt modelId="{42E34139-9E2B-4ED7-9D4C-0E180FD5C739}" type="pres">
      <dgm:prSet presAssocID="{51474CA9-1ADD-4331-9534-6780C3A18768}" presName="vert1" presStyleCnt="0"/>
      <dgm:spPr/>
    </dgm:pt>
    <dgm:pt modelId="{0B062B2C-FD23-461E-89A1-3ECDF7A567C2}" type="pres">
      <dgm:prSet presAssocID="{BA2E5375-FD77-47B4-A888-7387932E6D62}" presName="thickLine" presStyleLbl="alignNode1" presStyleIdx="4" presStyleCnt="5"/>
      <dgm:spPr/>
    </dgm:pt>
    <dgm:pt modelId="{1BF4D050-06E8-4B19-AEB8-E6957BD50750}" type="pres">
      <dgm:prSet presAssocID="{BA2E5375-FD77-47B4-A888-7387932E6D62}" presName="horz1" presStyleCnt="0"/>
      <dgm:spPr/>
    </dgm:pt>
    <dgm:pt modelId="{D26876CA-709E-4928-AAF2-4734D1DACD6D}" type="pres">
      <dgm:prSet presAssocID="{BA2E5375-FD77-47B4-A888-7387932E6D62}" presName="tx1" presStyleLbl="revTx" presStyleIdx="4" presStyleCnt="5"/>
      <dgm:spPr/>
      <dgm:t>
        <a:bodyPr/>
        <a:lstStyle/>
        <a:p>
          <a:endParaRPr lang="en-IN"/>
        </a:p>
      </dgm:t>
    </dgm:pt>
    <dgm:pt modelId="{88DBC881-0983-4C91-8705-CB8A16D50941}" type="pres">
      <dgm:prSet presAssocID="{BA2E5375-FD77-47B4-A888-7387932E6D62}" presName="vert1" presStyleCnt="0"/>
      <dgm:spPr/>
    </dgm:pt>
  </dgm:ptLst>
  <dgm:cxnLst>
    <dgm:cxn modelId="{791F67ED-636D-40F8-93C7-87F14CF35636}" type="presOf" srcId="{51474CA9-1ADD-4331-9534-6780C3A18768}" destId="{3E95DC57-D848-494F-A343-6CBABA986252}" srcOrd="0" destOrd="0" presId="urn:microsoft.com/office/officeart/2008/layout/LinedList"/>
    <dgm:cxn modelId="{C10A2E97-40D9-4123-9647-358E1A64D6C9}" srcId="{B64DB52A-CA4F-4852-B41E-6A1F43CC58F9}" destId="{51474CA9-1ADD-4331-9534-6780C3A18768}" srcOrd="3" destOrd="0" parTransId="{BD15203B-A2C4-421B-84CE-AC22CC6E237F}" sibTransId="{5FA359DE-6932-424A-BDE2-579D3E29B33A}"/>
    <dgm:cxn modelId="{CAEFD1C0-21C6-4BEE-BBD0-3E2B7599C8A0}" type="presOf" srcId="{C8BD7C71-8F1B-400D-96A3-6B553A93EB7F}" destId="{CBF4003A-096B-4C8D-8E4F-9D9EAB681D72}" srcOrd="0" destOrd="0" presId="urn:microsoft.com/office/officeart/2008/layout/LinedList"/>
    <dgm:cxn modelId="{CB477A60-62F0-49EB-B58D-60D1B6535D8A}" type="presOf" srcId="{BA2E5375-FD77-47B4-A888-7387932E6D62}" destId="{D26876CA-709E-4928-AAF2-4734D1DACD6D}" srcOrd="0" destOrd="0" presId="urn:microsoft.com/office/officeart/2008/layout/LinedList"/>
    <dgm:cxn modelId="{DC4EA019-245A-44D8-9BF0-3AD33B0D2A8D}" type="presOf" srcId="{311F9A05-A7F4-4328-B319-DBCDF0DF0E82}" destId="{7BF0A7F7-0F37-4B11-9AED-B46FE7E128D8}" srcOrd="0" destOrd="0" presId="urn:microsoft.com/office/officeart/2008/layout/LinedList"/>
    <dgm:cxn modelId="{285F19B7-0DE6-4516-940F-56080AC841F9}" srcId="{B64DB52A-CA4F-4852-B41E-6A1F43CC58F9}" destId="{BA2E5375-FD77-47B4-A888-7387932E6D62}" srcOrd="4" destOrd="0" parTransId="{9F77997F-5AC0-4D93-89AC-B37B7BDB43EF}" sibTransId="{60B3BF56-C21F-456B-A5AC-F5C3D1CA9305}"/>
    <dgm:cxn modelId="{A8279F42-205C-42CA-8385-164FB091EC3D}" type="presOf" srcId="{B64DB52A-CA4F-4852-B41E-6A1F43CC58F9}" destId="{573103A9-89AC-4873-8CB5-0F4B7370B2E1}" srcOrd="0" destOrd="0" presId="urn:microsoft.com/office/officeart/2008/layout/LinedList"/>
    <dgm:cxn modelId="{942D76EB-4E8A-49F9-9193-131FE6139044}" srcId="{B64DB52A-CA4F-4852-B41E-6A1F43CC58F9}" destId="{C8BD7C71-8F1B-400D-96A3-6B553A93EB7F}" srcOrd="0" destOrd="0" parTransId="{BBCFB319-5299-4310-B646-22472DABF40A}" sibTransId="{AF1C4F3A-D240-4EB1-9ECB-2ED225CCC019}"/>
    <dgm:cxn modelId="{36D8DFD7-E3DD-4A01-AC6D-A44FD86D70FA}" type="presOf" srcId="{81CB55E0-0FB6-485C-B15D-9BD278F78C6F}" destId="{89436931-860B-40AD-8DCE-CEE0F56E60ED}" srcOrd="0" destOrd="0" presId="urn:microsoft.com/office/officeart/2008/layout/LinedList"/>
    <dgm:cxn modelId="{6DCFA649-9D6E-469B-AACA-1BA847263E9A}" srcId="{B64DB52A-CA4F-4852-B41E-6A1F43CC58F9}" destId="{311F9A05-A7F4-4328-B319-DBCDF0DF0E82}" srcOrd="1" destOrd="0" parTransId="{23B85C74-2F21-4685-BD89-BB563657B099}" sibTransId="{91F4A534-BBDE-4EB5-BAE5-EACEB7D0B868}"/>
    <dgm:cxn modelId="{B28E7539-702F-4403-B38C-CCE2EC9E181E}" srcId="{B64DB52A-CA4F-4852-B41E-6A1F43CC58F9}" destId="{81CB55E0-0FB6-485C-B15D-9BD278F78C6F}" srcOrd="2" destOrd="0" parTransId="{81E23C2F-5B75-4C87-B80F-F92D751EF2D3}" sibTransId="{CA453529-0F48-4EF3-8F16-E732FB1811C3}"/>
    <dgm:cxn modelId="{A8499597-22C4-40AB-8BB7-CEB6565C2724}" type="presParOf" srcId="{573103A9-89AC-4873-8CB5-0F4B7370B2E1}" destId="{6FF76B5C-2320-4CB5-9844-D984662B1716}" srcOrd="0" destOrd="0" presId="urn:microsoft.com/office/officeart/2008/layout/LinedList"/>
    <dgm:cxn modelId="{A93CB1D0-23F3-45EE-9AB1-A15778F91C98}" type="presParOf" srcId="{573103A9-89AC-4873-8CB5-0F4B7370B2E1}" destId="{41C87863-73DE-4F9B-A76B-880D805954CA}" srcOrd="1" destOrd="0" presId="urn:microsoft.com/office/officeart/2008/layout/LinedList"/>
    <dgm:cxn modelId="{F575AF3D-87A6-47A5-83AC-A73999B61EA5}" type="presParOf" srcId="{41C87863-73DE-4F9B-A76B-880D805954CA}" destId="{CBF4003A-096B-4C8D-8E4F-9D9EAB681D72}" srcOrd="0" destOrd="0" presId="urn:microsoft.com/office/officeart/2008/layout/LinedList"/>
    <dgm:cxn modelId="{C4AD05CD-ABA2-45F9-AD70-453A59B257AA}" type="presParOf" srcId="{41C87863-73DE-4F9B-A76B-880D805954CA}" destId="{608B7948-37DA-4DDD-A56D-16AA8CC3AD50}" srcOrd="1" destOrd="0" presId="urn:microsoft.com/office/officeart/2008/layout/LinedList"/>
    <dgm:cxn modelId="{09135F7C-D882-4001-9420-48C6F669E5A1}" type="presParOf" srcId="{573103A9-89AC-4873-8CB5-0F4B7370B2E1}" destId="{F83A5B86-9D43-4C81-A6D4-87875817B689}" srcOrd="2" destOrd="0" presId="urn:microsoft.com/office/officeart/2008/layout/LinedList"/>
    <dgm:cxn modelId="{42A74311-A9B5-4722-908E-E69DF0F7B3F2}" type="presParOf" srcId="{573103A9-89AC-4873-8CB5-0F4B7370B2E1}" destId="{3BC975C1-0C99-4F97-8C52-C1CFA0BAF551}" srcOrd="3" destOrd="0" presId="urn:microsoft.com/office/officeart/2008/layout/LinedList"/>
    <dgm:cxn modelId="{06716FB4-91E0-498C-9B25-67FC8A0410EE}" type="presParOf" srcId="{3BC975C1-0C99-4F97-8C52-C1CFA0BAF551}" destId="{7BF0A7F7-0F37-4B11-9AED-B46FE7E128D8}" srcOrd="0" destOrd="0" presId="urn:microsoft.com/office/officeart/2008/layout/LinedList"/>
    <dgm:cxn modelId="{08808E65-016C-4832-AD3A-0BCD56638EE0}" type="presParOf" srcId="{3BC975C1-0C99-4F97-8C52-C1CFA0BAF551}" destId="{AA11931C-C560-424D-BE37-4872DC1B2048}" srcOrd="1" destOrd="0" presId="urn:microsoft.com/office/officeart/2008/layout/LinedList"/>
    <dgm:cxn modelId="{206F6E77-1951-4EBC-9057-DD630DD20CCA}" type="presParOf" srcId="{573103A9-89AC-4873-8CB5-0F4B7370B2E1}" destId="{7EE56E18-6978-43E9-9D4D-E31AA5BEE441}" srcOrd="4" destOrd="0" presId="urn:microsoft.com/office/officeart/2008/layout/LinedList"/>
    <dgm:cxn modelId="{5A60FA20-ADA2-431F-8796-1BE8C988B2D2}" type="presParOf" srcId="{573103A9-89AC-4873-8CB5-0F4B7370B2E1}" destId="{447FCB44-517C-43F4-BE59-391C36D21C9C}" srcOrd="5" destOrd="0" presId="urn:microsoft.com/office/officeart/2008/layout/LinedList"/>
    <dgm:cxn modelId="{A05C2049-7944-4478-8D68-709AB77FAB96}" type="presParOf" srcId="{447FCB44-517C-43F4-BE59-391C36D21C9C}" destId="{89436931-860B-40AD-8DCE-CEE0F56E60ED}" srcOrd="0" destOrd="0" presId="urn:microsoft.com/office/officeart/2008/layout/LinedList"/>
    <dgm:cxn modelId="{2AEA7D18-2CA4-4040-8CA3-2E8EA6C53110}" type="presParOf" srcId="{447FCB44-517C-43F4-BE59-391C36D21C9C}" destId="{0E51C315-1B46-45D6-B4D4-E44AF2F7FE47}" srcOrd="1" destOrd="0" presId="urn:microsoft.com/office/officeart/2008/layout/LinedList"/>
    <dgm:cxn modelId="{0B8319B9-A001-4929-BF67-CFB04FA16945}" type="presParOf" srcId="{573103A9-89AC-4873-8CB5-0F4B7370B2E1}" destId="{B514687E-679F-4404-A929-C733AA004539}" srcOrd="6" destOrd="0" presId="urn:microsoft.com/office/officeart/2008/layout/LinedList"/>
    <dgm:cxn modelId="{257188D6-0003-435E-A862-DB1729B0A2C3}" type="presParOf" srcId="{573103A9-89AC-4873-8CB5-0F4B7370B2E1}" destId="{80414A13-977F-40A0-BF88-8AEFF7DE361E}" srcOrd="7" destOrd="0" presId="urn:microsoft.com/office/officeart/2008/layout/LinedList"/>
    <dgm:cxn modelId="{0D4D7625-BCDC-4E36-BA9D-FCFD4CC793E3}" type="presParOf" srcId="{80414A13-977F-40A0-BF88-8AEFF7DE361E}" destId="{3E95DC57-D848-494F-A343-6CBABA986252}" srcOrd="0" destOrd="0" presId="urn:microsoft.com/office/officeart/2008/layout/LinedList"/>
    <dgm:cxn modelId="{0E040604-2F36-489D-A967-FB8740498707}" type="presParOf" srcId="{80414A13-977F-40A0-BF88-8AEFF7DE361E}" destId="{42E34139-9E2B-4ED7-9D4C-0E180FD5C739}" srcOrd="1" destOrd="0" presId="urn:microsoft.com/office/officeart/2008/layout/LinedList"/>
    <dgm:cxn modelId="{DEAB5A35-1128-4DEF-AE18-D024423701D7}" type="presParOf" srcId="{573103A9-89AC-4873-8CB5-0F4B7370B2E1}" destId="{0B062B2C-FD23-461E-89A1-3ECDF7A567C2}" srcOrd="8" destOrd="0" presId="urn:microsoft.com/office/officeart/2008/layout/LinedList"/>
    <dgm:cxn modelId="{055AE2A9-59D6-49A8-A0DB-1D091F45E10E}" type="presParOf" srcId="{573103A9-89AC-4873-8CB5-0F4B7370B2E1}" destId="{1BF4D050-06E8-4B19-AEB8-E6957BD50750}" srcOrd="9" destOrd="0" presId="urn:microsoft.com/office/officeart/2008/layout/LinedList"/>
    <dgm:cxn modelId="{BBB3BEA1-FC70-4DE2-9A91-57EB33BF00AD}" type="presParOf" srcId="{1BF4D050-06E8-4B19-AEB8-E6957BD50750}" destId="{D26876CA-709E-4928-AAF2-4734D1DACD6D}" srcOrd="0" destOrd="0" presId="urn:microsoft.com/office/officeart/2008/layout/LinedList"/>
    <dgm:cxn modelId="{D188FA47-5832-42EC-9572-966048E3C4F5}" type="presParOf" srcId="{1BF4D050-06E8-4B19-AEB8-E6957BD50750}" destId="{88DBC881-0983-4C91-8705-CB8A16D5094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64DB52A-CA4F-4852-B41E-6A1F43CC58F9}"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C8BD7C71-8F1B-400D-96A3-6B553A93EB7F}">
      <dgm:prSet/>
      <dgm:spPr/>
      <dgm:t>
        <a:bodyPr/>
        <a:lstStyle/>
        <a:p>
          <a:r>
            <a:rPr lang="en-IN" dirty="0" smtClean="0"/>
            <a:t>1 </a:t>
          </a:r>
          <a:r>
            <a:rPr lang="en-IN" dirty="0" smtClean="0"/>
            <a:t>History of Machine learning</a:t>
          </a:r>
        </a:p>
      </dgm:t>
    </dgm:pt>
    <dgm:pt modelId="{BBCFB319-5299-4310-B646-22472DABF40A}" type="parTrans" cxnId="{942D76EB-4E8A-49F9-9193-131FE6139044}">
      <dgm:prSet/>
      <dgm:spPr/>
      <dgm:t>
        <a:bodyPr/>
        <a:lstStyle/>
        <a:p>
          <a:endParaRPr lang="en-US"/>
        </a:p>
      </dgm:t>
    </dgm:pt>
    <dgm:pt modelId="{AF1C4F3A-D240-4EB1-9ECB-2ED225CCC019}" type="sibTrans" cxnId="{942D76EB-4E8A-49F9-9193-131FE6139044}">
      <dgm:prSet/>
      <dgm:spPr/>
      <dgm:t>
        <a:bodyPr/>
        <a:lstStyle/>
        <a:p>
          <a:endParaRPr lang="en-US"/>
        </a:p>
      </dgm:t>
    </dgm:pt>
    <dgm:pt modelId="{311F9A05-A7F4-4328-B319-DBCDF0DF0E82}">
      <dgm:prSet/>
      <dgm:spPr/>
      <dgm:t>
        <a:bodyPr/>
        <a:lstStyle/>
        <a:p>
          <a:r>
            <a:rPr lang="en-IN" dirty="0" smtClean="0"/>
            <a:t>2 </a:t>
          </a:r>
          <a:r>
            <a:rPr lang="en-IN" dirty="0" smtClean="0"/>
            <a:t>Activity-1 (Gallery Walk)</a:t>
          </a:r>
        </a:p>
      </dgm:t>
    </dgm:pt>
    <dgm:pt modelId="{23B85C74-2F21-4685-BD89-BB563657B099}" type="parTrans" cxnId="{6DCFA649-9D6E-469B-AACA-1BA847263E9A}">
      <dgm:prSet/>
      <dgm:spPr/>
      <dgm:t>
        <a:bodyPr/>
        <a:lstStyle/>
        <a:p>
          <a:endParaRPr lang="en-US"/>
        </a:p>
      </dgm:t>
    </dgm:pt>
    <dgm:pt modelId="{91F4A534-BBDE-4EB5-BAE5-EACEB7D0B868}" type="sibTrans" cxnId="{6DCFA649-9D6E-469B-AACA-1BA847263E9A}">
      <dgm:prSet/>
      <dgm:spPr/>
      <dgm:t>
        <a:bodyPr/>
        <a:lstStyle/>
        <a:p>
          <a:endParaRPr lang="en-US"/>
        </a:p>
      </dgm:t>
    </dgm:pt>
    <dgm:pt modelId="{81CB55E0-0FB6-485C-B15D-9BD278F78C6F}">
      <dgm:prSet/>
      <dgm:spPr/>
      <dgm:t>
        <a:bodyPr/>
        <a:lstStyle/>
        <a:p>
          <a:r>
            <a:rPr lang="en-IN" dirty="0" smtClean="0"/>
            <a:t>3 </a:t>
          </a:r>
          <a:r>
            <a:rPr lang="en-GB" dirty="0" smtClean="0"/>
            <a:t>Life Cycle of Machine Learning</a:t>
          </a:r>
          <a:endParaRPr lang="en-IN" dirty="0" smtClean="0"/>
        </a:p>
      </dgm:t>
    </dgm:pt>
    <dgm:pt modelId="{81E23C2F-5B75-4C87-B80F-F92D751EF2D3}" type="parTrans" cxnId="{B28E7539-702F-4403-B38C-CCE2EC9E181E}">
      <dgm:prSet/>
      <dgm:spPr/>
      <dgm:t>
        <a:bodyPr/>
        <a:lstStyle/>
        <a:p>
          <a:endParaRPr lang="en-US"/>
        </a:p>
      </dgm:t>
    </dgm:pt>
    <dgm:pt modelId="{CA453529-0F48-4EF3-8F16-E732FB1811C3}" type="sibTrans" cxnId="{B28E7539-702F-4403-B38C-CCE2EC9E181E}">
      <dgm:prSet/>
      <dgm:spPr/>
      <dgm:t>
        <a:bodyPr/>
        <a:lstStyle/>
        <a:p>
          <a:endParaRPr lang="en-US"/>
        </a:p>
      </dgm:t>
    </dgm:pt>
    <dgm:pt modelId="{51474CA9-1ADD-4331-9534-6780C3A18768}">
      <dgm:prSet/>
      <dgm:spPr/>
      <dgm:t>
        <a:bodyPr/>
        <a:lstStyle/>
        <a:p>
          <a:r>
            <a:rPr lang="en-IN" dirty="0" smtClean="0"/>
            <a:t>4 Activity-2 (Quiz on Wooflash)</a:t>
          </a:r>
          <a:endParaRPr lang="en-US" dirty="0"/>
        </a:p>
      </dgm:t>
    </dgm:pt>
    <dgm:pt modelId="{BD15203B-A2C4-421B-84CE-AC22CC6E237F}" type="parTrans" cxnId="{C10A2E97-40D9-4123-9647-358E1A64D6C9}">
      <dgm:prSet/>
      <dgm:spPr/>
      <dgm:t>
        <a:bodyPr/>
        <a:lstStyle/>
        <a:p>
          <a:endParaRPr lang="en-US"/>
        </a:p>
      </dgm:t>
    </dgm:pt>
    <dgm:pt modelId="{5FA359DE-6932-424A-BDE2-579D3E29B33A}" type="sibTrans" cxnId="{C10A2E97-40D9-4123-9647-358E1A64D6C9}">
      <dgm:prSet/>
      <dgm:spPr/>
      <dgm:t>
        <a:bodyPr/>
        <a:lstStyle/>
        <a:p>
          <a:endParaRPr lang="en-US"/>
        </a:p>
      </dgm:t>
    </dgm:pt>
    <dgm:pt modelId="{BA2E5375-FD77-47B4-A888-7387932E6D62}">
      <dgm:prSet/>
      <dgm:spPr/>
      <dgm:t>
        <a:bodyPr/>
        <a:lstStyle/>
        <a:p>
          <a:r>
            <a:rPr lang="en-IN" dirty="0" smtClean="0"/>
            <a:t>5 Review and Reflections</a:t>
          </a:r>
        </a:p>
      </dgm:t>
    </dgm:pt>
    <dgm:pt modelId="{9F77997F-5AC0-4D93-89AC-B37B7BDB43EF}" type="parTrans" cxnId="{285F19B7-0DE6-4516-940F-56080AC841F9}">
      <dgm:prSet/>
      <dgm:spPr/>
      <dgm:t>
        <a:bodyPr/>
        <a:lstStyle/>
        <a:p>
          <a:endParaRPr lang="en-US"/>
        </a:p>
      </dgm:t>
    </dgm:pt>
    <dgm:pt modelId="{60B3BF56-C21F-456B-A5AC-F5C3D1CA9305}" type="sibTrans" cxnId="{285F19B7-0DE6-4516-940F-56080AC841F9}">
      <dgm:prSet/>
      <dgm:spPr/>
      <dgm:t>
        <a:bodyPr/>
        <a:lstStyle/>
        <a:p>
          <a:endParaRPr lang="en-US"/>
        </a:p>
      </dgm:t>
    </dgm:pt>
    <dgm:pt modelId="{573103A9-89AC-4873-8CB5-0F4B7370B2E1}" type="pres">
      <dgm:prSet presAssocID="{B64DB52A-CA4F-4852-B41E-6A1F43CC58F9}" presName="vert0" presStyleCnt="0">
        <dgm:presLayoutVars>
          <dgm:dir/>
          <dgm:animOne val="branch"/>
          <dgm:animLvl val="lvl"/>
        </dgm:presLayoutVars>
      </dgm:prSet>
      <dgm:spPr/>
      <dgm:t>
        <a:bodyPr/>
        <a:lstStyle/>
        <a:p>
          <a:endParaRPr lang="en-IN"/>
        </a:p>
      </dgm:t>
    </dgm:pt>
    <dgm:pt modelId="{6FF76B5C-2320-4CB5-9844-D984662B1716}" type="pres">
      <dgm:prSet presAssocID="{C8BD7C71-8F1B-400D-96A3-6B553A93EB7F}" presName="thickLine" presStyleLbl="alignNode1" presStyleIdx="0" presStyleCnt="5"/>
      <dgm:spPr/>
    </dgm:pt>
    <dgm:pt modelId="{41C87863-73DE-4F9B-A76B-880D805954CA}" type="pres">
      <dgm:prSet presAssocID="{C8BD7C71-8F1B-400D-96A3-6B553A93EB7F}" presName="horz1" presStyleCnt="0"/>
      <dgm:spPr/>
    </dgm:pt>
    <dgm:pt modelId="{CBF4003A-096B-4C8D-8E4F-9D9EAB681D72}" type="pres">
      <dgm:prSet presAssocID="{C8BD7C71-8F1B-400D-96A3-6B553A93EB7F}" presName="tx1" presStyleLbl="revTx" presStyleIdx="0" presStyleCnt="5"/>
      <dgm:spPr/>
      <dgm:t>
        <a:bodyPr/>
        <a:lstStyle/>
        <a:p>
          <a:endParaRPr lang="en-IN"/>
        </a:p>
      </dgm:t>
    </dgm:pt>
    <dgm:pt modelId="{608B7948-37DA-4DDD-A56D-16AA8CC3AD50}" type="pres">
      <dgm:prSet presAssocID="{C8BD7C71-8F1B-400D-96A3-6B553A93EB7F}" presName="vert1" presStyleCnt="0"/>
      <dgm:spPr/>
    </dgm:pt>
    <dgm:pt modelId="{F83A5B86-9D43-4C81-A6D4-87875817B689}" type="pres">
      <dgm:prSet presAssocID="{311F9A05-A7F4-4328-B319-DBCDF0DF0E82}" presName="thickLine" presStyleLbl="alignNode1" presStyleIdx="1" presStyleCnt="5"/>
      <dgm:spPr/>
    </dgm:pt>
    <dgm:pt modelId="{3BC975C1-0C99-4F97-8C52-C1CFA0BAF551}" type="pres">
      <dgm:prSet presAssocID="{311F9A05-A7F4-4328-B319-DBCDF0DF0E82}" presName="horz1" presStyleCnt="0"/>
      <dgm:spPr/>
    </dgm:pt>
    <dgm:pt modelId="{7BF0A7F7-0F37-4B11-9AED-B46FE7E128D8}" type="pres">
      <dgm:prSet presAssocID="{311F9A05-A7F4-4328-B319-DBCDF0DF0E82}" presName="tx1" presStyleLbl="revTx" presStyleIdx="1" presStyleCnt="5"/>
      <dgm:spPr/>
      <dgm:t>
        <a:bodyPr/>
        <a:lstStyle/>
        <a:p>
          <a:endParaRPr lang="en-IN"/>
        </a:p>
      </dgm:t>
    </dgm:pt>
    <dgm:pt modelId="{AA11931C-C560-424D-BE37-4872DC1B2048}" type="pres">
      <dgm:prSet presAssocID="{311F9A05-A7F4-4328-B319-DBCDF0DF0E82}" presName="vert1" presStyleCnt="0"/>
      <dgm:spPr/>
    </dgm:pt>
    <dgm:pt modelId="{7EE56E18-6978-43E9-9D4D-E31AA5BEE441}" type="pres">
      <dgm:prSet presAssocID="{81CB55E0-0FB6-485C-B15D-9BD278F78C6F}" presName="thickLine" presStyleLbl="alignNode1" presStyleIdx="2" presStyleCnt="5"/>
      <dgm:spPr/>
    </dgm:pt>
    <dgm:pt modelId="{447FCB44-517C-43F4-BE59-391C36D21C9C}" type="pres">
      <dgm:prSet presAssocID="{81CB55E0-0FB6-485C-B15D-9BD278F78C6F}" presName="horz1" presStyleCnt="0"/>
      <dgm:spPr/>
    </dgm:pt>
    <dgm:pt modelId="{89436931-860B-40AD-8DCE-CEE0F56E60ED}" type="pres">
      <dgm:prSet presAssocID="{81CB55E0-0FB6-485C-B15D-9BD278F78C6F}" presName="tx1" presStyleLbl="revTx" presStyleIdx="2" presStyleCnt="5"/>
      <dgm:spPr/>
      <dgm:t>
        <a:bodyPr/>
        <a:lstStyle/>
        <a:p>
          <a:endParaRPr lang="en-IN"/>
        </a:p>
      </dgm:t>
    </dgm:pt>
    <dgm:pt modelId="{0E51C315-1B46-45D6-B4D4-E44AF2F7FE47}" type="pres">
      <dgm:prSet presAssocID="{81CB55E0-0FB6-485C-B15D-9BD278F78C6F}" presName="vert1" presStyleCnt="0"/>
      <dgm:spPr/>
    </dgm:pt>
    <dgm:pt modelId="{B514687E-679F-4404-A929-C733AA004539}" type="pres">
      <dgm:prSet presAssocID="{51474CA9-1ADD-4331-9534-6780C3A18768}" presName="thickLine" presStyleLbl="alignNode1" presStyleIdx="3" presStyleCnt="5"/>
      <dgm:spPr/>
    </dgm:pt>
    <dgm:pt modelId="{80414A13-977F-40A0-BF88-8AEFF7DE361E}" type="pres">
      <dgm:prSet presAssocID="{51474CA9-1ADD-4331-9534-6780C3A18768}" presName="horz1" presStyleCnt="0"/>
      <dgm:spPr/>
    </dgm:pt>
    <dgm:pt modelId="{3E95DC57-D848-494F-A343-6CBABA986252}" type="pres">
      <dgm:prSet presAssocID="{51474CA9-1ADD-4331-9534-6780C3A18768}" presName="tx1" presStyleLbl="revTx" presStyleIdx="3" presStyleCnt="5"/>
      <dgm:spPr/>
      <dgm:t>
        <a:bodyPr/>
        <a:lstStyle/>
        <a:p>
          <a:endParaRPr lang="en-IN"/>
        </a:p>
      </dgm:t>
    </dgm:pt>
    <dgm:pt modelId="{42E34139-9E2B-4ED7-9D4C-0E180FD5C739}" type="pres">
      <dgm:prSet presAssocID="{51474CA9-1ADD-4331-9534-6780C3A18768}" presName="vert1" presStyleCnt="0"/>
      <dgm:spPr/>
    </dgm:pt>
    <dgm:pt modelId="{0B062B2C-FD23-461E-89A1-3ECDF7A567C2}" type="pres">
      <dgm:prSet presAssocID="{BA2E5375-FD77-47B4-A888-7387932E6D62}" presName="thickLine" presStyleLbl="alignNode1" presStyleIdx="4" presStyleCnt="5"/>
      <dgm:spPr/>
    </dgm:pt>
    <dgm:pt modelId="{1BF4D050-06E8-4B19-AEB8-E6957BD50750}" type="pres">
      <dgm:prSet presAssocID="{BA2E5375-FD77-47B4-A888-7387932E6D62}" presName="horz1" presStyleCnt="0"/>
      <dgm:spPr/>
    </dgm:pt>
    <dgm:pt modelId="{D26876CA-709E-4928-AAF2-4734D1DACD6D}" type="pres">
      <dgm:prSet presAssocID="{BA2E5375-FD77-47B4-A888-7387932E6D62}" presName="tx1" presStyleLbl="revTx" presStyleIdx="4" presStyleCnt="5"/>
      <dgm:spPr/>
      <dgm:t>
        <a:bodyPr/>
        <a:lstStyle/>
        <a:p>
          <a:endParaRPr lang="en-IN"/>
        </a:p>
      </dgm:t>
    </dgm:pt>
    <dgm:pt modelId="{88DBC881-0983-4C91-8705-CB8A16D50941}" type="pres">
      <dgm:prSet presAssocID="{BA2E5375-FD77-47B4-A888-7387932E6D62}" presName="vert1" presStyleCnt="0"/>
      <dgm:spPr/>
    </dgm:pt>
  </dgm:ptLst>
  <dgm:cxnLst>
    <dgm:cxn modelId="{1E758276-5CFF-4BAE-A386-14A1506C6C40}" type="presOf" srcId="{BA2E5375-FD77-47B4-A888-7387932E6D62}" destId="{D26876CA-709E-4928-AAF2-4734D1DACD6D}" srcOrd="0" destOrd="0" presId="urn:microsoft.com/office/officeart/2008/layout/LinedList"/>
    <dgm:cxn modelId="{82740FDE-63B4-4115-9E3F-897BF4450ACC}" type="presOf" srcId="{B64DB52A-CA4F-4852-B41E-6A1F43CC58F9}" destId="{573103A9-89AC-4873-8CB5-0F4B7370B2E1}" srcOrd="0" destOrd="0" presId="urn:microsoft.com/office/officeart/2008/layout/LinedList"/>
    <dgm:cxn modelId="{D1DF49C9-ED16-405F-A284-856CD26FABC2}" type="presOf" srcId="{311F9A05-A7F4-4328-B319-DBCDF0DF0E82}" destId="{7BF0A7F7-0F37-4B11-9AED-B46FE7E128D8}" srcOrd="0" destOrd="0" presId="urn:microsoft.com/office/officeart/2008/layout/LinedList"/>
    <dgm:cxn modelId="{0201120D-88A9-46BE-9181-C7B39AB97D4A}" type="presOf" srcId="{81CB55E0-0FB6-485C-B15D-9BD278F78C6F}" destId="{89436931-860B-40AD-8DCE-CEE0F56E60ED}" srcOrd="0" destOrd="0" presId="urn:microsoft.com/office/officeart/2008/layout/LinedList"/>
    <dgm:cxn modelId="{C10A2E97-40D9-4123-9647-358E1A64D6C9}" srcId="{B64DB52A-CA4F-4852-B41E-6A1F43CC58F9}" destId="{51474CA9-1ADD-4331-9534-6780C3A18768}" srcOrd="3" destOrd="0" parTransId="{BD15203B-A2C4-421B-84CE-AC22CC6E237F}" sibTransId="{5FA359DE-6932-424A-BDE2-579D3E29B33A}"/>
    <dgm:cxn modelId="{285F19B7-0DE6-4516-940F-56080AC841F9}" srcId="{B64DB52A-CA4F-4852-B41E-6A1F43CC58F9}" destId="{BA2E5375-FD77-47B4-A888-7387932E6D62}" srcOrd="4" destOrd="0" parTransId="{9F77997F-5AC0-4D93-89AC-B37B7BDB43EF}" sibTransId="{60B3BF56-C21F-456B-A5AC-F5C3D1CA9305}"/>
    <dgm:cxn modelId="{942D76EB-4E8A-49F9-9193-131FE6139044}" srcId="{B64DB52A-CA4F-4852-B41E-6A1F43CC58F9}" destId="{C8BD7C71-8F1B-400D-96A3-6B553A93EB7F}" srcOrd="0" destOrd="0" parTransId="{BBCFB319-5299-4310-B646-22472DABF40A}" sibTransId="{AF1C4F3A-D240-4EB1-9ECB-2ED225CCC019}"/>
    <dgm:cxn modelId="{FAA27ACC-BF4C-4B58-BBD5-CAC9ACD840EE}" type="presOf" srcId="{51474CA9-1ADD-4331-9534-6780C3A18768}" destId="{3E95DC57-D848-494F-A343-6CBABA986252}" srcOrd="0" destOrd="0" presId="urn:microsoft.com/office/officeart/2008/layout/LinedList"/>
    <dgm:cxn modelId="{C67D86B1-DA68-4789-A26E-242B811763EF}" type="presOf" srcId="{C8BD7C71-8F1B-400D-96A3-6B553A93EB7F}" destId="{CBF4003A-096B-4C8D-8E4F-9D9EAB681D72}" srcOrd="0" destOrd="0" presId="urn:microsoft.com/office/officeart/2008/layout/LinedList"/>
    <dgm:cxn modelId="{6DCFA649-9D6E-469B-AACA-1BA847263E9A}" srcId="{B64DB52A-CA4F-4852-B41E-6A1F43CC58F9}" destId="{311F9A05-A7F4-4328-B319-DBCDF0DF0E82}" srcOrd="1" destOrd="0" parTransId="{23B85C74-2F21-4685-BD89-BB563657B099}" sibTransId="{91F4A534-BBDE-4EB5-BAE5-EACEB7D0B868}"/>
    <dgm:cxn modelId="{B28E7539-702F-4403-B38C-CCE2EC9E181E}" srcId="{B64DB52A-CA4F-4852-B41E-6A1F43CC58F9}" destId="{81CB55E0-0FB6-485C-B15D-9BD278F78C6F}" srcOrd="2" destOrd="0" parTransId="{81E23C2F-5B75-4C87-B80F-F92D751EF2D3}" sibTransId="{CA453529-0F48-4EF3-8F16-E732FB1811C3}"/>
    <dgm:cxn modelId="{6050693E-2B5D-4BA9-94AB-7F6B79F23F7C}" type="presParOf" srcId="{573103A9-89AC-4873-8CB5-0F4B7370B2E1}" destId="{6FF76B5C-2320-4CB5-9844-D984662B1716}" srcOrd="0" destOrd="0" presId="urn:microsoft.com/office/officeart/2008/layout/LinedList"/>
    <dgm:cxn modelId="{704A06D8-4FDE-4215-942D-516F2F7691C5}" type="presParOf" srcId="{573103A9-89AC-4873-8CB5-0F4B7370B2E1}" destId="{41C87863-73DE-4F9B-A76B-880D805954CA}" srcOrd="1" destOrd="0" presId="urn:microsoft.com/office/officeart/2008/layout/LinedList"/>
    <dgm:cxn modelId="{17423084-2FC4-407D-9EFD-786888A39C46}" type="presParOf" srcId="{41C87863-73DE-4F9B-A76B-880D805954CA}" destId="{CBF4003A-096B-4C8D-8E4F-9D9EAB681D72}" srcOrd="0" destOrd="0" presId="urn:microsoft.com/office/officeart/2008/layout/LinedList"/>
    <dgm:cxn modelId="{687F4CDD-C2DB-4EA2-A819-2C0AACB8B349}" type="presParOf" srcId="{41C87863-73DE-4F9B-A76B-880D805954CA}" destId="{608B7948-37DA-4DDD-A56D-16AA8CC3AD50}" srcOrd="1" destOrd="0" presId="urn:microsoft.com/office/officeart/2008/layout/LinedList"/>
    <dgm:cxn modelId="{525A0A8A-72C6-4EC8-834E-7C5CC6FB981C}" type="presParOf" srcId="{573103A9-89AC-4873-8CB5-0F4B7370B2E1}" destId="{F83A5B86-9D43-4C81-A6D4-87875817B689}" srcOrd="2" destOrd="0" presId="urn:microsoft.com/office/officeart/2008/layout/LinedList"/>
    <dgm:cxn modelId="{D6CE3302-5460-4394-B485-EB297BE9A15A}" type="presParOf" srcId="{573103A9-89AC-4873-8CB5-0F4B7370B2E1}" destId="{3BC975C1-0C99-4F97-8C52-C1CFA0BAF551}" srcOrd="3" destOrd="0" presId="urn:microsoft.com/office/officeart/2008/layout/LinedList"/>
    <dgm:cxn modelId="{46CB5A83-E863-476D-9C8A-AF30F3735BCE}" type="presParOf" srcId="{3BC975C1-0C99-4F97-8C52-C1CFA0BAF551}" destId="{7BF0A7F7-0F37-4B11-9AED-B46FE7E128D8}" srcOrd="0" destOrd="0" presId="urn:microsoft.com/office/officeart/2008/layout/LinedList"/>
    <dgm:cxn modelId="{A918E117-9381-467C-AC26-D4F693F5F436}" type="presParOf" srcId="{3BC975C1-0C99-4F97-8C52-C1CFA0BAF551}" destId="{AA11931C-C560-424D-BE37-4872DC1B2048}" srcOrd="1" destOrd="0" presId="urn:microsoft.com/office/officeart/2008/layout/LinedList"/>
    <dgm:cxn modelId="{068D092F-66A8-4660-9D88-1DF8C4504227}" type="presParOf" srcId="{573103A9-89AC-4873-8CB5-0F4B7370B2E1}" destId="{7EE56E18-6978-43E9-9D4D-E31AA5BEE441}" srcOrd="4" destOrd="0" presId="urn:microsoft.com/office/officeart/2008/layout/LinedList"/>
    <dgm:cxn modelId="{44479962-AEB0-416F-B0D9-DA4D7793978C}" type="presParOf" srcId="{573103A9-89AC-4873-8CB5-0F4B7370B2E1}" destId="{447FCB44-517C-43F4-BE59-391C36D21C9C}" srcOrd="5" destOrd="0" presId="urn:microsoft.com/office/officeart/2008/layout/LinedList"/>
    <dgm:cxn modelId="{C5308980-DA80-4C36-9A77-C2170DBF6729}" type="presParOf" srcId="{447FCB44-517C-43F4-BE59-391C36D21C9C}" destId="{89436931-860B-40AD-8DCE-CEE0F56E60ED}" srcOrd="0" destOrd="0" presId="urn:microsoft.com/office/officeart/2008/layout/LinedList"/>
    <dgm:cxn modelId="{54F72AE8-22B0-43A6-B6BD-1B0313EA7BDF}" type="presParOf" srcId="{447FCB44-517C-43F4-BE59-391C36D21C9C}" destId="{0E51C315-1B46-45D6-B4D4-E44AF2F7FE47}" srcOrd="1" destOrd="0" presId="urn:microsoft.com/office/officeart/2008/layout/LinedList"/>
    <dgm:cxn modelId="{19BC082F-B689-4F78-A6D1-7C999839E14F}" type="presParOf" srcId="{573103A9-89AC-4873-8CB5-0F4B7370B2E1}" destId="{B514687E-679F-4404-A929-C733AA004539}" srcOrd="6" destOrd="0" presId="urn:microsoft.com/office/officeart/2008/layout/LinedList"/>
    <dgm:cxn modelId="{5FC11FAE-92D9-4F9C-B117-F7D348C1510D}" type="presParOf" srcId="{573103A9-89AC-4873-8CB5-0F4B7370B2E1}" destId="{80414A13-977F-40A0-BF88-8AEFF7DE361E}" srcOrd="7" destOrd="0" presId="urn:microsoft.com/office/officeart/2008/layout/LinedList"/>
    <dgm:cxn modelId="{352F2B43-E451-4B7E-9312-9AAD95A411D2}" type="presParOf" srcId="{80414A13-977F-40A0-BF88-8AEFF7DE361E}" destId="{3E95DC57-D848-494F-A343-6CBABA986252}" srcOrd="0" destOrd="0" presId="urn:microsoft.com/office/officeart/2008/layout/LinedList"/>
    <dgm:cxn modelId="{36003779-C741-44F6-8414-127BB8DB7632}" type="presParOf" srcId="{80414A13-977F-40A0-BF88-8AEFF7DE361E}" destId="{42E34139-9E2B-4ED7-9D4C-0E180FD5C739}" srcOrd="1" destOrd="0" presId="urn:microsoft.com/office/officeart/2008/layout/LinedList"/>
    <dgm:cxn modelId="{76075796-84B8-45C7-A58E-01EB96E9A88C}" type="presParOf" srcId="{573103A9-89AC-4873-8CB5-0F4B7370B2E1}" destId="{0B062B2C-FD23-461E-89A1-3ECDF7A567C2}" srcOrd="8" destOrd="0" presId="urn:microsoft.com/office/officeart/2008/layout/LinedList"/>
    <dgm:cxn modelId="{3F43150B-0A1C-4D26-AF2F-A91DCCD36790}" type="presParOf" srcId="{573103A9-89AC-4873-8CB5-0F4B7370B2E1}" destId="{1BF4D050-06E8-4B19-AEB8-E6957BD50750}" srcOrd="9" destOrd="0" presId="urn:microsoft.com/office/officeart/2008/layout/LinedList"/>
    <dgm:cxn modelId="{F4958F6D-C2E7-4C96-BBA8-7D1CD5F448BA}" type="presParOf" srcId="{1BF4D050-06E8-4B19-AEB8-E6957BD50750}" destId="{D26876CA-709E-4928-AAF2-4734D1DACD6D}" srcOrd="0" destOrd="0" presId="urn:microsoft.com/office/officeart/2008/layout/LinedList"/>
    <dgm:cxn modelId="{8446EAFA-B996-4810-9A18-B693B6EEC361}" type="presParOf" srcId="{1BF4D050-06E8-4B19-AEB8-E6957BD50750}" destId="{88DBC881-0983-4C91-8705-CB8A16D50941}"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F76B5C-2320-4CB5-9844-D984662B1716}">
      <dsp:nvSpPr>
        <dsp:cNvPr id="0" name=""/>
        <dsp:cNvSpPr/>
      </dsp:nvSpPr>
      <dsp:spPr>
        <a:xfrm>
          <a:off x="0" y="611"/>
          <a:ext cx="6900512"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F4003A-096B-4C8D-8E4F-9D9EAB681D72}">
      <dsp:nvSpPr>
        <dsp:cNvPr id="0" name=""/>
        <dsp:cNvSpPr/>
      </dsp:nvSpPr>
      <dsp:spPr>
        <a:xfrm>
          <a:off x="0" y="611"/>
          <a:ext cx="6900512" cy="10008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lvl="0" algn="l" defTabSz="1289050">
            <a:lnSpc>
              <a:spcPct val="90000"/>
            </a:lnSpc>
            <a:spcBef>
              <a:spcPct val="0"/>
            </a:spcBef>
            <a:spcAft>
              <a:spcPct val="35000"/>
            </a:spcAft>
          </a:pPr>
          <a:r>
            <a:rPr lang="en-IN" sz="2900" kern="1200" dirty="0" smtClean="0"/>
            <a:t>1 </a:t>
          </a:r>
          <a:r>
            <a:rPr lang="en-IN" sz="2900" kern="1200" dirty="0" smtClean="0"/>
            <a:t>History of Machine learning</a:t>
          </a:r>
        </a:p>
      </dsp:txBody>
      <dsp:txXfrm>
        <a:off x="0" y="611"/>
        <a:ext cx="6900512" cy="1000833"/>
      </dsp:txXfrm>
    </dsp:sp>
    <dsp:sp modelId="{F83A5B86-9D43-4C81-A6D4-87875817B689}">
      <dsp:nvSpPr>
        <dsp:cNvPr id="0" name=""/>
        <dsp:cNvSpPr/>
      </dsp:nvSpPr>
      <dsp:spPr>
        <a:xfrm>
          <a:off x="0" y="1001444"/>
          <a:ext cx="6900512"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F0A7F7-0F37-4B11-9AED-B46FE7E128D8}">
      <dsp:nvSpPr>
        <dsp:cNvPr id="0" name=""/>
        <dsp:cNvSpPr/>
      </dsp:nvSpPr>
      <dsp:spPr>
        <a:xfrm>
          <a:off x="0" y="1001444"/>
          <a:ext cx="6900512" cy="10008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lvl="0" algn="l" defTabSz="1289050">
            <a:lnSpc>
              <a:spcPct val="90000"/>
            </a:lnSpc>
            <a:spcBef>
              <a:spcPct val="0"/>
            </a:spcBef>
            <a:spcAft>
              <a:spcPct val="35000"/>
            </a:spcAft>
          </a:pPr>
          <a:r>
            <a:rPr lang="en-IN" sz="2900" kern="1200" dirty="0" smtClean="0"/>
            <a:t>2 </a:t>
          </a:r>
          <a:r>
            <a:rPr lang="en-IN" sz="2900" kern="1200" dirty="0" smtClean="0"/>
            <a:t>Activity-1 (Gallery Walk)</a:t>
          </a:r>
        </a:p>
      </dsp:txBody>
      <dsp:txXfrm>
        <a:off x="0" y="1001444"/>
        <a:ext cx="6900512" cy="1000833"/>
      </dsp:txXfrm>
    </dsp:sp>
    <dsp:sp modelId="{7EE56E18-6978-43E9-9D4D-E31AA5BEE441}">
      <dsp:nvSpPr>
        <dsp:cNvPr id="0" name=""/>
        <dsp:cNvSpPr/>
      </dsp:nvSpPr>
      <dsp:spPr>
        <a:xfrm>
          <a:off x="0" y="2002277"/>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436931-860B-40AD-8DCE-CEE0F56E60ED}">
      <dsp:nvSpPr>
        <dsp:cNvPr id="0" name=""/>
        <dsp:cNvSpPr/>
      </dsp:nvSpPr>
      <dsp:spPr>
        <a:xfrm>
          <a:off x="0" y="2002277"/>
          <a:ext cx="6900512" cy="10008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lvl="0" algn="l" defTabSz="1289050">
            <a:lnSpc>
              <a:spcPct val="90000"/>
            </a:lnSpc>
            <a:spcBef>
              <a:spcPct val="0"/>
            </a:spcBef>
            <a:spcAft>
              <a:spcPct val="35000"/>
            </a:spcAft>
          </a:pPr>
          <a:r>
            <a:rPr lang="en-IN" sz="2900" kern="1200" dirty="0" smtClean="0"/>
            <a:t>3 </a:t>
          </a:r>
          <a:r>
            <a:rPr lang="en-GB" sz="2900" kern="1200" dirty="0" smtClean="0"/>
            <a:t>Life Cycle of Machine Learning</a:t>
          </a:r>
          <a:endParaRPr lang="en-IN" sz="2900" kern="1200" dirty="0" smtClean="0"/>
        </a:p>
      </dsp:txBody>
      <dsp:txXfrm>
        <a:off x="0" y="2002277"/>
        <a:ext cx="6900512" cy="1000833"/>
      </dsp:txXfrm>
    </dsp:sp>
    <dsp:sp modelId="{B514687E-679F-4404-A929-C733AA004539}">
      <dsp:nvSpPr>
        <dsp:cNvPr id="0" name=""/>
        <dsp:cNvSpPr/>
      </dsp:nvSpPr>
      <dsp:spPr>
        <a:xfrm>
          <a:off x="0" y="3003110"/>
          <a:ext cx="6900512"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95DC57-D848-494F-A343-6CBABA986252}">
      <dsp:nvSpPr>
        <dsp:cNvPr id="0" name=""/>
        <dsp:cNvSpPr/>
      </dsp:nvSpPr>
      <dsp:spPr>
        <a:xfrm>
          <a:off x="0" y="3003110"/>
          <a:ext cx="6900512" cy="10008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lvl="0" algn="l" defTabSz="1289050">
            <a:lnSpc>
              <a:spcPct val="90000"/>
            </a:lnSpc>
            <a:spcBef>
              <a:spcPct val="0"/>
            </a:spcBef>
            <a:spcAft>
              <a:spcPct val="35000"/>
            </a:spcAft>
          </a:pPr>
          <a:r>
            <a:rPr lang="en-IN" sz="2900" kern="1200" dirty="0" smtClean="0"/>
            <a:t>4 Activity-2 (Quiz on Wooflash)</a:t>
          </a:r>
          <a:endParaRPr lang="en-US" sz="2900" kern="1200" dirty="0"/>
        </a:p>
      </dsp:txBody>
      <dsp:txXfrm>
        <a:off x="0" y="3003110"/>
        <a:ext cx="6900512" cy="1000833"/>
      </dsp:txXfrm>
    </dsp:sp>
    <dsp:sp modelId="{0B062B2C-FD23-461E-89A1-3ECDF7A567C2}">
      <dsp:nvSpPr>
        <dsp:cNvPr id="0" name=""/>
        <dsp:cNvSpPr/>
      </dsp:nvSpPr>
      <dsp:spPr>
        <a:xfrm>
          <a:off x="0" y="4003943"/>
          <a:ext cx="6900512" cy="0"/>
        </a:xfrm>
        <a:prstGeom prst="lin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6876CA-709E-4928-AAF2-4734D1DACD6D}">
      <dsp:nvSpPr>
        <dsp:cNvPr id="0" name=""/>
        <dsp:cNvSpPr/>
      </dsp:nvSpPr>
      <dsp:spPr>
        <a:xfrm>
          <a:off x="0" y="4003943"/>
          <a:ext cx="6900512" cy="10008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lvl="0" algn="l" defTabSz="1289050">
            <a:lnSpc>
              <a:spcPct val="90000"/>
            </a:lnSpc>
            <a:spcBef>
              <a:spcPct val="0"/>
            </a:spcBef>
            <a:spcAft>
              <a:spcPct val="35000"/>
            </a:spcAft>
          </a:pPr>
          <a:r>
            <a:rPr lang="en-IN" sz="2900" kern="1200" dirty="0" smtClean="0"/>
            <a:t>5 Review and Reflections</a:t>
          </a:r>
        </a:p>
      </dsp:txBody>
      <dsp:txXfrm>
        <a:off x="0" y="4003943"/>
        <a:ext cx="6900512" cy="10008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F76B5C-2320-4CB5-9844-D984662B1716}">
      <dsp:nvSpPr>
        <dsp:cNvPr id="0" name=""/>
        <dsp:cNvSpPr/>
      </dsp:nvSpPr>
      <dsp:spPr>
        <a:xfrm>
          <a:off x="0" y="380"/>
          <a:ext cx="833932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F4003A-096B-4C8D-8E4F-9D9EAB681D72}">
      <dsp:nvSpPr>
        <dsp:cNvPr id="0" name=""/>
        <dsp:cNvSpPr/>
      </dsp:nvSpPr>
      <dsp:spPr>
        <a:xfrm>
          <a:off x="0" y="380"/>
          <a:ext cx="8339320" cy="6227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lvl="0" algn="l" defTabSz="1289050">
            <a:lnSpc>
              <a:spcPct val="90000"/>
            </a:lnSpc>
            <a:spcBef>
              <a:spcPct val="0"/>
            </a:spcBef>
            <a:spcAft>
              <a:spcPct val="35000"/>
            </a:spcAft>
          </a:pPr>
          <a:r>
            <a:rPr lang="en-IN" sz="2900" kern="1200" dirty="0" smtClean="0"/>
            <a:t>1 </a:t>
          </a:r>
          <a:r>
            <a:rPr lang="en-IN" sz="2900" kern="1200" dirty="0" smtClean="0"/>
            <a:t>History of Machine learning</a:t>
          </a:r>
        </a:p>
      </dsp:txBody>
      <dsp:txXfrm>
        <a:off x="0" y="380"/>
        <a:ext cx="8339320" cy="622782"/>
      </dsp:txXfrm>
    </dsp:sp>
    <dsp:sp modelId="{F83A5B86-9D43-4C81-A6D4-87875817B689}">
      <dsp:nvSpPr>
        <dsp:cNvPr id="0" name=""/>
        <dsp:cNvSpPr/>
      </dsp:nvSpPr>
      <dsp:spPr>
        <a:xfrm>
          <a:off x="0" y="623163"/>
          <a:ext cx="833932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F0A7F7-0F37-4B11-9AED-B46FE7E128D8}">
      <dsp:nvSpPr>
        <dsp:cNvPr id="0" name=""/>
        <dsp:cNvSpPr/>
      </dsp:nvSpPr>
      <dsp:spPr>
        <a:xfrm>
          <a:off x="0" y="623163"/>
          <a:ext cx="8339320" cy="6227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lvl="0" algn="l" defTabSz="1289050">
            <a:lnSpc>
              <a:spcPct val="90000"/>
            </a:lnSpc>
            <a:spcBef>
              <a:spcPct val="0"/>
            </a:spcBef>
            <a:spcAft>
              <a:spcPct val="35000"/>
            </a:spcAft>
          </a:pPr>
          <a:r>
            <a:rPr lang="en-IN" sz="2900" kern="1200" dirty="0" smtClean="0"/>
            <a:t>2 </a:t>
          </a:r>
          <a:r>
            <a:rPr lang="en-IN" sz="2900" kern="1200" dirty="0" smtClean="0"/>
            <a:t>Activity-1 (Gallery Walk)</a:t>
          </a:r>
        </a:p>
      </dsp:txBody>
      <dsp:txXfrm>
        <a:off x="0" y="623163"/>
        <a:ext cx="8339320" cy="622782"/>
      </dsp:txXfrm>
    </dsp:sp>
    <dsp:sp modelId="{7EE56E18-6978-43E9-9D4D-E31AA5BEE441}">
      <dsp:nvSpPr>
        <dsp:cNvPr id="0" name=""/>
        <dsp:cNvSpPr/>
      </dsp:nvSpPr>
      <dsp:spPr>
        <a:xfrm>
          <a:off x="0" y="1245946"/>
          <a:ext cx="8339320"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436931-860B-40AD-8DCE-CEE0F56E60ED}">
      <dsp:nvSpPr>
        <dsp:cNvPr id="0" name=""/>
        <dsp:cNvSpPr/>
      </dsp:nvSpPr>
      <dsp:spPr>
        <a:xfrm>
          <a:off x="0" y="1245946"/>
          <a:ext cx="8339320" cy="6227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lvl="0" algn="l" defTabSz="1289050">
            <a:lnSpc>
              <a:spcPct val="90000"/>
            </a:lnSpc>
            <a:spcBef>
              <a:spcPct val="0"/>
            </a:spcBef>
            <a:spcAft>
              <a:spcPct val="35000"/>
            </a:spcAft>
          </a:pPr>
          <a:r>
            <a:rPr lang="en-IN" sz="2900" kern="1200" dirty="0" smtClean="0"/>
            <a:t>3 </a:t>
          </a:r>
          <a:r>
            <a:rPr lang="en-GB" sz="2900" kern="1200" dirty="0" smtClean="0"/>
            <a:t>Life Cycle of Machine Learning</a:t>
          </a:r>
          <a:endParaRPr lang="en-IN" sz="2900" kern="1200" dirty="0" smtClean="0"/>
        </a:p>
      </dsp:txBody>
      <dsp:txXfrm>
        <a:off x="0" y="1245946"/>
        <a:ext cx="8339320" cy="622782"/>
      </dsp:txXfrm>
    </dsp:sp>
    <dsp:sp modelId="{B514687E-679F-4404-A929-C733AA004539}">
      <dsp:nvSpPr>
        <dsp:cNvPr id="0" name=""/>
        <dsp:cNvSpPr/>
      </dsp:nvSpPr>
      <dsp:spPr>
        <a:xfrm>
          <a:off x="0" y="1868728"/>
          <a:ext cx="8339320"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95DC57-D848-494F-A343-6CBABA986252}">
      <dsp:nvSpPr>
        <dsp:cNvPr id="0" name=""/>
        <dsp:cNvSpPr/>
      </dsp:nvSpPr>
      <dsp:spPr>
        <a:xfrm>
          <a:off x="0" y="1868728"/>
          <a:ext cx="8339320" cy="6227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lvl="0" algn="l" defTabSz="1289050">
            <a:lnSpc>
              <a:spcPct val="90000"/>
            </a:lnSpc>
            <a:spcBef>
              <a:spcPct val="0"/>
            </a:spcBef>
            <a:spcAft>
              <a:spcPct val="35000"/>
            </a:spcAft>
          </a:pPr>
          <a:r>
            <a:rPr lang="en-IN" sz="2900" kern="1200" dirty="0" smtClean="0"/>
            <a:t>4 Activity-2 (Quiz on Wooflash)</a:t>
          </a:r>
          <a:endParaRPr lang="en-US" sz="2900" kern="1200" dirty="0"/>
        </a:p>
      </dsp:txBody>
      <dsp:txXfrm>
        <a:off x="0" y="1868728"/>
        <a:ext cx="8339320" cy="622782"/>
      </dsp:txXfrm>
    </dsp:sp>
    <dsp:sp modelId="{0B062B2C-FD23-461E-89A1-3ECDF7A567C2}">
      <dsp:nvSpPr>
        <dsp:cNvPr id="0" name=""/>
        <dsp:cNvSpPr/>
      </dsp:nvSpPr>
      <dsp:spPr>
        <a:xfrm>
          <a:off x="0" y="2491511"/>
          <a:ext cx="8339320" cy="0"/>
        </a:xfrm>
        <a:prstGeom prst="lin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6876CA-709E-4928-AAF2-4734D1DACD6D}">
      <dsp:nvSpPr>
        <dsp:cNvPr id="0" name=""/>
        <dsp:cNvSpPr/>
      </dsp:nvSpPr>
      <dsp:spPr>
        <a:xfrm>
          <a:off x="0" y="2491511"/>
          <a:ext cx="8339320" cy="6227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lvl="0" algn="l" defTabSz="1289050">
            <a:lnSpc>
              <a:spcPct val="90000"/>
            </a:lnSpc>
            <a:spcBef>
              <a:spcPct val="0"/>
            </a:spcBef>
            <a:spcAft>
              <a:spcPct val="35000"/>
            </a:spcAft>
          </a:pPr>
          <a:r>
            <a:rPr lang="en-IN" sz="2900" kern="1200" dirty="0" smtClean="0"/>
            <a:t>5 Review and Reflections</a:t>
          </a:r>
        </a:p>
      </dsp:txBody>
      <dsp:txXfrm>
        <a:off x="0" y="2491511"/>
        <a:ext cx="8339320" cy="62278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6FBC31-3F3F-40A8-84DF-BE3B4616B22A}" type="datetimeFigureOut">
              <a:rPr lang="en-IN" smtClean="0"/>
              <a:t>12-08-2026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9FE326-85E6-4395-8F28-A8F972B7BB4E}" type="slidenum">
              <a:rPr lang="en-IN" smtClean="0"/>
              <a:t>‹#›</a:t>
            </a:fld>
            <a:endParaRPr lang="en-IN"/>
          </a:p>
        </p:txBody>
      </p:sp>
    </p:spTree>
    <p:extLst>
      <p:ext uri="{BB962C8B-B14F-4D97-AF65-F5344CB8AC3E}">
        <p14:creationId xmlns:p14="http://schemas.microsoft.com/office/powerpoint/2010/main" val="1993760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E9FE326-85E6-4395-8F28-A8F972B7BB4E}" type="slidenum">
              <a:rPr lang="en-IN" smtClean="0"/>
              <a:t>1</a:t>
            </a:fld>
            <a:endParaRPr lang="en-IN"/>
          </a:p>
        </p:txBody>
      </p:sp>
    </p:spTree>
    <p:extLst>
      <p:ext uri="{BB962C8B-B14F-4D97-AF65-F5344CB8AC3E}">
        <p14:creationId xmlns:p14="http://schemas.microsoft.com/office/powerpoint/2010/main" val="27959090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0214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35920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2384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4B19AD-E795-8469-CB7A-8D1393914F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6B09FC3E-A433-5720-2C47-B218104854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0233EDBC-57D9-C6A6-6869-371DC35FAC4A}"/>
              </a:ext>
            </a:extLst>
          </p:cNvPr>
          <p:cNvSpPr>
            <a:spLocks noGrp="1"/>
          </p:cNvSpPr>
          <p:nvPr>
            <p:ph type="dt" sz="half" idx="10"/>
          </p:nvPr>
        </p:nvSpPr>
        <p:spPr/>
        <p:txBody>
          <a:bodyPr/>
          <a:lstStyle/>
          <a:p>
            <a:fld id="{8A70BC17-14DE-4044-B2E8-019DF33C0A2F}" type="datetime1">
              <a:rPr lang="en-IN" smtClean="0"/>
              <a:t>12-08-2026</a:t>
            </a:fld>
            <a:endParaRPr lang="en-IN"/>
          </a:p>
        </p:txBody>
      </p:sp>
      <p:sp>
        <p:nvSpPr>
          <p:cNvPr id="5" name="Footer Placeholder 4">
            <a:extLst>
              <a:ext uri="{FF2B5EF4-FFF2-40B4-BE49-F238E27FC236}">
                <a16:creationId xmlns:a16="http://schemas.microsoft.com/office/drawing/2014/main" xmlns="" id="{A8B1DC6D-FB05-89AF-D06E-2A214B26AC59}"/>
              </a:ext>
            </a:extLst>
          </p:cNvPr>
          <p:cNvSpPr>
            <a:spLocks noGrp="1"/>
          </p:cNvSpPr>
          <p:nvPr>
            <p:ph type="ftr" sz="quarter" idx="11"/>
          </p:nvPr>
        </p:nvSpPr>
        <p:spPr/>
        <p:txBody>
          <a:bodyPr/>
          <a:lstStyle/>
          <a:p>
            <a:r>
              <a:rPr lang="en-GB" smtClean="0"/>
              <a:t>Galgotias-Student Centered Active Learning Ecosystem &amp; Date 12-08-2026 </a:t>
            </a:r>
            <a:endParaRPr lang="en-IN"/>
          </a:p>
        </p:txBody>
      </p:sp>
      <p:sp>
        <p:nvSpPr>
          <p:cNvPr id="6" name="Slide Number Placeholder 5">
            <a:extLst>
              <a:ext uri="{FF2B5EF4-FFF2-40B4-BE49-F238E27FC236}">
                <a16:creationId xmlns:a16="http://schemas.microsoft.com/office/drawing/2014/main" xmlns="" id="{E5979841-7A1B-1D77-4E0D-F440971A186C}"/>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447415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16841F-4D47-CCA2-58EC-D8D2EE9AF0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CC907BEF-2C9D-42DC-3411-00B3A39BC0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736B5C3-B400-8ED2-C857-CC6B3B6EB6B7}"/>
              </a:ext>
            </a:extLst>
          </p:cNvPr>
          <p:cNvSpPr>
            <a:spLocks noGrp="1"/>
          </p:cNvSpPr>
          <p:nvPr>
            <p:ph type="dt" sz="half" idx="10"/>
          </p:nvPr>
        </p:nvSpPr>
        <p:spPr/>
        <p:txBody>
          <a:bodyPr/>
          <a:lstStyle/>
          <a:p>
            <a:fld id="{4376C4EE-45E5-4948-8379-5DAE694BDBB1}" type="datetime1">
              <a:rPr lang="en-IN" smtClean="0"/>
              <a:t>12-08-2026</a:t>
            </a:fld>
            <a:endParaRPr lang="en-IN"/>
          </a:p>
        </p:txBody>
      </p:sp>
      <p:sp>
        <p:nvSpPr>
          <p:cNvPr id="5" name="Footer Placeholder 4">
            <a:extLst>
              <a:ext uri="{FF2B5EF4-FFF2-40B4-BE49-F238E27FC236}">
                <a16:creationId xmlns:a16="http://schemas.microsoft.com/office/drawing/2014/main" xmlns="" id="{77C63E68-219E-B6BD-06FF-D09E8B6D7CE6}"/>
              </a:ext>
            </a:extLst>
          </p:cNvPr>
          <p:cNvSpPr>
            <a:spLocks noGrp="1"/>
          </p:cNvSpPr>
          <p:nvPr>
            <p:ph type="ftr" sz="quarter" idx="11"/>
          </p:nvPr>
        </p:nvSpPr>
        <p:spPr/>
        <p:txBody>
          <a:bodyPr/>
          <a:lstStyle/>
          <a:p>
            <a:r>
              <a:rPr lang="en-GB" smtClean="0"/>
              <a:t>Galgotias-Student Centered Active Learning Ecosystem &amp; Date 12-08-2026 </a:t>
            </a:r>
            <a:endParaRPr lang="en-IN"/>
          </a:p>
        </p:txBody>
      </p:sp>
      <p:sp>
        <p:nvSpPr>
          <p:cNvPr id="6" name="Slide Number Placeholder 5">
            <a:extLst>
              <a:ext uri="{FF2B5EF4-FFF2-40B4-BE49-F238E27FC236}">
                <a16:creationId xmlns:a16="http://schemas.microsoft.com/office/drawing/2014/main" xmlns="" id="{F927A96D-72D0-92EE-3B5C-8BFD78B7D7AD}"/>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412334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572F04E-14BF-8146-F649-927656875C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B8EC510D-E40E-01C5-FB7F-09741C6C96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77E5ACC9-6839-7636-07F4-E47B104A0B91}"/>
              </a:ext>
            </a:extLst>
          </p:cNvPr>
          <p:cNvSpPr>
            <a:spLocks noGrp="1"/>
          </p:cNvSpPr>
          <p:nvPr>
            <p:ph type="dt" sz="half" idx="10"/>
          </p:nvPr>
        </p:nvSpPr>
        <p:spPr/>
        <p:txBody>
          <a:bodyPr/>
          <a:lstStyle/>
          <a:p>
            <a:fld id="{A188673D-4084-45EC-841F-D354F794CD3A}" type="datetime1">
              <a:rPr lang="en-IN" smtClean="0"/>
              <a:t>12-08-2026</a:t>
            </a:fld>
            <a:endParaRPr lang="en-IN"/>
          </a:p>
        </p:txBody>
      </p:sp>
      <p:sp>
        <p:nvSpPr>
          <p:cNvPr id="5" name="Footer Placeholder 4">
            <a:extLst>
              <a:ext uri="{FF2B5EF4-FFF2-40B4-BE49-F238E27FC236}">
                <a16:creationId xmlns:a16="http://schemas.microsoft.com/office/drawing/2014/main" xmlns="" id="{331B4601-E63D-A03B-1DD8-CFB63233DA53}"/>
              </a:ext>
            </a:extLst>
          </p:cNvPr>
          <p:cNvSpPr>
            <a:spLocks noGrp="1"/>
          </p:cNvSpPr>
          <p:nvPr>
            <p:ph type="ftr" sz="quarter" idx="11"/>
          </p:nvPr>
        </p:nvSpPr>
        <p:spPr/>
        <p:txBody>
          <a:bodyPr/>
          <a:lstStyle/>
          <a:p>
            <a:r>
              <a:rPr lang="en-GB" smtClean="0"/>
              <a:t>Galgotias-Student Centered Active Learning Ecosystem &amp; Date 12-08-2026 </a:t>
            </a:r>
            <a:endParaRPr lang="en-IN"/>
          </a:p>
        </p:txBody>
      </p:sp>
      <p:sp>
        <p:nvSpPr>
          <p:cNvPr id="6" name="Slide Number Placeholder 5">
            <a:extLst>
              <a:ext uri="{FF2B5EF4-FFF2-40B4-BE49-F238E27FC236}">
                <a16:creationId xmlns:a16="http://schemas.microsoft.com/office/drawing/2014/main" xmlns="" id="{F609B235-6487-BCE9-DFAA-764CDD446CFE}"/>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37693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7612733-E66D-2C01-CE97-F41A211F2E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24778475-62F3-3BA2-991E-7D770F7AA9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C66E4499-7667-A5BF-CFBF-9B3734E040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39E2D099-6445-5C93-00AE-432EFD0706EB}"/>
              </a:ext>
            </a:extLst>
          </p:cNvPr>
          <p:cNvSpPr>
            <a:spLocks noGrp="1"/>
          </p:cNvSpPr>
          <p:nvPr>
            <p:ph type="dt" sz="half" idx="10"/>
          </p:nvPr>
        </p:nvSpPr>
        <p:spPr/>
        <p:txBody>
          <a:bodyPr/>
          <a:lstStyle/>
          <a:p>
            <a:fld id="{9D36D175-2BCD-4B01-A98B-6B7999863DBA}" type="datetime1">
              <a:rPr lang="en-IN" smtClean="0"/>
              <a:t>12-08-2026</a:t>
            </a:fld>
            <a:endParaRPr lang="en-IN"/>
          </a:p>
        </p:txBody>
      </p:sp>
      <p:sp>
        <p:nvSpPr>
          <p:cNvPr id="6" name="Footer Placeholder 5">
            <a:extLst>
              <a:ext uri="{FF2B5EF4-FFF2-40B4-BE49-F238E27FC236}">
                <a16:creationId xmlns:a16="http://schemas.microsoft.com/office/drawing/2014/main" xmlns="" id="{6C5B21F9-91D3-7C2A-79CF-2138303F1B9C}"/>
              </a:ext>
            </a:extLst>
          </p:cNvPr>
          <p:cNvSpPr>
            <a:spLocks noGrp="1"/>
          </p:cNvSpPr>
          <p:nvPr>
            <p:ph type="ftr" sz="quarter" idx="11"/>
          </p:nvPr>
        </p:nvSpPr>
        <p:spPr/>
        <p:txBody>
          <a:bodyPr/>
          <a:lstStyle/>
          <a:p>
            <a:r>
              <a:rPr lang="en-GB" smtClean="0"/>
              <a:t>Galgotias-Student Centered Active Learning Ecosystem &amp; Date 12-08-2026 </a:t>
            </a:r>
            <a:endParaRPr lang="en-IN"/>
          </a:p>
        </p:txBody>
      </p:sp>
      <p:sp>
        <p:nvSpPr>
          <p:cNvPr id="7" name="Slide Number Placeholder 6">
            <a:extLst>
              <a:ext uri="{FF2B5EF4-FFF2-40B4-BE49-F238E27FC236}">
                <a16:creationId xmlns:a16="http://schemas.microsoft.com/office/drawing/2014/main" xmlns="" id="{CA1F9FC0-4A14-8219-84DC-B1D61698EE4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048578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667B0A1-9BD6-B0A3-1102-E0773ECBB3F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83E87F29-AEDA-BDF7-8C0B-52CF6D178C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D9DAB8B1-DB15-81F7-48C3-A6308F8FEA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950A757F-7720-AA2F-16DB-5B4172569D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A7578B9F-AEC2-1CCB-17EA-93BC35E420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B3ADDEEA-4DF4-410A-B65E-F750E83FBB36}"/>
              </a:ext>
            </a:extLst>
          </p:cNvPr>
          <p:cNvSpPr>
            <a:spLocks noGrp="1"/>
          </p:cNvSpPr>
          <p:nvPr>
            <p:ph type="dt" sz="half" idx="10"/>
          </p:nvPr>
        </p:nvSpPr>
        <p:spPr/>
        <p:txBody>
          <a:bodyPr/>
          <a:lstStyle/>
          <a:p>
            <a:fld id="{D09E63EE-E1A9-4C03-8798-B0267A01C31A}" type="datetime1">
              <a:rPr lang="en-IN" smtClean="0"/>
              <a:t>12-08-2026</a:t>
            </a:fld>
            <a:endParaRPr lang="en-IN"/>
          </a:p>
        </p:txBody>
      </p:sp>
      <p:sp>
        <p:nvSpPr>
          <p:cNvPr id="8" name="Footer Placeholder 7">
            <a:extLst>
              <a:ext uri="{FF2B5EF4-FFF2-40B4-BE49-F238E27FC236}">
                <a16:creationId xmlns:a16="http://schemas.microsoft.com/office/drawing/2014/main" xmlns="" id="{90F839C7-3F7C-98F3-A612-DE6079BE9163}"/>
              </a:ext>
            </a:extLst>
          </p:cNvPr>
          <p:cNvSpPr>
            <a:spLocks noGrp="1"/>
          </p:cNvSpPr>
          <p:nvPr>
            <p:ph type="ftr" sz="quarter" idx="11"/>
          </p:nvPr>
        </p:nvSpPr>
        <p:spPr/>
        <p:txBody>
          <a:bodyPr/>
          <a:lstStyle/>
          <a:p>
            <a:r>
              <a:rPr lang="en-GB" smtClean="0"/>
              <a:t>Galgotias-Student Centered Active Learning Ecosystem &amp; Date 12-08-2026 </a:t>
            </a:r>
            <a:endParaRPr lang="en-IN"/>
          </a:p>
        </p:txBody>
      </p:sp>
      <p:sp>
        <p:nvSpPr>
          <p:cNvPr id="9" name="Slide Number Placeholder 8">
            <a:extLst>
              <a:ext uri="{FF2B5EF4-FFF2-40B4-BE49-F238E27FC236}">
                <a16:creationId xmlns:a16="http://schemas.microsoft.com/office/drawing/2014/main" xmlns="" id="{A6ED60D5-B96E-CB10-EF10-24D390209158}"/>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493610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1685F8-3F04-96B2-DFBB-F5EA7C78F86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C8A8FDE9-0DB9-E2EC-9EDB-3F7928924032}"/>
              </a:ext>
            </a:extLst>
          </p:cNvPr>
          <p:cNvSpPr>
            <a:spLocks noGrp="1"/>
          </p:cNvSpPr>
          <p:nvPr>
            <p:ph type="dt" sz="half" idx="10"/>
          </p:nvPr>
        </p:nvSpPr>
        <p:spPr/>
        <p:txBody>
          <a:bodyPr/>
          <a:lstStyle/>
          <a:p>
            <a:fld id="{ED2399C5-C6E3-4A77-9C96-670767E1F846}" type="datetime1">
              <a:rPr lang="en-IN" smtClean="0"/>
              <a:t>12-08-2026</a:t>
            </a:fld>
            <a:endParaRPr lang="en-IN"/>
          </a:p>
        </p:txBody>
      </p:sp>
      <p:sp>
        <p:nvSpPr>
          <p:cNvPr id="4" name="Footer Placeholder 3">
            <a:extLst>
              <a:ext uri="{FF2B5EF4-FFF2-40B4-BE49-F238E27FC236}">
                <a16:creationId xmlns:a16="http://schemas.microsoft.com/office/drawing/2014/main" xmlns="" id="{B76EA0CC-2F72-01A7-0018-794D28895805}"/>
              </a:ext>
            </a:extLst>
          </p:cNvPr>
          <p:cNvSpPr>
            <a:spLocks noGrp="1"/>
          </p:cNvSpPr>
          <p:nvPr>
            <p:ph type="ftr" sz="quarter" idx="11"/>
          </p:nvPr>
        </p:nvSpPr>
        <p:spPr/>
        <p:txBody>
          <a:bodyPr/>
          <a:lstStyle/>
          <a:p>
            <a:r>
              <a:rPr lang="en-GB" smtClean="0"/>
              <a:t>Galgotias-Student Centered Active Learning Ecosystem &amp; Date 12-08-2026 </a:t>
            </a:r>
            <a:endParaRPr lang="en-IN"/>
          </a:p>
        </p:txBody>
      </p:sp>
      <p:sp>
        <p:nvSpPr>
          <p:cNvPr id="5" name="Slide Number Placeholder 4">
            <a:extLst>
              <a:ext uri="{FF2B5EF4-FFF2-40B4-BE49-F238E27FC236}">
                <a16:creationId xmlns:a16="http://schemas.microsoft.com/office/drawing/2014/main" xmlns="" id="{D1946089-63E6-1B47-884D-22AD3D59DAD3}"/>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395177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BC668AA3-F340-1EBC-A758-E63E971B3C45}"/>
              </a:ext>
            </a:extLst>
          </p:cNvPr>
          <p:cNvSpPr>
            <a:spLocks noGrp="1"/>
          </p:cNvSpPr>
          <p:nvPr>
            <p:ph type="dt" sz="half" idx="10"/>
          </p:nvPr>
        </p:nvSpPr>
        <p:spPr/>
        <p:txBody>
          <a:bodyPr/>
          <a:lstStyle/>
          <a:p>
            <a:fld id="{D2853083-9B9A-4920-8299-5EF2DB18F693}" type="datetime1">
              <a:rPr lang="en-IN" smtClean="0"/>
              <a:t>12-08-2026</a:t>
            </a:fld>
            <a:endParaRPr lang="en-IN"/>
          </a:p>
        </p:txBody>
      </p:sp>
      <p:sp>
        <p:nvSpPr>
          <p:cNvPr id="3" name="Footer Placeholder 2">
            <a:extLst>
              <a:ext uri="{FF2B5EF4-FFF2-40B4-BE49-F238E27FC236}">
                <a16:creationId xmlns:a16="http://schemas.microsoft.com/office/drawing/2014/main" xmlns="" id="{15C5A41D-81C9-E2BD-E9AF-3AA5DB41DC6F}"/>
              </a:ext>
            </a:extLst>
          </p:cNvPr>
          <p:cNvSpPr>
            <a:spLocks noGrp="1"/>
          </p:cNvSpPr>
          <p:nvPr>
            <p:ph type="ftr" sz="quarter" idx="11"/>
          </p:nvPr>
        </p:nvSpPr>
        <p:spPr/>
        <p:txBody>
          <a:bodyPr/>
          <a:lstStyle/>
          <a:p>
            <a:r>
              <a:rPr lang="en-GB" smtClean="0"/>
              <a:t>Galgotias-Student Centered Active Learning Ecosystem &amp; Date 12-08-2026 </a:t>
            </a:r>
            <a:endParaRPr lang="en-IN"/>
          </a:p>
        </p:txBody>
      </p:sp>
      <p:sp>
        <p:nvSpPr>
          <p:cNvPr id="4" name="Slide Number Placeholder 3">
            <a:extLst>
              <a:ext uri="{FF2B5EF4-FFF2-40B4-BE49-F238E27FC236}">
                <a16:creationId xmlns:a16="http://schemas.microsoft.com/office/drawing/2014/main" xmlns="" id="{F1F962B3-3ADB-9572-0FD2-4DB07FD8763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755772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3CF039-A9DA-5A12-2BF1-B6433B9DF3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7C6751A8-C228-5300-A485-3F129FD36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A9584203-9632-6129-E4C9-0F99428BB6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D6945EB5-72B0-9141-EA99-820C022CC386}"/>
              </a:ext>
            </a:extLst>
          </p:cNvPr>
          <p:cNvSpPr>
            <a:spLocks noGrp="1"/>
          </p:cNvSpPr>
          <p:nvPr>
            <p:ph type="dt" sz="half" idx="10"/>
          </p:nvPr>
        </p:nvSpPr>
        <p:spPr/>
        <p:txBody>
          <a:bodyPr/>
          <a:lstStyle/>
          <a:p>
            <a:fld id="{453D7153-1516-4BA8-ADE2-85E3DC3AF2C5}" type="datetime1">
              <a:rPr lang="en-IN" smtClean="0"/>
              <a:t>12-08-2026</a:t>
            </a:fld>
            <a:endParaRPr lang="en-IN"/>
          </a:p>
        </p:txBody>
      </p:sp>
      <p:sp>
        <p:nvSpPr>
          <p:cNvPr id="6" name="Footer Placeholder 5">
            <a:extLst>
              <a:ext uri="{FF2B5EF4-FFF2-40B4-BE49-F238E27FC236}">
                <a16:creationId xmlns:a16="http://schemas.microsoft.com/office/drawing/2014/main" xmlns="" id="{A273D456-31B6-1D53-751D-AC82FEAB700D}"/>
              </a:ext>
            </a:extLst>
          </p:cNvPr>
          <p:cNvSpPr>
            <a:spLocks noGrp="1"/>
          </p:cNvSpPr>
          <p:nvPr>
            <p:ph type="ftr" sz="quarter" idx="11"/>
          </p:nvPr>
        </p:nvSpPr>
        <p:spPr/>
        <p:txBody>
          <a:bodyPr/>
          <a:lstStyle/>
          <a:p>
            <a:r>
              <a:rPr lang="en-GB" smtClean="0"/>
              <a:t>Galgotias-Student Centered Active Learning Ecosystem &amp; Date 12-08-2026 </a:t>
            </a:r>
            <a:endParaRPr lang="en-IN"/>
          </a:p>
        </p:txBody>
      </p:sp>
      <p:sp>
        <p:nvSpPr>
          <p:cNvPr id="7" name="Slide Number Placeholder 6">
            <a:extLst>
              <a:ext uri="{FF2B5EF4-FFF2-40B4-BE49-F238E27FC236}">
                <a16:creationId xmlns:a16="http://schemas.microsoft.com/office/drawing/2014/main" xmlns="" id="{CBC32809-415E-2282-E04D-9B200C1C352E}"/>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059673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8584906-117D-5407-AA07-22F539EE4D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5636F0D2-D921-4FA7-DA84-8E8520EED9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AAD2AD95-AB02-5A07-7492-E9E0B8545F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A92380F9-07CE-6F7A-6038-870977B023CB}"/>
              </a:ext>
            </a:extLst>
          </p:cNvPr>
          <p:cNvSpPr>
            <a:spLocks noGrp="1"/>
          </p:cNvSpPr>
          <p:nvPr>
            <p:ph type="dt" sz="half" idx="10"/>
          </p:nvPr>
        </p:nvSpPr>
        <p:spPr/>
        <p:txBody>
          <a:bodyPr/>
          <a:lstStyle/>
          <a:p>
            <a:fld id="{AC4183A1-A925-44D3-BCB2-AA377D2BFA1C}" type="datetime1">
              <a:rPr lang="en-IN" smtClean="0"/>
              <a:t>12-08-2026</a:t>
            </a:fld>
            <a:endParaRPr lang="en-IN"/>
          </a:p>
        </p:txBody>
      </p:sp>
      <p:sp>
        <p:nvSpPr>
          <p:cNvPr id="6" name="Footer Placeholder 5">
            <a:extLst>
              <a:ext uri="{FF2B5EF4-FFF2-40B4-BE49-F238E27FC236}">
                <a16:creationId xmlns:a16="http://schemas.microsoft.com/office/drawing/2014/main" xmlns="" id="{3B35F0A5-FF26-EF42-9F4E-7B487ABBDC60}"/>
              </a:ext>
            </a:extLst>
          </p:cNvPr>
          <p:cNvSpPr>
            <a:spLocks noGrp="1"/>
          </p:cNvSpPr>
          <p:nvPr>
            <p:ph type="ftr" sz="quarter" idx="11"/>
          </p:nvPr>
        </p:nvSpPr>
        <p:spPr/>
        <p:txBody>
          <a:bodyPr/>
          <a:lstStyle/>
          <a:p>
            <a:r>
              <a:rPr lang="en-GB" smtClean="0"/>
              <a:t>Galgotias-Student Centered Active Learning Ecosystem &amp; Date 12-08-2026 </a:t>
            </a:r>
            <a:endParaRPr lang="en-IN"/>
          </a:p>
        </p:txBody>
      </p:sp>
      <p:sp>
        <p:nvSpPr>
          <p:cNvPr id="7" name="Slide Number Placeholder 6">
            <a:extLst>
              <a:ext uri="{FF2B5EF4-FFF2-40B4-BE49-F238E27FC236}">
                <a16:creationId xmlns:a16="http://schemas.microsoft.com/office/drawing/2014/main" xmlns="" id="{A6CE9705-E90F-F624-39D6-6FCBE3A7BA48}"/>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833558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D359D05-52FA-1788-519F-7A7F6048A04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F32B93A4-5BFE-2E5E-89BD-A9A9F0DE2B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78D6E1C-2039-6998-16BF-892E575CFF2A}"/>
              </a:ext>
            </a:extLst>
          </p:cNvPr>
          <p:cNvSpPr>
            <a:spLocks noGrp="1"/>
          </p:cNvSpPr>
          <p:nvPr>
            <p:ph type="dt" sz="half" idx="10"/>
          </p:nvPr>
        </p:nvSpPr>
        <p:spPr/>
        <p:txBody>
          <a:bodyPr/>
          <a:lstStyle/>
          <a:p>
            <a:fld id="{3C56CB36-9379-47D2-9D00-F87E224C2E58}" type="datetime1">
              <a:rPr lang="en-IN" smtClean="0"/>
              <a:t>12-08-2026</a:t>
            </a:fld>
            <a:endParaRPr lang="en-IN"/>
          </a:p>
        </p:txBody>
      </p:sp>
      <p:sp>
        <p:nvSpPr>
          <p:cNvPr id="5" name="Footer Placeholder 4">
            <a:extLst>
              <a:ext uri="{FF2B5EF4-FFF2-40B4-BE49-F238E27FC236}">
                <a16:creationId xmlns:a16="http://schemas.microsoft.com/office/drawing/2014/main" xmlns="" id="{BA389FC5-03A9-A2BE-8045-500B370839C0}"/>
              </a:ext>
            </a:extLst>
          </p:cNvPr>
          <p:cNvSpPr>
            <a:spLocks noGrp="1"/>
          </p:cNvSpPr>
          <p:nvPr>
            <p:ph type="ftr" sz="quarter" idx="11"/>
          </p:nvPr>
        </p:nvSpPr>
        <p:spPr/>
        <p:txBody>
          <a:bodyPr/>
          <a:lstStyle/>
          <a:p>
            <a:r>
              <a:rPr lang="en-GB" smtClean="0"/>
              <a:t>Galgotias-Student Centered Active Learning Ecosystem &amp; Date 12-08-2026 </a:t>
            </a:r>
            <a:endParaRPr lang="en-IN"/>
          </a:p>
        </p:txBody>
      </p:sp>
      <p:sp>
        <p:nvSpPr>
          <p:cNvPr id="6" name="Slide Number Placeholder 5">
            <a:extLst>
              <a:ext uri="{FF2B5EF4-FFF2-40B4-BE49-F238E27FC236}">
                <a16:creationId xmlns:a16="http://schemas.microsoft.com/office/drawing/2014/main" xmlns="" id="{8B4A79DC-4A34-B800-8BFC-C92A202FB94B}"/>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887501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A66ADF1-8D2B-E20D-C592-6643F0F627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A57D4B32-ED38-6AD9-3A88-BEE47D427E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BF3D39A2-CFE5-7E4C-6E1A-FABC5CF177F3}"/>
              </a:ext>
            </a:extLst>
          </p:cNvPr>
          <p:cNvSpPr>
            <a:spLocks noGrp="1"/>
          </p:cNvSpPr>
          <p:nvPr>
            <p:ph type="dt" sz="half" idx="10"/>
          </p:nvPr>
        </p:nvSpPr>
        <p:spPr/>
        <p:txBody>
          <a:bodyPr/>
          <a:lstStyle/>
          <a:p>
            <a:fld id="{A6E2CF97-C757-4668-B108-3020396D8B1D}" type="datetime1">
              <a:rPr lang="en-IN" smtClean="0"/>
              <a:t>12-08-2026</a:t>
            </a:fld>
            <a:endParaRPr lang="en-IN"/>
          </a:p>
        </p:txBody>
      </p:sp>
      <p:sp>
        <p:nvSpPr>
          <p:cNvPr id="5" name="Footer Placeholder 4">
            <a:extLst>
              <a:ext uri="{FF2B5EF4-FFF2-40B4-BE49-F238E27FC236}">
                <a16:creationId xmlns:a16="http://schemas.microsoft.com/office/drawing/2014/main" xmlns="" id="{A758CE03-A02D-B61D-500E-33B067F58A15}"/>
              </a:ext>
            </a:extLst>
          </p:cNvPr>
          <p:cNvSpPr>
            <a:spLocks noGrp="1"/>
          </p:cNvSpPr>
          <p:nvPr>
            <p:ph type="ftr" sz="quarter" idx="11"/>
          </p:nvPr>
        </p:nvSpPr>
        <p:spPr/>
        <p:txBody>
          <a:bodyPr/>
          <a:lstStyle/>
          <a:p>
            <a:r>
              <a:rPr lang="en-GB" smtClean="0"/>
              <a:t>Galgotias-Student Centered Active Learning Ecosystem &amp; Date 12-08-2026 </a:t>
            </a:r>
            <a:endParaRPr lang="en-IN"/>
          </a:p>
        </p:txBody>
      </p:sp>
      <p:sp>
        <p:nvSpPr>
          <p:cNvPr id="6" name="Slide Number Placeholder 5">
            <a:extLst>
              <a:ext uri="{FF2B5EF4-FFF2-40B4-BE49-F238E27FC236}">
                <a16:creationId xmlns:a16="http://schemas.microsoft.com/office/drawing/2014/main" xmlns="" id="{32BFA42C-489C-58FC-CFE2-833549C6DC3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4013312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AEAADD83-735E-A88A-3D7F-6385A1A746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E167D101-3984-8795-F0E9-CFAF99A144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F54624CD-D795-52B1-6203-0AF8F58B88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1B0708B-5C62-47B5-B369-411672DD2C7C}" type="datetime1">
              <a:rPr lang="en-IN" smtClean="0"/>
              <a:t>12-08-2026</a:t>
            </a:fld>
            <a:endParaRPr lang="en-IN"/>
          </a:p>
        </p:txBody>
      </p:sp>
      <p:sp>
        <p:nvSpPr>
          <p:cNvPr id="5" name="Footer Placeholder 4">
            <a:extLst>
              <a:ext uri="{FF2B5EF4-FFF2-40B4-BE49-F238E27FC236}">
                <a16:creationId xmlns:a16="http://schemas.microsoft.com/office/drawing/2014/main" xmlns="" id="{491CF967-AE37-65C8-EF03-EB7E3B912D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smtClean="0"/>
              <a:t>Galgotias-Student Centered Active Learning Ecosystem &amp; Date 12-08-2026 </a:t>
            </a:r>
            <a:endParaRPr lang="en-IN"/>
          </a:p>
        </p:txBody>
      </p:sp>
      <p:sp>
        <p:nvSpPr>
          <p:cNvPr id="6" name="Slide Number Placeholder 5">
            <a:extLst>
              <a:ext uri="{FF2B5EF4-FFF2-40B4-BE49-F238E27FC236}">
                <a16:creationId xmlns:a16="http://schemas.microsoft.com/office/drawing/2014/main" xmlns="" id="{C47BD2C0-494D-F5DE-E18D-99B852BA50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510230-8DD5-4BA5-AB2D-CA30FC08F9D7}" type="slidenum">
              <a:rPr lang="en-IN" smtClean="0"/>
              <a:t>‹#›</a:t>
            </a:fld>
            <a:endParaRPr lang="en-IN"/>
          </a:p>
        </p:txBody>
      </p:sp>
    </p:spTree>
    <p:extLst>
      <p:ext uri="{BB962C8B-B14F-4D97-AF65-F5344CB8AC3E}">
        <p14:creationId xmlns:p14="http://schemas.microsoft.com/office/powerpoint/2010/main" val="5326660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2.jpg"/><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2.jpg"/><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8.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diagramLayout" Target="../diagrams/layout1.xml"/><Relationship Id="rId7" Type="http://schemas.openxmlformats.org/officeDocument/2006/relationships/image" Target="../media/image3.jpe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jpg"/><Relationship Id="rId7" Type="http://schemas.openxmlformats.org/officeDocument/2006/relationships/diagramColors" Target="../diagrams/colors2.xml"/><Relationship Id="rId2"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8.sv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B4841D-4109-20CB-B253-8EF7C080604D}"/>
              </a:ext>
            </a:extLst>
          </p:cNvPr>
          <p:cNvSpPr>
            <a:spLocks noGrp="1"/>
          </p:cNvSpPr>
          <p:nvPr>
            <p:ph type="ctrTitle"/>
          </p:nvPr>
        </p:nvSpPr>
        <p:spPr>
          <a:xfrm>
            <a:off x="477981" y="1122362"/>
            <a:ext cx="8366216" cy="4909225"/>
          </a:xfrm>
        </p:spPr>
        <p:txBody>
          <a:bodyPr anchor="b">
            <a:normAutofit/>
          </a:bodyPr>
          <a:lstStyle/>
          <a:p>
            <a:pPr algn="l"/>
            <a:r>
              <a:rPr lang="en-GB" sz="3600" b="1" dirty="0">
                <a:latin typeface="Calibri" panose="020F0502020204030204" pitchFamily="34" charset="0"/>
                <a:cs typeface="Calibri" panose="020F0502020204030204" pitchFamily="34" charset="0"/>
              </a:rPr>
              <a:t>History of ML and ML Life Cycle</a:t>
            </a:r>
            <a:r>
              <a:rPr lang="en-GB" sz="3600" b="1" dirty="0">
                <a:latin typeface="Calibri" panose="020F0502020204030204" pitchFamily="34" charset="0"/>
                <a:cs typeface="Calibri" panose="020F0502020204030204" pitchFamily="34" charset="0"/>
              </a:rPr>
              <a:t/>
            </a:r>
            <a:br>
              <a:rPr lang="en-GB" sz="3600" b="1" dirty="0">
                <a:latin typeface="Calibri" panose="020F0502020204030204" pitchFamily="34" charset="0"/>
                <a:cs typeface="Calibri" panose="020F0502020204030204" pitchFamily="34" charset="0"/>
              </a:rPr>
            </a:br>
            <a:r>
              <a:rPr lang="en-GB" sz="3600" b="1" dirty="0" smtClean="0">
                <a:latin typeface="Calibri" panose="020F0502020204030204" pitchFamily="34" charset="0"/>
                <a:cs typeface="Calibri" panose="020F0502020204030204" pitchFamily="34" charset="0"/>
              </a:rPr>
              <a:t/>
            </a:r>
            <a:br>
              <a:rPr lang="en-GB" sz="3600" b="1" dirty="0" smtClean="0">
                <a:latin typeface="Calibri" panose="020F0502020204030204" pitchFamily="34" charset="0"/>
                <a:cs typeface="Calibri" panose="020F0502020204030204" pitchFamily="34" charset="0"/>
              </a:rPr>
            </a:br>
            <a:r>
              <a:rPr lang="en-GB" sz="3600" b="1" dirty="0" smtClean="0">
                <a:latin typeface="Calibri" panose="020F0502020204030204" pitchFamily="34" charset="0"/>
                <a:cs typeface="Calibri" panose="020F0502020204030204" pitchFamily="34" charset="0"/>
              </a:rPr>
              <a:t/>
            </a:r>
            <a:br>
              <a:rPr lang="en-GB" sz="3600" b="1" dirty="0" smtClean="0">
                <a:latin typeface="Calibri" panose="020F0502020204030204" pitchFamily="34" charset="0"/>
                <a:cs typeface="Calibri" panose="020F0502020204030204" pitchFamily="34" charset="0"/>
              </a:rPr>
            </a:br>
            <a:r>
              <a:rPr lang="en-IN" sz="4800" b="1" dirty="0">
                <a:latin typeface="Georgia" panose="02040502050405020303" pitchFamily="18" charset="0"/>
                <a:cs typeface="Arial" panose="020B0604020202020204" pitchFamily="34" charset="0"/>
              </a:rPr>
              <a:t/>
            </a:r>
            <a:br>
              <a:rPr lang="en-IN" sz="4800" b="1" dirty="0">
                <a:latin typeface="Georgia" panose="02040502050405020303" pitchFamily="18" charset="0"/>
                <a:cs typeface="Arial" panose="020B0604020202020204" pitchFamily="34" charset="0"/>
              </a:rPr>
            </a:br>
            <a:r>
              <a:rPr lang="en-IN" sz="1800" b="1" dirty="0">
                <a:latin typeface="Georgia" panose="02040502050405020303" pitchFamily="18" charset="0"/>
                <a:cs typeface="Arial" panose="020B0604020202020204" pitchFamily="34" charset="0"/>
              </a:rPr>
              <a:t>Session No.: </a:t>
            </a:r>
            <a:r>
              <a:rPr lang="en-IN" sz="1800" b="1" dirty="0" smtClean="0">
                <a:latin typeface="Georgia" panose="02040502050405020303" pitchFamily="18" charset="0"/>
                <a:cs typeface="Arial" panose="020B0604020202020204" pitchFamily="34" charset="0"/>
              </a:rPr>
              <a:t>03</a:t>
            </a:r>
            <a:r>
              <a:rPr lang="en-IN" sz="1800" b="1" dirty="0">
                <a:latin typeface="Georgia" panose="02040502050405020303" pitchFamily="18" charset="0"/>
                <a:cs typeface="Arial" panose="020B0604020202020204" pitchFamily="34" charset="0"/>
              </a:rPr>
              <a:t/>
            </a:r>
            <a:br>
              <a:rPr lang="en-IN" sz="1800" b="1" dirty="0">
                <a:latin typeface="Georgia" panose="02040502050405020303" pitchFamily="18" charset="0"/>
                <a:cs typeface="Arial" panose="020B0604020202020204" pitchFamily="34" charset="0"/>
              </a:rPr>
            </a:br>
            <a:r>
              <a:rPr lang="en-IN" sz="1800" b="1" dirty="0">
                <a:latin typeface="Georgia" panose="02040502050405020303" pitchFamily="18" charset="0"/>
                <a:cs typeface="Arial" panose="020B0604020202020204" pitchFamily="34" charset="0"/>
              </a:rPr>
              <a:t>Course Name: </a:t>
            </a:r>
            <a:r>
              <a:rPr lang="en-IN" sz="1800" b="1" dirty="0" smtClean="0">
                <a:latin typeface="Georgia" panose="02040502050405020303" pitchFamily="18" charset="0"/>
                <a:cs typeface="Arial" panose="020B0604020202020204" pitchFamily="34" charset="0"/>
              </a:rPr>
              <a:t>Machine Learning</a:t>
            </a:r>
            <a:r>
              <a:rPr lang="en-IN" sz="1800" b="1" dirty="0">
                <a:latin typeface="Georgia" panose="02040502050405020303" pitchFamily="18" charset="0"/>
                <a:cs typeface="Arial" panose="020B0604020202020204" pitchFamily="34" charset="0"/>
              </a:rPr>
              <a:t/>
            </a:r>
            <a:br>
              <a:rPr lang="en-IN" sz="1800" b="1" dirty="0">
                <a:latin typeface="Georgia" panose="02040502050405020303" pitchFamily="18" charset="0"/>
                <a:cs typeface="Arial" panose="020B0604020202020204" pitchFamily="34" charset="0"/>
              </a:rPr>
            </a:br>
            <a:r>
              <a:rPr lang="en-IN" sz="1800" b="1" dirty="0">
                <a:latin typeface="Georgia" panose="02040502050405020303" pitchFamily="18" charset="0"/>
                <a:cs typeface="Arial" panose="020B0604020202020204" pitchFamily="34" charset="0"/>
              </a:rPr>
              <a:t>Course Code: </a:t>
            </a:r>
            <a:r>
              <a:rPr lang="en-US" sz="1800" b="1" dirty="0">
                <a:latin typeface="Times New Roman"/>
                <a:ea typeface="Times New Roman"/>
                <a:cs typeface="Times New Roman"/>
                <a:sym typeface="Times New Roman"/>
              </a:rPr>
              <a:t>R1UC525B</a:t>
            </a:r>
            <a:r>
              <a:rPr lang="en-IN" sz="1800" b="1" dirty="0">
                <a:latin typeface="Georgia" panose="02040502050405020303" pitchFamily="18" charset="0"/>
                <a:cs typeface="Arial" panose="020B0604020202020204" pitchFamily="34" charset="0"/>
              </a:rPr>
              <a:t/>
            </a:r>
            <a:br>
              <a:rPr lang="en-IN" sz="1800" b="1" dirty="0">
                <a:latin typeface="Georgia" panose="02040502050405020303" pitchFamily="18" charset="0"/>
                <a:cs typeface="Arial" panose="020B0604020202020204" pitchFamily="34" charset="0"/>
              </a:rPr>
            </a:br>
            <a:r>
              <a:rPr lang="en-IN" sz="1800" b="1" dirty="0">
                <a:latin typeface="Georgia" panose="02040502050405020303" pitchFamily="18" charset="0"/>
                <a:cs typeface="Arial" panose="020B0604020202020204" pitchFamily="34" charset="0"/>
              </a:rPr>
              <a:t>Instructor Name: </a:t>
            </a:r>
            <a:r>
              <a:rPr lang="en-IN" sz="1800" b="1" dirty="0" smtClean="0">
                <a:latin typeface="Georgia" panose="02040502050405020303" pitchFamily="18" charset="0"/>
                <a:cs typeface="Arial" panose="020B0604020202020204" pitchFamily="34" charset="0"/>
              </a:rPr>
              <a:t>Dr. Sivakumar </a:t>
            </a:r>
            <a:r>
              <a:rPr lang="en-IN" sz="1800" b="1" dirty="0">
                <a:latin typeface="Georgia" panose="02040502050405020303" pitchFamily="18" charset="0"/>
                <a:cs typeface="Arial" panose="020B0604020202020204" pitchFamily="34" charset="0"/>
              </a:rPr>
              <a:t>Madeshwaran</a:t>
            </a:r>
            <a:br>
              <a:rPr lang="en-IN" sz="1800" b="1" dirty="0">
                <a:latin typeface="Georgia" panose="02040502050405020303" pitchFamily="18" charset="0"/>
                <a:cs typeface="Arial" panose="020B0604020202020204" pitchFamily="34" charset="0"/>
              </a:rPr>
            </a:br>
            <a:r>
              <a:rPr lang="en-US" sz="1800" b="1" dirty="0">
                <a:latin typeface="Georgia" panose="02040502050405020303" pitchFamily="18" charset="0"/>
                <a:cs typeface="Arial" panose="020B0604020202020204" pitchFamily="34" charset="0"/>
              </a:rPr>
              <a:t>Duration: 50 Minutes</a:t>
            </a:r>
            <a:br>
              <a:rPr lang="en-US" sz="1800" b="1" dirty="0">
                <a:latin typeface="Georgia" panose="02040502050405020303" pitchFamily="18" charset="0"/>
                <a:cs typeface="Arial" panose="020B0604020202020204" pitchFamily="34" charset="0"/>
              </a:rPr>
            </a:br>
            <a:r>
              <a:rPr lang="en-US" sz="1800" b="1" dirty="0">
                <a:latin typeface="Georgia" panose="02040502050405020303" pitchFamily="18" charset="0"/>
                <a:cs typeface="Arial" panose="020B0604020202020204" pitchFamily="34" charset="0"/>
              </a:rPr>
              <a:t>Date of Conduction of Class: </a:t>
            </a:r>
            <a:r>
              <a:rPr lang="en-US" sz="1800" b="1" dirty="0" smtClean="0">
                <a:latin typeface="Georgia" panose="02040502050405020303" pitchFamily="18" charset="0"/>
                <a:cs typeface="Arial" panose="020B0604020202020204" pitchFamily="34" charset="0"/>
              </a:rPr>
              <a:t>12</a:t>
            </a:r>
            <a:r>
              <a:rPr lang="en-US" sz="1800" b="1" dirty="0" smtClean="0">
                <a:latin typeface="Georgia" panose="02040502050405020303" pitchFamily="18" charset="0"/>
                <a:cs typeface="Arial" panose="020B0604020202020204" pitchFamily="34" charset="0"/>
              </a:rPr>
              <a:t>-08-2026</a:t>
            </a:r>
            <a:r>
              <a:rPr lang="en-IN" sz="1800" b="1" dirty="0">
                <a:latin typeface="Georgia" panose="02040502050405020303" pitchFamily="18" charset="0"/>
                <a:cs typeface="Arial" panose="020B0604020202020204" pitchFamily="34" charset="0"/>
              </a:rPr>
              <a:t/>
            </a:r>
            <a:br>
              <a:rPr lang="en-IN" sz="1800" b="1" dirty="0">
                <a:latin typeface="Georgia" panose="02040502050405020303" pitchFamily="18" charset="0"/>
                <a:cs typeface="Arial" panose="020B0604020202020204" pitchFamily="34" charset="0"/>
              </a:rPr>
            </a:br>
            <a:endParaRPr lang="en-IN" sz="4800" b="1" dirty="0">
              <a:latin typeface="Georgia" panose="02040502050405020303" pitchFamily="18" charset="0"/>
              <a:cs typeface="Arial" panose="020B0604020202020204" pitchFamily="34" charset="0"/>
            </a:endParaRPr>
          </a:p>
        </p:txBody>
      </p:sp>
      <p:sp>
        <p:nvSpPr>
          <p:cNvPr id="7" name="Slide Number Placeholder 6">
            <a:extLst>
              <a:ext uri="{FF2B5EF4-FFF2-40B4-BE49-F238E27FC236}">
                <a16:creationId xmlns:a16="http://schemas.microsoft.com/office/drawing/2014/main" xmlns="" id="{4D4B0897-FD56-B45E-C539-435F743AAB4C}"/>
              </a:ext>
            </a:extLst>
          </p:cNvPr>
          <p:cNvSpPr>
            <a:spLocks noGrp="1"/>
          </p:cNvSpPr>
          <p:nvPr>
            <p:ph type="sldNum" sz="quarter" idx="12"/>
          </p:nvPr>
        </p:nvSpPr>
        <p:spPr/>
        <p:txBody>
          <a:bodyPr/>
          <a:lstStyle/>
          <a:p>
            <a:fld id="{26510230-8DD5-4BA5-AB2D-CA30FC08F9D7}" type="slidenum">
              <a:rPr lang="en-IN" smtClean="0"/>
              <a:t>1</a:t>
            </a:fld>
            <a:endParaRPr lang="en-IN"/>
          </a:p>
        </p:txBody>
      </p:sp>
      <p:pic>
        <p:nvPicPr>
          <p:cNvPr id="10" name="Picture 9" descr="A blue circle with text and words&#10;&#10;Description automatically generated">
            <a:extLst>
              <a:ext uri="{FF2B5EF4-FFF2-40B4-BE49-F238E27FC236}">
                <a16:creationId xmlns:a16="http://schemas.microsoft.com/office/drawing/2014/main" xmlns="" id="{B8F66ABA-C07C-7B4E-0E32-86C3BB04AA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8565" y="176753"/>
            <a:ext cx="1190469" cy="1190469"/>
          </a:xfrm>
          <a:prstGeom prst="rect">
            <a:avLst/>
          </a:prstGeom>
        </p:spPr>
      </p:pic>
      <p:pic>
        <p:nvPicPr>
          <p:cNvPr id="8" name="Picture 7">
            <a:extLst>
              <a:ext uri="{FF2B5EF4-FFF2-40B4-BE49-F238E27FC236}">
                <a16:creationId xmlns:a16="http://schemas.microsoft.com/office/drawing/2014/main" xmlns="" id="{D622C87D-66F3-E0F4-0306-4C9A87A526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9" name="Footer Placeholder 5">
            <a:extLst>
              <a:ext uri="{FF2B5EF4-FFF2-40B4-BE49-F238E27FC236}">
                <a16:creationId xmlns:a16="http://schemas.microsoft.com/office/drawing/2014/main" xmlns="" id="{0AC4C0B8-55BF-7607-C08F-4F93C85CCC8F}"/>
              </a:ext>
            </a:extLst>
          </p:cNvPr>
          <p:cNvSpPr>
            <a:spLocks noGrp="1"/>
          </p:cNvSpPr>
          <p:nvPr>
            <p:ph type="ftr" sz="quarter" idx="11"/>
          </p:nvPr>
        </p:nvSpPr>
        <p:spPr>
          <a:xfrm>
            <a:off x="2243139" y="6356350"/>
            <a:ext cx="8186736" cy="365125"/>
          </a:xfrm>
        </p:spPr>
        <p:txBody>
          <a:bodyPr/>
          <a:lstStyle/>
          <a:p>
            <a:r>
              <a:rPr lang="en-GB" sz="1400" smtClean="0"/>
              <a:t>Galgotias-Student Centered Active Learning Ecosystem &amp; Date 12-08-2026 </a:t>
            </a:r>
            <a:endParaRPr lang="en-IN" dirty="0"/>
          </a:p>
        </p:txBody>
      </p:sp>
    </p:spTree>
    <p:extLst>
      <p:ext uri="{BB962C8B-B14F-4D97-AF65-F5344CB8AC3E}">
        <p14:creationId xmlns:p14="http://schemas.microsoft.com/office/powerpoint/2010/main" val="282789898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xmlns="" id="{BD8CF5A8-ACAD-D135-0544-20163F2C11CE}"/>
              </a:ext>
            </a:extLst>
          </p:cNvPr>
          <p:cNvSpPr>
            <a:spLocks noGrp="1"/>
          </p:cNvSpPr>
          <p:nvPr>
            <p:ph type="sldNum" sz="quarter" idx="12"/>
          </p:nvPr>
        </p:nvSpPr>
        <p:spPr/>
        <p:txBody>
          <a:bodyPr/>
          <a:lstStyle/>
          <a:p>
            <a:fld id="{26510230-8DD5-4BA5-AB2D-CA30FC08F9D7}" type="slidenum">
              <a:rPr lang="en-IN" smtClean="0"/>
              <a:t>2</a:t>
            </a:fld>
            <a:endParaRPr lang="en-IN"/>
          </a:p>
        </p:txBody>
      </p:sp>
      <p:pic>
        <p:nvPicPr>
          <p:cNvPr id="7" name="Picture 6" descr="A blue circle with text and words&#10;&#10;Description automatically generated">
            <a:extLst>
              <a:ext uri="{FF2B5EF4-FFF2-40B4-BE49-F238E27FC236}">
                <a16:creationId xmlns:a16="http://schemas.microsoft.com/office/drawing/2014/main" xmlns=""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8" name="Picture 7">
            <a:extLst>
              <a:ext uri="{FF2B5EF4-FFF2-40B4-BE49-F238E27FC236}">
                <a16:creationId xmlns:a16="http://schemas.microsoft.com/office/drawing/2014/main" xmlns="" id="{48ED013E-C79F-88E6-C380-BA222F110F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9" name="Footer Placeholder 5">
            <a:extLst>
              <a:ext uri="{FF2B5EF4-FFF2-40B4-BE49-F238E27FC236}">
                <a16:creationId xmlns:a16="http://schemas.microsoft.com/office/drawing/2014/main" xmlns="" id="{0AC4C0B8-55BF-7607-C08F-4F93C85CCC8F}"/>
              </a:ext>
            </a:extLst>
          </p:cNvPr>
          <p:cNvSpPr>
            <a:spLocks noGrp="1"/>
          </p:cNvSpPr>
          <p:nvPr>
            <p:ph type="ftr" sz="quarter" idx="11"/>
          </p:nvPr>
        </p:nvSpPr>
        <p:spPr>
          <a:xfrm>
            <a:off x="2243139" y="6356350"/>
            <a:ext cx="8186736" cy="365125"/>
          </a:xfrm>
        </p:spPr>
        <p:txBody>
          <a:bodyPr/>
          <a:lstStyle/>
          <a:p>
            <a:r>
              <a:rPr lang="en-GB" sz="1400" smtClean="0"/>
              <a:t>Galgotias-Student Centered Active Learning Ecosystem &amp; Date 12-08-2026 </a:t>
            </a:r>
            <a:endParaRPr lang="en-IN" dirty="0"/>
          </a:p>
        </p:txBody>
      </p:sp>
      <p:sp>
        <p:nvSpPr>
          <p:cNvPr id="10" name="Google Shape;97;p11"/>
          <p:cNvSpPr txBox="1">
            <a:spLocks/>
          </p:cNvSpPr>
          <p:nvPr/>
        </p:nvSpPr>
        <p:spPr>
          <a:xfrm>
            <a:off x="4190902" y="176754"/>
            <a:ext cx="2624236" cy="699001"/>
          </a:xfrm>
          <a:prstGeom prst="rect">
            <a:avLst/>
          </a:prstGeom>
          <a:no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SzPts val="3200"/>
            </a:pPr>
            <a:r>
              <a:rPr lang="en-US" sz="2800" b="1" dirty="0" smtClean="0">
                <a:latin typeface="Arial"/>
                <a:ea typeface="Arial"/>
                <a:cs typeface="Arial"/>
                <a:sym typeface="Arial"/>
              </a:rPr>
              <a:t>Recap</a:t>
            </a:r>
            <a:endParaRPr lang="en-US" sz="2800" b="1" dirty="0">
              <a:latin typeface="Arial"/>
              <a:ea typeface="Arial"/>
              <a:cs typeface="Arial"/>
              <a:sym typeface="Arial"/>
            </a:endParaRPr>
          </a:p>
        </p:txBody>
      </p:sp>
      <p:sp>
        <p:nvSpPr>
          <p:cNvPr id="11" name="Google Shape;98;p11"/>
          <p:cNvSpPr txBox="1">
            <a:spLocks/>
          </p:cNvSpPr>
          <p:nvPr/>
        </p:nvSpPr>
        <p:spPr>
          <a:xfrm>
            <a:off x="330740" y="921016"/>
            <a:ext cx="10898431" cy="5414019"/>
          </a:xfrm>
          <a:prstGeom prst="rect">
            <a:avLst/>
          </a:prstGeom>
          <a:no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None/>
            </a:pPr>
            <a:r>
              <a:rPr lang="en-GB" sz="2000" b="1" dirty="0"/>
              <a:t>1) Which of the following is considered the foundation of a Machine Learning system?</a:t>
            </a:r>
            <a:br>
              <a:rPr lang="en-GB" sz="2000" b="1" dirty="0"/>
            </a:br>
            <a:r>
              <a:rPr lang="en-GB" sz="2000" dirty="0"/>
              <a:t>a) Function Approximation</a:t>
            </a:r>
            <a:br>
              <a:rPr lang="en-GB" sz="2000" dirty="0"/>
            </a:br>
            <a:r>
              <a:rPr lang="en-GB" sz="2000" dirty="0"/>
              <a:t>b) Training Data</a:t>
            </a:r>
            <a:br>
              <a:rPr lang="en-GB" sz="2000" dirty="0"/>
            </a:br>
            <a:r>
              <a:rPr lang="en-GB" sz="2000" dirty="0"/>
              <a:t>c) Concept Representation</a:t>
            </a:r>
            <a:br>
              <a:rPr lang="en-GB" sz="2000" dirty="0"/>
            </a:br>
            <a:r>
              <a:rPr lang="en-GB" sz="2000" dirty="0"/>
              <a:t>d) Model Deployment</a:t>
            </a:r>
          </a:p>
          <a:p>
            <a:pPr marL="114300" indent="0">
              <a:buSzPts val="1800"/>
              <a:buNone/>
            </a:pPr>
            <a:r>
              <a:rPr lang="en-GB" sz="2000" b="1" dirty="0"/>
              <a:t>2) In Machine Learning, concept representation mainly refers to:</a:t>
            </a:r>
            <a:br>
              <a:rPr lang="en-GB" sz="2000" b="1" dirty="0"/>
            </a:br>
            <a:r>
              <a:rPr lang="en-GB" sz="2000" dirty="0"/>
              <a:t>a) The way models map real-world inputs to outputs</a:t>
            </a:r>
            <a:br>
              <a:rPr lang="en-GB" sz="2000" dirty="0"/>
            </a:br>
            <a:r>
              <a:rPr lang="en-GB" sz="2000" dirty="0"/>
              <a:t>b) The structure of knowledge such as features, rules, or weights</a:t>
            </a:r>
            <a:br>
              <a:rPr lang="en-GB" sz="2000" dirty="0"/>
            </a:br>
            <a:r>
              <a:rPr lang="en-GB" sz="2000" dirty="0"/>
              <a:t>c) The process of tuning hyper parameters</a:t>
            </a:r>
            <a:br>
              <a:rPr lang="en-GB" sz="2000" dirty="0"/>
            </a:br>
            <a:r>
              <a:rPr lang="en-GB" sz="2000" dirty="0"/>
              <a:t>d) The collection of raw datasets</a:t>
            </a:r>
          </a:p>
          <a:p>
            <a:pPr marL="114300" indent="0">
              <a:buSzPts val="1800"/>
              <a:buNone/>
            </a:pPr>
            <a:r>
              <a:rPr lang="en-GB" sz="2000" b="1" dirty="0"/>
              <a:t>3) A spam detection model is trained on emails collected only from one company. What problem may occur?</a:t>
            </a:r>
          </a:p>
          <a:p>
            <a:pPr marL="114300" indent="0">
              <a:buSzPts val="1800"/>
              <a:buNone/>
            </a:pPr>
            <a:r>
              <a:rPr lang="en-GB" sz="2000" dirty="0"/>
              <a:t>a) The model will generalize well to all kinds of emails.</a:t>
            </a:r>
            <a:br>
              <a:rPr lang="en-GB" sz="2000" dirty="0"/>
            </a:br>
            <a:r>
              <a:rPr lang="en-GB" sz="2000" dirty="0"/>
              <a:t>b) The model may fail on new domains due to biased training data.</a:t>
            </a:r>
            <a:br>
              <a:rPr lang="en-GB" sz="2000" dirty="0"/>
            </a:br>
            <a:r>
              <a:rPr lang="en-GB" sz="2000" dirty="0"/>
              <a:t>c) The function approximation will automatically adjust for missing diversity.</a:t>
            </a:r>
            <a:br>
              <a:rPr lang="en-GB" sz="2000" dirty="0"/>
            </a:br>
            <a:r>
              <a:rPr lang="en-GB" sz="2000" dirty="0"/>
              <a:t>d) The prediction stage will fix the bias.</a:t>
            </a:r>
          </a:p>
        </p:txBody>
      </p:sp>
    </p:spTree>
    <p:extLst>
      <p:ext uri="{BB962C8B-B14F-4D97-AF65-F5344CB8AC3E}">
        <p14:creationId xmlns:p14="http://schemas.microsoft.com/office/powerpoint/2010/main" val="27672147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xmlns="" id="{BD8CF5A8-ACAD-D135-0544-20163F2C11CE}"/>
              </a:ext>
            </a:extLst>
          </p:cNvPr>
          <p:cNvSpPr>
            <a:spLocks noGrp="1"/>
          </p:cNvSpPr>
          <p:nvPr>
            <p:ph type="sldNum" sz="quarter" idx="12"/>
          </p:nvPr>
        </p:nvSpPr>
        <p:spPr/>
        <p:txBody>
          <a:bodyPr/>
          <a:lstStyle/>
          <a:p>
            <a:fld id="{26510230-8DD5-4BA5-AB2D-CA30FC08F9D7}" type="slidenum">
              <a:rPr lang="en-IN" smtClean="0"/>
              <a:t>3</a:t>
            </a:fld>
            <a:endParaRPr lang="en-IN"/>
          </a:p>
        </p:txBody>
      </p:sp>
      <p:pic>
        <p:nvPicPr>
          <p:cNvPr id="7" name="Picture 6" descr="A blue circle with text and words&#10;&#10;Description automatically generated">
            <a:extLst>
              <a:ext uri="{FF2B5EF4-FFF2-40B4-BE49-F238E27FC236}">
                <a16:creationId xmlns:a16="http://schemas.microsoft.com/office/drawing/2014/main" xmlns=""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8" name="Picture 7">
            <a:extLst>
              <a:ext uri="{FF2B5EF4-FFF2-40B4-BE49-F238E27FC236}">
                <a16:creationId xmlns:a16="http://schemas.microsoft.com/office/drawing/2014/main" xmlns="" id="{48ED013E-C79F-88E6-C380-BA222F110F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9" name="Footer Placeholder 5">
            <a:extLst>
              <a:ext uri="{FF2B5EF4-FFF2-40B4-BE49-F238E27FC236}">
                <a16:creationId xmlns:a16="http://schemas.microsoft.com/office/drawing/2014/main" xmlns="" id="{0AC4C0B8-55BF-7607-C08F-4F93C85CCC8F}"/>
              </a:ext>
            </a:extLst>
          </p:cNvPr>
          <p:cNvSpPr>
            <a:spLocks noGrp="1"/>
          </p:cNvSpPr>
          <p:nvPr>
            <p:ph type="ftr" sz="quarter" idx="11"/>
          </p:nvPr>
        </p:nvSpPr>
        <p:spPr>
          <a:xfrm>
            <a:off x="2243139" y="6356350"/>
            <a:ext cx="8186736" cy="365125"/>
          </a:xfrm>
        </p:spPr>
        <p:txBody>
          <a:bodyPr/>
          <a:lstStyle/>
          <a:p>
            <a:r>
              <a:rPr lang="en-GB" sz="1400" smtClean="0"/>
              <a:t>Galgotias-Student Centered Active Learning Ecosystem &amp; Date 12-08-2026 </a:t>
            </a:r>
            <a:endParaRPr lang="en-IN" dirty="0"/>
          </a:p>
        </p:txBody>
      </p:sp>
      <p:sp>
        <p:nvSpPr>
          <p:cNvPr id="10" name="Google Shape;97;p11"/>
          <p:cNvSpPr txBox="1">
            <a:spLocks/>
          </p:cNvSpPr>
          <p:nvPr/>
        </p:nvSpPr>
        <p:spPr>
          <a:xfrm>
            <a:off x="4190902" y="176754"/>
            <a:ext cx="2624236" cy="699001"/>
          </a:xfrm>
          <a:prstGeom prst="rect">
            <a:avLst/>
          </a:prstGeom>
          <a:no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SzPts val="3200"/>
            </a:pPr>
            <a:r>
              <a:rPr lang="en-US" sz="2800" b="1" dirty="0" smtClean="0">
                <a:latin typeface="Arial"/>
                <a:ea typeface="Arial"/>
                <a:cs typeface="Arial"/>
                <a:sym typeface="Arial"/>
              </a:rPr>
              <a:t>Recap</a:t>
            </a:r>
            <a:endParaRPr lang="en-US" sz="2800" b="1" dirty="0">
              <a:latin typeface="Arial"/>
              <a:ea typeface="Arial"/>
              <a:cs typeface="Arial"/>
              <a:sym typeface="Arial"/>
            </a:endParaRPr>
          </a:p>
        </p:txBody>
      </p:sp>
      <p:sp>
        <p:nvSpPr>
          <p:cNvPr id="11" name="Google Shape;98;p11"/>
          <p:cNvSpPr txBox="1">
            <a:spLocks/>
          </p:cNvSpPr>
          <p:nvPr/>
        </p:nvSpPr>
        <p:spPr>
          <a:xfrm>
            <a:off x="330740" y="921016"/>
            <a:ext cx="10898431" cy="5414019"/>
          </a:xfrm>
          <a:prstGeom prst="rect">
            <a:avLst/>
          </a:prstGeom>
          <a:no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None/>
            </a:pPr>
            <a:r>
              <a:rPr lang="en-GB" sz="2000" b="1" dirty="0"/>
              <a:t>1) Which of the following is considered the foundation of a Machine Learning system?</a:t>
            </a:r>
            <a:br>
              <a:rPr lang="en-GB" sz="2000" b="1" dirty="0"/>
            </a:br>
            <a:r>
              <a:rPr lang="en-GB" sz="2000" dirty="0"/>
              <a:t>a) Function Approximation</a:t>
            </a:r>
            <a:br>
              <a:rPr lang="en-GB" sz="2000" dirty="0"/>
            </a:br>
            <a:r>
              <a:rPr lang="en-GB" sz="2000" b="1" dirty="0"/>
              <a:t>b) Training Data</a:t>
            </a:r>
            <a:r>
              <a:rPr lang="en-GB" sz="2000" dirty="0"/>
              <a:t/>
            </a:r>
            <a:br>
              <a:rPr lang="en-GB" sz="2000" dirty="0"/>
            </a:br>
            <a:r>
              <a:rPr lang="en-GB" sz="2000" dirty="0"/>
              <a:t>c) Concept Representation</a:t>
            </a:r>
            <a:br>
              <a:rPr lang="en-GB" sz="2000" dirty="0"/>
            </a:br>
            <a:r>
              <a:rPr lang="en-GB" sz="2000" dirty="0"/>
              <a:t>d) Model Deployment</a:t>
            </a:r>
          </a:p>
          <a:p>
            <a:pPr marL="114300" indent="0">
              <a:buSzPts val="1800"/>
              <a:buNone/>
            </a:pPr>
            <a:r>
              <a:rPr lang="en-GB" sz="2000" b="1" dirty="0"/>
              <a:t>2) In Machine Learning, concept representation mainly refers to:</a:t>
            </a:r>
            <a:br>
              <a:rPr lang="en-GB" sz="2000" b="1" dirty="0"/>
            </a:br>
            <a:r>
              <a:rPr lang="en-GB" sz="2000" dirty="0"/>
              <a:t>a) The way models map real-world inputs to outputs</a:t>
            </a:r>
            <a:br>
              <a:rPr lang="en-GB" sz="2000" dirty="0"/>
            </a:br>
            <a:r>
              <a:rPr lang="en-GB" sz="2000" b="1" dirty="0"/>
              <a:t>b) The structure of knowledge such as features, rules, or weights</a:t>
            </a:r>
            <a:br>
              <a:rPr lang="en-GB" sz="2000" b="1" dirty="0"/>
            </a:br>
            <a:r>
              <a:rPr lang="en-GB" sz="2000" dirty="0"/>
              <a:t>c) The process of tuning hyper parameters</a:t>
            </a:r>
            <a:br>
              <a:rPr lang="en-GB" sz="2000" dirty="0"/>
            </a:br>
            <a:r>
              <a:rPr lang="en-GB" sz="2000" dirty="0"/>
              <a:t>d) The collection of raw datasets</a:t>
            </a:r>
          </a:p>
          <a:p>
            <a:pPr marL="114300" indent="0">
              <a:buSzPts val="1800"/>
              <a:buNone/>
            </a:pPr>
            <a:r>
              <a:rPr lang="en-GB" sz="2000" b="1" dirty="0"/>
              <a:t>3) A spam detection model is trained on emails collected only from one company. What problem may occur?</a:t>
            </a:r>
          </a:p>
          <a:p>
            <a:pPr marL="114300" indent="0">
              <a:buSzPts val="1800"/>
              <a:buNone/>
            </a:pPr>
            <a:r>
              <a:rPr lang="en-GB" sz="2000" dirty="0"/>
              <a:t>a) The model will generalize well to all kinds of emails.</a:t>
            </a:r>
            <a:br>
              <a:rPr lang="en-GB" sz="2000" dirty="0"/>
            </a:br>
            <a:r>
              <a:rPr lang="en-GB" sz="2000" b="1" dirty="0"/>
              <a:t>b) The model may fail on new domains due to biased training data.</a:t>
            </a:r>
            <a:r>
              <a:rPr lang="en-GB" sz="2000" dirty="0"/>
              <a:t/>
            </a:r>
            <a:br>
              <a:rPr lang="en-GB" sz="2000" dirty="0"/>
            </a:br>
            <a:r>
              <a:rPr lang="en-GB" sz="2000" dirty="0"/>
              <a:t>c) The function approximation will automatically adjust for missing diversity.</a:t>
            </a:r>
            <a:br>
              <a:rPr lang="en-GB" sz="2000" dirty="0"/>
            </a:br>
            <a:r>
              <a:rPr lang="en-GB" sz="2000" dirty="0"/>
              <a:t>d) The prediction stage will fix the bias.</a:t>
            </a:r>
          </a:p>
        </p:txBody>
      </p:sp>
    </p:spTree>
    <p:extLst>
      <p:ext uri="{BB962C8B-B14F-4D97-AF65-F5344CB8AC3E}">
        <p14:creationId xmlns:p14="http://schemas.microsoft.com/office/powerpoint/2010/main" val="361617231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FC14F6-7B57-DCCF-E6C1-F00D5A0C0026}"/>
              </a:ext>
            </a:extLst>
          </p:cNvPr>
          <p:cNvSpPr>
            <a:spLocks noGrp="1"/>
          </p:cNvSpPr>
          <p:nvPr>
            <p:ph type="title"/>
          </p:nvPr>
        </p:nvSpPr>
        <p:spPr>
          <a:xfrm>
            <a:off x="1028700" y="1967266"/>
            <a:ext cx="2628900" cy="2547257"/>
          </a:xfrm>
          <a:noFill/>
        </p:spPr>
        <p:txBody>
          <a:bodyPr vert="horz" lIns="91440" tIns="45720" rIns="91440" bIns="45720" rtlCol="0" anchor="ctr">
            <a:normAutofit fontScale="90000"/>
          </a:bodyPr>
          <a:lstStyle/>
          <a:p>
            <a:pPr algn="ctr"/>
            <a:r>
              <a:rPr lang="en-US" sz="2800" kern="1200">
                <a:solidFill>
                  <a:srgbClr val="FFFFFF"/>
                </a:solidFill>
                <a:latin typeface="+mj-lt"/>
                <a:ea typeface="+mj-ea"/>
                <a:cs typeface="+mj-cs"/>
              </a:rPr>
              <a:t>Reflect on the responses of post session activity</a:t>
            </a:r>
            <a:br>
              <a:rPr lang="en-US" sz="2800" kern="1200">
                <a:solidFill>
                  <a:srgbClr val="FFFFFF"/>
                </a:solidFill>
                <a:latin typeface="+mj-lt"/>
                <a:ea typeface="+mj-ea"/>
                <a:cs typeface="+mj-cs"/>
              </a:rPr>
            </a:br>
            <a:r>
              <a:rPr lang="en-US" sz="2800" kern="1200">
                <a:solidFill>
                  <a:srgbClr val="FFFFFF"/>
                </a:solidFill>
                <a:latin typeface="+mj-lt"/>
                <a:ea typeface="+mj-ea"/>
                <a:cs typeface="+mj-cs"/>
              </a:rPr>
              <a:t/>
            </a:r>
            <a:br>
              <a:rPr lang="en-US" sz="2800" kern="1200">
                <a:solidFill>
                  <a:srgbClr val="FFFFFF"/>
                </a:solidFill>
                <a:latin typeface="+mj-lt"/>
                <a:ea typeface="+mj-ea"/>
                <a:cs typeface="+mj-cs"/>
              </a:rPr>
            </a:br>
            <a:endParaRPr lang="en-US" sz="2800" kern="1200">
              <a:solidFill>
                <a:srgbClr val="FFFFFF"/>
              </a:solidFill>
              <a:latin typeface="+mj-lt"/>
              <a:ea typeface="+mj-ea"/>
              <a:cs typeface="+mj-cs"/>
            </a:endParaRPr>
          </a:p>
        </p:txBody>
      </p:sp>
      <p:sp>
        <p:nvSpPr>
          <p:cNvPr id="4" name="Slide Number Placeholder 3">
            <a:extLst>
              <a:ext uri="{FF2B5EF4-FFF2-40B4-BE49-F238E27FC236}">
                <a16:creationId xmlns:a16="http://schemas.microsoft.com/office/drawing/2014/main" xmlns="" id="{381D5415-04E5-9984-5403-67A367538A42}"/>
              </a:ext>
            </a:extLst>
          </p:cNvPr>
          <p:cNvSpPr>
            <a:spLocks noGrp="1"/>
          </p:cNvSpPr>
          <p:nvPr>
            <p:ph type="sldNum" sz="quarter" idx="12"/>
          </p:nvPr>
        </p:nvSpPr>
        <p:spPr/>
        <p:txBody>
          <a:bodyPr/>
          <a:lstStyle/>
          <a:p>
            <a:fld id="{26510230-8DD5-4BA5-AB2D-CA30FC08F9D7}" type="slidenum">
              <a:rPr lang="en-IN" smtClean="0"/>
              <a:t>4</a:t>
            </a:fld>
            <a:endParaRPr lang="en-IN"/>
          </a:p>
        </p:txBody>
      </p:sp>
      <p:pic>
        <p:nvPicPr>
          <p:cNvPr id="6" name="Picture 5" descr="A screenshot of a computer&#10;&#10;Description automatically generated">
            <a:extLst>
              <a:ext uri="{FF2B5EF4-FFF2-40B4-BE49-F238E27FC236}">
                <a16:creationId xmlns:a16="http://schemas.microsoft.com/office/drawing/2014/main" xmlns="" id="{B5812380-04B5-06B6-8506-DF79A9EFAFC2}"/>
              </a:ext>
            </a:extLst>
          </p:cNvPr>
          <p:cNvPicPr>
            <a:picLocks noChangeAspect="1"/>
          </p:cNvPicPr>
          <p:nvPr/>
        </p:nvPicPr>
        <p:blipFill>
          <a:blip r:embed="rId2"/>
          <a:stretch>
            <a:fillRect/>
          </a:stretch>
        </p:blipFill>
        <p:spPr>
          <a:xfrm>
            <a:off x="4777316" y="1698757"/>
            <a:ext cx="6780700" cy="3458156"/>
          </a:xfrm>
          <a:prstGeom prst="rect">
            <a:avLst/>
          </a:prstGeom>
        </p:spPr>
      </p:pic>
      <p:pic>
        <p:nvPicPr>
          <p:cNvPr id="5" name="Picture 4" descr="A blue circle with text and words&#10;&#10;Description automatically generated">
            <a:extLst>
              <a:ext uri="{FF2B5EF4-FFF2-40B4-BE49-F238E27FC236}">
                <a16:creationId xmlns:a16="http://schemas.microsoft.com/office/drawing/2014/main" xmlns="" id="{3CA3EE49-A6F5-21CE-5CB2-E167474EB0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7" name="Picture 6">
            <a:extLst>
              <a:ext uri="{FF2B5EF4-FFF2-40B4-BE49-F238E27FC236}">
                <a16:creationId xmlns:a16="http://schemas.microsoft.com/office/drawing/2014/main" xmlns="" id="{9CE23A4A-5CE7-2BA1-E1C7-649A5669BF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8" name="Footer Placeholder 5">
            <a:extLst>
              <a:ext uri="{FF2B5EF4-FFF2-40B4-BE49-F238E27FC236}">
                <a16:creationId xmlns:a16="http://schemas.microsoft.com/office/drawing/2014/main" xmlns="" id="{0AC4C0B8-55BF-7607-C08F-4F93C85CCC8F}"/>
              </a:ext>
            </a:extLst>
          </p:cNvPr>
          <p:cNvSpPr>
            <a:spLocks noGrp="1"/>
          </p:cNvSpPr>
          <p:nvPr>
            <p:ph type="ftr" sz="quarter" idx="11"/>
          </p:nvPr>
        </p:nvSpPr>
        <p:spPr>
          <a:xfrm>
            <a:off x="2243139" y="6356350"/>
            <a:ext cx="8186736" cy="365125"/>
          </a:xfrm>
        </p:spPr>
        <p:txBody>
          <a:bodyPr/>
          <a:lstStyle/>
          <a:p>
            <a:r>
              <a:rPr lang="en-GB" sz="1400" smtClean="0"/>
              <a:t>Galgotias-Student Centered Active Learning Ecosystem &amp; Date 12-08-2026 </a:t>
            </a:r>
            <a:endParaRPr lang="en-IN" dirty="0"/>
          </a:p>
        </p:txBody>
      </p:sp>
    </p:spTree>
    <p:extLst>
      <p:ext uri="{BB962C8B-B14F-4D97-AF65-F5344CB8AC3E}">
        <p14:creationId xmlns:p14="http://schemas.microsoft.com/office/powerpoint/2010/main" val="28925355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103" name="Google Shape;103;p2" descr="Magnifying glass on clear background"/>
          <p:cNvPicPr preferRelativeResize="0"/>
          <p:nvPr/>
        </p:nvPicPr>
        <p:blipFill rotWithShape="1">
          <a:blip r:embed="rId3">
            <a:alphaModFix/>
          </a:blip>
          <a:srcRect l="8345" r="7282" b="-1"/>
          <a:stretch/>
        </p:blipFill>
        <p:spPr>
          <a:xfrm>
            <a:off x="3931920" y="10"/>
            <a:ext cx="8260080" cy="6857990"/>
          </a:xfrm>
          <a:prstGeom prst="rect">
            <a:avLst/>
          </a:prstGeom>
          <a:noFill/>
          <a:ln>
            <a:noFill/>
          </a:ln>
        </p:spPr>
      </p:pic>
      <p:sp>
        <p:nvSpPr>
          <p:cNvPr id="104" name="Google Shape;104;p2"/>
          <p:cNvSpPr/>
          <p:nvPr/>
        </p:nvSpPr>
        <p:spPr>
          <a:xfrm>
            <a:off x="0" y="0"/>
            <a:ext cx="12192000" cy="6858000"/>
          </a:xfrm>
          <a:prstGeom prst="rect">
            <a:avLst/>
          </a:prstGeom>
          <a:gradFill>
            <a:gsLst>
              <a:gs pos="0">
                <a:srgbClr val="000000">
                  <a:alpha val="0"/>
                </a:srgbClr>
              </a:gs>
              <a:gs pos="33000">
                <a:srgbClr val="000000">
                  <a:alpha val="63921"/>
                </a:srgbClr>
              </a:gs>
              <a:gs pos="58000">
                <a:schemeClr val="dk1"/>
              </a:gs>
              <a:gs pos="100000">
                <a:schemeClr val="dk1"/>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5" name="Google Shape;105;p2"/>
          <p:cNvSpPr txBox="1">
            <a:spLocks noGrp="1"/>
          </p:cNvSpPr>
          <p:nvPr>
            <p:ph type="title"/>
          </p:nvPr>
        </p:nvSpPr>
        <p:spPr>
          <a:xfrm>
            <a:off x="481028" y="1101601"/>
            <a:ext cx="10872771" cy="1654177"/>
          </a:xfrm>
          <a:prstGeom prst="rect">
            <a:avLst/>
          </a:prstGeom>
          <a:noFill/>
          <a:ln>
            <a:noFill/>
          </a:ln>
        </p:spPr>
        <p:txBody>
          <a:bodyPr spcFirstLastPara="1" wrap="square" lIns="91425" tIns="45700" rIns="91425" bIns="45700" anchor="b" anchorCtr="0">
            <a:normAutofit fontScale="90000"/>
          </a:bodyPr>
          <a:lstStyle/>
          <a:p>
            <a:pPr lvl="0">
              <a:buClr>
                <a:schemeClr val="lt1"/>
              </a:buClr>
              <a:buSzPts val="4000"/>
            </a:pPr>
            <a:r>
              <a:rPr lang="en-GB" sz="4000" dirty="0">
                <a:solidFill>
                  <a:schemeClr val="bg1"/>
                </a:solidFill>
                <a:latin typeface="Times New Roman" panose="02020603050405020304" pitchFamily="18" charset="0"/>
                <a:cs typeface="Times New Roman" panose="02020603050405020304" pitchFamily="18" charset="0"/>
              </a:rPr>
              <a:t>How has Machine Learning changed from the past to today, and what are the main steps in developing an ML model?</a:t>
            </a:r>
            <a:endParaRPr sz="4000"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
        <p:nvSpPr>
          <p:cNvPr id="106" name="Google Shape;106;p2"/>
          <p:cNvSpPr/>
          <p:nvPr/>
        </p:nvSpPr>
        <p:spPr>
          <a:xfrm rot="5400000">
            <a:off x="759921" y="346791"/>
            <a:ext cx="146304" cy="7040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07" name="Google Shape;107;p2"/>
          <p:cNvSpPr/>
          <p:nvPr/>
        </p:nvSpPr>
        <p:spPr>
          <a:xfrm>
            <a:off x="481029" y="4546920"/>
            <a:ext cx="3977640" cy="18288"/>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 name="Google Shape;10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5</a:t>
            </a:fld>
            <a:endParaRPr/>
          </a:p>
        </p:txBody>
      </p:sp>
      <p:pic>
        <p:nvPicPr>
          <p:cNvPr id="109" name="Google Shape;109;p2" descr="A blue circle with text and words&#10;&#10;Description automatically generated"/>
          <p:cNvPicPr preferRelativeResize="0"/>
          <p:nvPr/>
        </p:nvPicPr>
        <p:blipFill rotWithShape="1">
          <a:blip r:embed="rId4">
            <a:alphaModFix/>
          </a:blip>
          <a:srcRect/>
          <a:stretch/>
        </p:blipFill>
        <p:spPr>
          <a:xfrm>
            <a:off x="10758566" y="176754"/>
            <a:ext cx="874732" cy="874732"/>
          </a:xfrm>
          <a:prstGeom prst="rect">
            <a:avLst/>
          </a:prstGeom>
          <a:noFill/>
          <a:ln>
            <a:noFill/>
          </a:ln>
        </p:spPr>
      </p:pic>
      <p:pic>
        <p:nvPicPr>
          <p:cNvPr id="13" name="Picture 12">
            <a:extLst>
              <a:ext uri="{FF2B5EF4-FFF2-40B4-BE49-F238E27FC236}">
                <a16:creationId xmlns="" xmlns:a16="http://schemas.microsoft.com/office/drawing/2014/main" id="{A49C41D1-93F9-4F00-A7D0-D86EB0FE08A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2" name="Footer Placeholder 1"/>
          <p:cNvSpPr>
            <a:spLocks noGrp="1"/>
          </p:cNvSpPr>
          <p:nvPr>
            <p:ph type="ftr" sz="quarter" idx="11"/>
          </p:nvPr>
        </p:nvSpPr>
        <p:spPr>
          <a:xfrm>
            <a:off x="2528888" y="6356350"/>
            <a:ext cx="7300912" cy="365125"/>
          </a:xfrm>
        </p:spPr>
        <p:txBody>
          <a:bodyPr/>
          <a:lstStyle/>
          <a:p>
            <a:r>
              <a:rPr lang="en-GB" smtClean="0"/>
              <a:t>Galgotias-Student Centered Active Learning Ecosystem &amp; Date 12-08-2026 </a:t>
            </a:r>
            <a:endParaRPr lang="en-IN" dirty="0"/>
          </a:p>
        </p:txBody>
      </p:sp>
      <p:sp>
        <p:nvSpPr>
          <p:cNvPr id="14" name="TextBox 13">
            <a:extLst>
              <a:ext uri="{FF2B5EF4-FFF2-40B4-BE49-F238E27FC236}">
                <a16:creationId xmlns="" xmlns:a16="http://schemas.microsoft.com/office/drawing/2014/main" id="{B5D34F9C-1388-82D8-8D48-0BF8C51BEFDE}"/>
              </a:ext>
            </a:extLst>
          </p:cNvPr>
          <p:cNvSpPr txBox="1"/>
          <p:nvPr/>
        </p:nvSpPr>
        <p:spPr>
          <a:xfrm>
            <a:off x="4519397" y="405155"/>
            <a:ext cx="5195906" cy="646331"/>
          </a:xfrm>
          <a:prstGeom prst="rect">
            <a:avLst/>
          </a:prstGeom>
          <a:noFill/>
        </p:spPr>
        <p:txBody>
          <a:bodyPr wrap="square" rtlCol="0">
            <a:spAutoFit/>
          </a:bodyPr>
          <a:lstStyle/>
          <a:p>
            <a:r>
              <a:rPr lang="en-US" sz="3600" b="1" dirty="0" smtClean="0">
                <a:solidFill>
                  <a:schemeClr val="bg1"/>
                </a:solidFill>
                <a:latin typeface="Times New Roman" panose="02020603050405020304" pitchFamily="18" charset="0"/>
                <a:cs typeface="Times New Roman" panose="02020603050405020304" pitchFamily="18" charset="0"/>
              </a:rPr>
              <a:t>Opening Question</a:t>
            </a:r>
            <a:endParaRPr lang="en-IN" sz="3600" dirty="0">
              <a:solidFill>
                <a:schemeClr val="bg1"/>
              </a:solidFill>
            </a:endParaRPr>
          </a:p>
        </p:txBody>
      </p:sp>
      <p:pic>
        <p:nvPicPr>
          <p:cNvPr id="15" name="Google Shape;162;p4" descr="What is an Emoji? - Answered - Twinkl ..."/>
          <p:cNvPicPr preferRelativeResize="0"/>
          <p:nvPr/>
        </p:nvPicPr>
        <p:blipFill rotWithShape="1">
          <a:blip r:embed="rId6">
            <a:alphaModFix/>
          </a:blip>
          <a:srcRect/>
          <a:stretch/>
        </p:blipFill>
        <p:spPr>
          <a:xfrm>
            <a:off x="655591" y="2728662"/>
            <a:ext cx="2023877" cy="1742378"/>
          </a:xfrm>
          <a:prstGeom prst="rect">
            <a:avLst/>
          </a:prstGeom>
          <a:noFill/>
          <a:ln>
            <a:noFill/>
          </a:ln>
        </p:spPr>
      </p:pic>
      <p:pic>
        <p:nvPicPr>
          <p:cNvPr id="4" name="Picture 3"/>
          <p:cNvPicPr>
            <a:picLocks noChangeAspect="1"/>
          </p:cNvPicPr>
          <p:nvPr/>
        </p:nvPicPr>
        <p:blipFill>
          <a:blip r:embed="rId7"/>
          <a:stretch>
            <a:fillRect/>
          </a:stretch>
        </p:blipFill>
        <p:spPr>
          <a:xfrm>
            <a:off x="5499735" y="3050954"/>
            <a:ext cx="2409825" cy="2409825"/>
          </a:xfrm>
          <a:prstGeom prst="rect">
            <a:avLst/>
          </a:prstGeom>
        </p:spPr>
      </p:pic>
    </p:spTree>
    <p:extLst>
      <p:ext uri="{BB962C8B-B14F-4D97-AF65-F5344CB8AC3E}">
        <p14:creationId xmlns:p14="http://schemas.microsoft.com/office/powerpoint/2010/main" val="3857873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4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103" name="Google Shape;103;p2" descr="Magnifying glass on clear background"/>
          <p:cNvPicPr preferRelativeResize="0"/>
          <p:nvPr/>
        </p:nvPicPr>
        <p:blipFill rotWithShape="1">
          <a:blip r:embed="rId3">
            <a:alphaModFix/>
          </a:blip>
          <a:srcRect l="8345" r="7282" b="-1"/>
          <a:stretch/>
        </p:blipFill>
        <p:spPr>
          <a:xfrm>
            <a:off x="3931920" y="10"/>
            <a:ext cx="8260080" cy="6857990"/>
          </a:xfrm>
          <a:prstGeom prst="rect">
            <a:avLst/>
          </a:prstGeom>
          <a:noFill/>
          <a:ln>
            <a:noFill/>
          </a:ln>
        </p:spPr>
      </p:pic>
      <p:sp>
        <p:nvSpPr>
          <p:cNvPr id="104" name="Google Shape;104;p2"/>
          <p:cNvSpPr/>
          <p:nvPr/>
        </p:nvSpPr>
        <p:spPr>
          <a:xfrm>
            <a:off x="0" y="0"/>
            <a:ext cx="12192000" cy="6858000"/>
          </a:xfrm>
          <a:prstGeom prst="rect">
            <a:avLst/>
          </a:prstGeom>
          <a:gradFill>
            <a:gsLst>
              <a:gs pos="0">
                <a:srgbClr val="000000">
                  <a:alpha val="0"/>
                </a:srgbClr>
              </a:gs>
              <a:gs pos="33000">
                <a:srgbClr val="000000">
                  <a:alpha val="63921"/>
                </a:srgbClr>
              </a:gs>
              <a:gs pos="58000">
                <a:schemeClr val="dk1"/>
              </a:gs>
              <a:gs pos="100000">
                <a:schemeClr val="dk1"/>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6" name="Google Shape;106;p2"/>
          <p:cNvSpPr/>
          <p:nvPr/>
        </p:nvSpPr>
        <p:spPr>
          <a:xfrm rot="5400000">
            <a:off x="759921" y="346791"/>
            <a:ext cx="146304" cy="7040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07" name="Google Shape;107;p2"/>
          <p:cNvSpPr/>
          <p:nvPr/>
        </p:nvSpPr>
        <p:spPr>
          <a:xfrm>
            <a:off x="481029" y="4546920"/>
            <a:ext cx="3977640" cy="18288"/>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 name="Google Shape;10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6</a:t>
            </a:fld>
            <a:endParaRPr/>
          </a:p>
        </p:txBody>
      </p:sp>
      <p:pic>
        <p:nvPicPr>
          <p:cNvPr id="109" name="Google Shape;109;p2" descr="A blue circle with text and words&#10;&#10;Description automatically generated"/>
          <p:cNvPicPr preferRelativeResize="0"/>
          <p:nvPr/>
        </p:nvPicPr>
        <p:blipFill rotWithShape="1">
          <a:blip r:embed="rId4">
            <a:alphaModFix/>
          </a:blip>
          <a:srcRect/>
          <a:stretch/>
        </p:blipFill>
        <p:spPr>
          <a:xfrm>
            <a:off x="10758566" y="176754"/>
            <a:ext cx="874732" cy="874732"/>
          </a:xfrm>
          <a:prstGeom prst="rect">
            <a:avLst/>
          </a:prstGeom>
          <a:noFill/>
          <a:ln>
            <a:noFill/>
          </a:ln>
        </p:spPr>
      </p:pic>
      <p:pic>
        <p:nvPicPr>
          <p:cNvPr id="13" name="Picture 12">
            <a:extLst>
              <a:ext uri="{FF2B5EF4-FFF2-40B4-BE49-F238E27FC236}">
                <a16:creationId xmlns="" xmlns:a16="http://schemas.microsoft.com/office/drawing/2014/main" id="{A49C41D1-93F9-4F00-A7D0-D86EB0FE08A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2" name="Footer Placeholder 1"/>
          <p:cNvSpPr>
            <a:spLocks noGrp="1"/>
          </p:cNvSpPr>
          <p:nvPr>
            <p:ph type="ftr" sz="quarter" idx="11"/>
          </p:nvPr>
        </p:nvSpPr>
        <p:spPr>
          <a:xfrm>
            <a:off x="2528888" y="6356350"/>
            <a:ext cx="7300912" cy="365125"/>
          </a:xfrm>
        </p:spPr>
        <p:txBody>
          <a:bodyPr/>
          <a:lstStyle/>
          <a:p>
            <a:r>
              <a:rPr lang="en-GB" smtClean="0"/>
              <a:t>Galgotias-Student Centered Active Learning Ecosystem &amp; Date 12-08-2026 </a:t>
            </a:r>
            <a:endParaRPr lang="en-IN" dirty="0"/>
          </a:p>
        </p:txBody>
      </p:sp>
      <p:sp>
        <p:nvSpPr>
          <p:cNvPr id="14" name="TextBox 13">
            <a:extLst>
              <a:ext uri="{FF2B5EF4-FFF2-40B4-BE49-F238E27FC236}">
                <a16:creationId xmlns="" xmlns:a16="http://schemas.microsoft.com/office/drawing/2014/main" id="{B5D34F9C-1388-82D8-8D48-0BF8C51BEFDE}"/>
              </a:ext>
            </a:extLst>
          </p:cNvPr>
          <p:cNvSpPr txBox="1"/>
          <p:nvPr/>
        </p:nvSpPr>
        <p:spPr>
          <a:xfrm>
            <a:off x="4005498" y="208109"/>
            <a:ext cx="6795292" cy="646331"/>
          </a:xfrm>
          <a:prstGeom prst="rect">
            <a:avLst/>
          </a:prstGeom>
          <a:noFill/>
        </p:spPr>
        <p:txBody>
          <a:bodyPr wrap="square" rtlCol="0">
            <a:spAutoFit/>
          </a:bodyPr>
          <a:lstStyle/>
          <a:p>
            <a:r>
              <a:rPr lang="en-US" sz="3600" b="1" dirty="0" smtClean="0">
                <a:solidFill>
                  <a:schemeClr val="bg1"/>
                </a:solidFill>
                <a:latin typeface="Times New Roman" panose="02020603050405020304" pitchFamily="18" charset="0"/>
                <a:cs typeface="Times New Roman" panose="02020603050405020304" pitchFamily="18" charset="0"/>
              </a:rPr>
              <a:t>Opening Question -Reflections</a:t>
            </a:r>
            <a:endParaRPr lang="en-IN" sz="3600" dirty="0">
              <a:solidFill>
                <a:schemeClr val="bg1"/>
              </a:solidFill>
            </a:endParaRPr>
          </a:p>
        </p:txBody>
      </p:sp>
      <p:pic>
        <p:nvPicPr>
          <p:cNvPr id="3" name="Picture 2"/>
          <p:cNvPicPr>
            <a:picLocks noChangeAspect="1"/>
          </p:cNvPicPr>
          <p:nvPr/>
        </p:nvPicPr>
        <p:blipFill>
          <a:blip r:embed="rId6"/>
          <a:stretch>
            <a:fillRect/>
          </a:stretch>
        </p:blipFill>
        <p:spPr>
          <a:xfrm>
            <a:off x="330783" y="1218834"/>
            <a:ext cx="11302515" cy="1663822"/>
          </a:xfrm>
          <a:prstGeom prst="rect">
            <a:avLst/>
          </a:prstGeom>
        </p:spPr>
      </p:pic>
    </p:spTree>
    <p:extLst>
      <p:ext uri="{BB962C8B-B14F-4D97-AF65-F5344CB8AC3E}">
        <p14:creationId xmlns:p14="http://schemas.microsoft.com/office/powerpoint/2010/main" val="38102279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Times New Roman" panose="02020603050405020304" pitchFamily="18" charset="0"/>
              <a:cs typeface="Times New Roman" panose="02020603050405020304" pitchFamily="18" charset="0"/>
              <a:sym typeface="Arial"/>
            </a:endParaRPr>
          </a:p>
        </p:txBody>
      </p:sp>
      <p:sp>
        <p:nvSpPr>
          <p:cNvPr id="127" name="Google Shape;127;p4"/>
          <p:cNvSpPr/>
          <p:nvPr/>
        </p:nvSpPr>
        <p:spPr>
          <a:xfrm flipH="1">
            <a:off x="2" y="0"/>
            <a:ext cx="12191998" cy="2170031"/>
          </a:xfrm>
          <a:prstGeom prst="rect">
            <a:avLst/>
          </a:prstGeom>
          <a:gradFill>
            <a:gsLst>
              <a:gs pos="0">
                <a:srgbClr val="000000">
                  <a:alpha val="95686"/>
                </a:srgbClr>
              </a:gs>
              <a:gs pos="100000">
                <a:srgbClr val="0F4861"/>
              </a:gs>
            </a:gsLst>
            <a:lin ang="197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Times New Roman" panose="02020603050405020304" pitchFamily="18" charset="0"/>
              <a:cs typeface="Times New Roman" panose="02020603050405020304" pitchFamily="18" charset="0"/>
              <a:sym typeface="Arial"/>
            </a:endParaRPr>
          </a:p>
        </p:txBody>
      </p:sp>
      <p:sp>
        <p:nvSpPr>
          <p:cNvPr id="128" name="Google Shape;128;p4"/>
          <p:cNvSpPr/>
          <p:nvPr/>
        </p:nvSpPr>
        <p:spPr>
          <a:xfrm flipH="1">
            <a:off x="8082819" y="0"/>
            <a:ext cx="4097211" cy="2170661"/>
          </a:xfrm>
          <a:prstGeom prst="rect">
            <a:avLst/>
          </a:prstGeom>
          <a:gradFill>
            <a:gsLst>
              <a:gs pos="0">
                <a:srgbClr val="0A3041">
                  <a:alpha val="67843"/>
                </a:srgbClr>
              </a:gs>
              <a:gs pos="19000">
                <a:srgbClr val="0A3041">
                  <a:alpha val="67843"/>
                </a:srgbClr>
              </a:gs>
              <a:gs pos="100000">
                <a:srgbClr val="156082">
                  <a:alpha val="47843"/>
                </a:srgbClr>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Times New Roman" panose="02020603050405020304" pitchFamily="18" charset="0"/>
              <a:cs typeface="Times New Roman" panose="02020603050405020304" pitchFamily="18" charset="0"/>
              <a:sym typeface="Arial"/>
            </a:endParaRPr>
          </a:p>
        </p:txBody>
      </p:sp>
      <p:sp>
        <p:nvSpPr>
          <p:cNvPr id="129" name="Google Shape;129;p4"/>
          <p:cNvSpPr/>
          <p:nvPr/>
        </p:nvSpPr>
        <p:spPr>
          <a:xfrm rot="-5400000" flipH="1">
            <a:off x="5010646" y="-5010043"/>
            <a:ext cx="2170709" cy="12192000"/>
          </a:xfrm>
          <a:prstGeom prst="rect">
            <a:avLst/>
          </a:prstGeom>
          <a:gradFill>
            <a:gsLst>
              <a:gs pos="0">
                <a:srgbClr val="0F4861">
                  <a:alpha val="15686"/>
                </a:srgbClr>
              </a:gs>
              <a:gs pos="23000">
                <a:srgbClr val="0F4861">
                  <a:alpha val="15686"/>
                </a:srgbClr>
              </a:gs>
              <a:gs pos="99000">
                <a:srgbClr val="000000">
                  <a:alpha val="44705"/>
                </a:srgbClr>
              </a:gs>
              <a:gs pos="100000">
                <a:srgbClr val="000000">
                  <a:alpha val="44705"/>
                </a:srgbClr>
              </a:gs>
            </a:gsLst>
            <a:lin ang="210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Times New Roman" panose="02020603050405020304" pitchFamily="18" charset="0"/>
              <a:cs typeface="Times New Roman" panose="02020603050405020304" pitchFamily="18" charset="0"/>
              <a:sym typeface="Arial"/>
            </a:endParaRPr>
          </a:p>
        </p:txBody>
      </p:sp>
      <p:sp>
        <p:nvSpPr>
          <p:cNvPr id="130" name="Google Shape;130;p4"/>
          <p:cNvSpPr txBox="1">
            <a:spLocks noGrp="1"/>
          </p:cNvSpPr>
          <p:nvPr>
            <p:ph type="title"/>
          </p:nvPr>
        </p:nvSpPr>
        <p:spPr>
          <a:xfrm>
            <a:off x="558702" y="1102452"/>
            <a:ext cx="10542973" cy="82285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FFFF"/>
              </a:buClr>
              <a:buSzPct val="100000"/>
              <a:buFont typeface="Arial"/>
              <a:buNone/>
            </a:pPr>
            <a:r>
              <a:rPr lang="en-IN" sz="4000" b="1" dirty="0">
                <a:solidFill>
                  <a:srgbClr val="FFFFFF"/>
                </a:solidFill>
                <a:latin typeface="Times New Roman" panose="02020603050405020304" pitchFamily="18" charset="0"/>
                <a:ea typeface="Arial"/>
                <a:cs typeface="Times New Roman" panose="02020603050405020304" pitchFamily="18" charset="0"/>
                <a:sym typeface="Arial"/>
              </a:rPr>
              <a:t>At the end of this session students will be able to </a:t>
            </a:r>
            <a:endParaRPr sz="4000" dirty="0">
              <a:latin typeface="Times New Roman" panose="02020603050405020304" pitchFamily="18" charset="0"/>
              <a:cs typeface="Times New Roman" panose="02020603050405020304" pitchFamily="18" charset="0"/>
            </a:endParaRPr>
          </a:p>
        </p:txBody>
      </p:sp>
      <p:grpSp>
        <p:nvGrpSpPr>
          <p:cNvPr id="131" name="Google Shape;131;p4"/>
          <p:cNvGrpSpPr/>
          <p:nvPr/>
        </p:nvGrpSpPr>
        <p:grpSpPr>
          <a:xfrm>
            <a:off x="336080" y="2417848"/>
            <a:ext cx="11519840" cy="3689404"/>
            <a:chOff x="-296006" y="0"/>
            <a:chExt cx="11519840" cy="3689404"/>
          </a:xfrm>
        </p:grpSpPr>
        <p:sp>
          <p:nvSpPr>
            <p:cNvPr id="132" name="Google Shape;132;p4"/>
            <p:cNvSpPr/>
            <p:nvPr/>
          </p:nvSpPr>
          <p:spPr>
            <a:xfrm>
              <a:off x="-296006" y="0"/>
              <a:ext cx="10472679" cy="1660232"/>
            </a:xfrm>
            <a:prstGeom prst="roundRect">
              <a:avLst>
                <a:gd name="adj" fmla="val 10000"/>
              </a:avLst>
            </a:prstGeom>
            <a:solidFill>
              <a:srgbClr val="E97131"/>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Times New Roman" panose="02020603050405020304" pitchFamily="18" charset="0"/>
                <a:cs typeface="Times New Roman" panose="02020603050405020304" pitchFamily="18" charset="0"/>
              </a:endParaRPr>
            </a:p>
          </p:txBody>
        </p:sp>
        <p:sp>
          <p:nvSpPr>
            <p:cNvPr id="133" name="Google Shape;133;p4"/>
            <p:cNvSpPr txBox="1"/>
            <p:nvPr/>
          </p:nvSpPr>
          <p:spPr>
            <a:xfrm>
              <a:off x="-247379" y="48627"/>
              <a:ext cx="9204523" cy="1562978"/>
            </a:xfrm>
            <a:prstGeom prst="rect">
              <a:avLst/>
            </a:prstGeom>
            <a:noFill/>
            <a:ln>
              <a:noFill/>
            </a:ln>
          </p:spPr>
          <p:txBody>
            <a:bodyPr spcFirstLastPara="1" wrap="square" lIns="144775" tIns="144775" rIns="144775" bIns="144775" anchor="ctr" anchorCtr="0">
              <a:noAutofit/>
            </a:bodyPr>
            <a:lstStyle/>
            <a:p>
              <a:pPr lvl="0">
                <a:lnSpc>
                  <a:spcPct val="90000"/>
                </a:lnSpc>
                <a:buClr>
                  <a:schemeClr val="lt1"/>
                </a:buClr>
                <a:buSzPts val="3800"/>
              </a:pPr>
              <a:r>
                <a:rPr lang="en-IN" sz="3200" b="0" i="0" u="none" strike="noStrike" cap="none" dirty="0" smtClean="0">
                  <a:solidFill>
                    <a:schemeClr val="lt1"/>
                  </a:solidFill>
                  <a:latin typeface="Times New Roman" panose="02020603050405020304" pitchFamily="18" charset="0"/>
                  <a:cs typeface="Times New Roman" panose="02020603050405020304" pitchFamily="18" charset="0"/>
                  <a:sym typeface="Arial"/>
                </a:rPr>
                <a:t>LO1: </a:t>
              </a:r>
              <a:r>
                <a:rPr lang="en-GB" sz="2600" dirty="0">
                  <a:solidFill>
                    <a:schemeClr val="lt1"/>
                  </a:solidFill>
                  <a:latin typeface="Times New Roman" panose="02020603050405020304" pitchFamily="18" charset="0"/>
                  <a:cs typeface="Times New Roman" panose="02020603050405020304" pitchFamily="18" charset="0"/>
                  <a:sym typeface="Arial"/>
                </a:rPr>
                <a:t>Explain the key milestones in the history of Machine </a:t>
              </a:r>
              <a:r>
                <a:rPr lang="en-GB" sz="2600" dirty="0" err="1">
                  <a:solidFill>
                    <a:schemeClr val="lt1"/>
                  </a:solidFill>
                  <a:latin typeface="Times New Roman" panose="02020603050405020304" pitchFamily="18" charset="0"/>
                  <a:cs typeface="Times New Roman" panose="02020603050405020304" pitchFamily="18" charset="0"/>
                  <a:sym typeface="Arial"/>
                </a:rPr>
                <a:t>Learing</a:t>
              </a:r>
              <a:endParaRPr lang="en-GB" sz="2600" dirty="0">
                <a:solidFill>
                  <a:schemeClr val="lt1"/>
                </a:solidFill>
                <a:latin typeface="Times New Roman" panose="02020603050405020304" pitchFamily="18" charset="0"/>
                <a:cs typeface="Times New Roman" panose="02020603050405020304" pitchFamily="18" charset="0"/>
                <a:sym typeface="Arial"/>
              </a:endParaRPr>
            </a:p>
          </p:txBody>
        </p:sp>
        <p:sp>
          <p:nvSpPr>
            <p:cNvPr id="134" name="Google Shape;134;p4"/>
            <p:cNvSpPr/>
            <p:nvPr/>
          </p:nvSpPr>
          <p:spPr>
            <a:xfrm>
              <a:off x="1935180" y="2029172"/>
              <a:ext cx="9288654" cy="1660232"/>
            </a:xfrm>
            <a:prstGeom prst="roundRect">
              <a:avLst>
                <a:gd name="adj" fmla="val 10000"/>
              </a:avLst>
            </a:prstGeom>
            <a:solidFill>
              <a:srgbClr val="18692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Times New Roman" panose="02020603050405020304" pitchFamily="18" charset="0"/>
                <a:cs typeface="Times New Roman" panose="02020603050405020304" pitchFamily="18" charset="0"/>
              </a:endParaRPr>
            </a:p>
          </p:txBody>
        </p:sp>
        <p:sp>
          <p:nvSpPr>
            <p:cNvPr id="135" name="Google Shape;135;p4"/>
            <p:cNvSpPr txBox="1"/>
            <p:nvPr/>
          </p:nvSpPr>
          <p:spPr>
            <a:xfrm>
              <a:off x="1983806" y="2077799"/>
              <a:ext cx="9240027" cy="1562978"/>
            </a:xfrm>
            <a:prstGeom prst="rect">
              <a:avLst/>
            </a:prstGeom>
            <a:noFill/>
            <a:ln>
              <a:noFill/>
            </a:ln>
          </p:spPr>
          <p:txBody>
            <a:bodyPr spcFirstLastPara="1" wrap="square" lIns="144775" tIns="144775" rIns="144775" bIns="144775" anchor="ctr" anchorCtr="0">
              <a:noAutofit/>
            </a:bodyPr>
            <a:lstStyle/>
            <a:p>
              <a:pPr lvl="0">
                <a:lnSpc>
                  <a:spcPct val="90000"/>
                </a:lnSpc>
                <a:buClr>
                  <a:schemeClr val="lt1"/>
                </a:buClr>
                <a:buSzPts val="3800"/>
              </a:pPr>
              <a:r>
                <a:rPr lang="en-IN" sz="2800" b="0" i="0" u="none" strike="noStrike" cap="none" dirty="0">
                  <a:solidFill>
                    <a:schemeClr val="lt1"/>
                  </a:solidFill>
                  <a:latin typeface="Times New Roman" panose="02020603050405020304" pitchFamily="18" charset="0"/>
                  <a:cs typeface="Times New Roman" panose="02020603050405020304" pitchFamily="18" charset="0"/>
                  <a:sym typeface="Arial"/>
                </a:rPr>
                <a:t>LO2</a:t>
              </a:r>
              <a:r>
                <a:rPr lang="en-IN" sz="2800" b="0" i="0" u="none" strike="noStrike" cap="none" dirty="0" smtClean="0">
                  <a:solidFill>
                    <a:schemeClr val="lt1"/>
                  </a:solidFill>
                  <a:latin typeface="Times New Roman" panose="02020603050405020304" pitchFamily="18" charset="0"/>
                  <a:cs typeface="Times New Roman" panose="02020603050405020304" pitchFamily="18" charset="0"/>
                  <a:sym typeface="Arial"/>
                </a:rPr>
                <a:t>: </a:t>
              </a:r>
              <a:r>
                <a:rPr lang="en-GB" sz="2500" dirty="0">
                  <a:solidFill>
                    <a:schemeClr val="bg1"/>
                  </a:solidFill>
                  <a:latin typeface="Times New Roman" panose="02020603050405020304" pitchFamily="18" charset="0"/>
                  <a:cs typeface="Times New Roman" panose="02020603050405020304" pitchFamily="18" charset="0"/>
                  <a:sym typeface="Arial"/>
                </a:rPr>
                <a:t>Apply the Machine Learning Life Cycle</a:t>
              </a:r>
              <a:endParaRPr lang="en-GB" sz="2500" dirty="0">
                <a:solidFill>
                  <a:schemeClr val="bg1"/>
                </a:solidFill>
                <a:latin typeface="Times New Roman" panose="02020603050405020304" pitchFamily="18" charset="0"/>
                <a:cs typeface="Times New Roman" panose="02020603050405020304" pitchFamily="18" charset="0"/>
                <a:sym typeface="Arial"/>
              </a:endParaRPr>
            </a:p>
          </p:txBody>
        </p:sp>
        <p:sp>
          <p:nvSpPr>
            <p:cNvPr id="136" name="Google Shape;136;p4"/>
            <p:cNvSpPr/>
            <p:nvPr/>
          </p:nvSpPr>
          <p:spPr>
            <a:xfrm>
              <a:off x="8466195" y="1025289"/>
              <a:ext cx="1079150" cy="1079150"/>
            </a:xfrm>
            <a:prstGeom prst="downArrow">
              <a:avLst>
                <a:gd name="adj1" fmla="val 55000"/>
                <a:gd name="adj2" fmla="val 45000"/>
              </a:avLst>
            </a:prstGeom>
            <a:solidFill>
              <a:srgbClr val="F6D4CC">
                <a:alpha val="89803"/>
              </a:srgbClr>
            </a:solidFill>
            <a:ln w="19050" cap="flat" cmpd="sng">
              <a:solidFill>
                <a:srgbClr val="F6D4CC">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Times New Roman" panose="02020603050405020304" pitchFamily="18" charset="0"/>
                <a:cs typeface="Times New Roman" panose="02020603050405020304" pitchFamily="18" charset="0"/>
              </a:endParaRPr>
            </a:p>
          </p:txBody>
        </p:sp>
        <p:sp>
          <p:nvSpPr>
            <p:cNvPr id="137" name="Google Shape;137;p4"/>
            <p:cNvSpPr txBox="1"/>
            <p:nvPr/>
          </p:nvSpPr>
          <p:spPr>
            <a:xfrm>
              <a:off x="8748318" y="1311292"/>
              <a:ext cx="593532" cy="812060"/>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endParaRPr sz="2400" b="0" i="0" u="none" strike="noStrike" cap="none">
                <a:solidFill>
                  <a:schemeClr val="dk1"/>
                </a:solidFill>
                <a:latin typeface="Times New Roman" panose="02020603050405020304" pitchFamily="18" charset="0"/>
                <a:cs typeface="Times New Roman" panose="02020603050405020304" pitchFamily="18" charset="0"/>
                <a:sym typeface="Arial"/>
              </a:endParaRPr>
            </a:p>
          </p:txBody>
        </p:sp>
      </p:grpSp>
      <p:sp>
        <p:nvSpPr>
          <p:cNvPr id="139" name="Google Shape;139;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2400">
                <a:latin typeface="Times New Roman" panose="02020603050405020304" pitchFamily="18" charset="0"/>
                <a:cs typeface="Times New Roman" panose="02020603050405020304" pitchFamily="18" charset="0"/>
              </a:rPr>
              <a:t>7</a:t>
            </a:fld>
            <a:endParaRPr sz="2400">
              <a:latin typeface="Times New Roman" panose="02020603050405020304" pitchFamily="18" charset="0"/>
              <a:cs typeface="Times New Roman" panose="02020603050405020304" pitchFamily="18" charset="0"/>
            </a:endParaRPr>
          </a:p>
        </p:txBody>
      </p:sp>
      <p:pic>
        <p:nvPicPr>
          <p:cNvPr id="140" name="Google Shape;140;p4"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18" name="Picture 17">
            <a:extLst>
              <a:ext uri="{FF2B5EF4-FFF2-40B4-BE49-F238E27FC236}">
                <a16:creationId xmlns="" xmlns:a16="http://schemas.microsoft.com/office/drawing/2014/main" id="{92F137E6-A257-43E9-85A6-31EF956DF2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3" name="Footer Placeholder 2"/>
          <p:cNvSpPr>
            <a:spLocks noGrp="1"/>
          </p:cNvSpPr>
          <p:nvPr>
            <p:ph type="ftr" sz="quarter" idx="11"/>
          </p:nvPr>
        </p:nvSpPr>
        <p:spPr>
          <a:xfrm>
            <a:off x="2567265" y="6356350"/>
            <a:ext cx="7133947" cy="365125"/>
          </a:xfrm>
        </p:spPr>
        <p:txBody>
          <a:bodyPr/>
          <a:lstStyle/>
          <a:p>
            <a:r>
              <a:rPr lang="en-GB" smtClean="0"/>
              <a:t>Galgotias-Student Centered Active Learning Ecosystem &amp; Date 12-08-2026 </a:t>
            </a:r>
            <a:endParaRPr lang="en-IN" dirty="0"/>
          </a:p>
        </p:txBody>
      </p:sp>
    </p:spTree>
    <p:extLst>
      <p:ext uri="{BB962C8B-B14F-4D97-AF65-F5344CB8AC3E}">
        <p14:creationId xmlns:p14="http://schemas.microsoft.com/office/powerpoint/2010/main" val="243199804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7A1553B-A216-73BB-FAAB-1FF7D4C33C20}"/>
              </a:ext>
            </a:extLst>
          </p:cNvPr>
          <p:cNvSpPr>
            <a:spLocks noGrp="1"/>
          </p:cNvSpPr>
          <p:nvPr>
            <p:ph type="title"/>
          </p:nvPr>
        </p:nvSpPr>
        <p:spPr>
          <a:xfrm>
            <a:off x="635000" y="640823"/>
            <a:ext cx="3418659" cy="5583148"/>
          </a:xfrm>
        </p:spPr>
        <p:txBody>
          <a:bodyPr anchor="ctr">
            <a:normAutofit/>
          </a:bodyPr>
          <a:lstStyle/>
          <a:p>
            <a:r>
              <a:rPr lang="en-IN" sz="5400" dirty="0"/>
              <a:t>Session Outline</a:t>
            </a:r>
          </a:p>
        </p:txBody>
      </p:sp>
      <p:graphicFrame>
        <p:nvGraphicFramePr>
          <p:cNvPr id="5" name="Content Placeholder 2">
            <a:extLst>
              <a:ext uri="{FF2B5EF4-FFF2-40B4-BE49-F238E27FC236}">
                <a16:creationId xmlns:a16="http://schemas.microsoft.com/office/drawing/2014/main" xmlns="" id="{41A9FE4B-6F20-1C22-6353-F1166E69B9D5}"/>
              </a:ext>
            </a:extLst>
          </p:cNvPr>
          <p:cNvGraphicFramePr>
            <a:graphicFrameLocks noGrp="1"/>
          </p:cNvGraphicFramePr>
          <p:nvPr>
            <p:ph idx="1"/>
            <p:extLst>
              <p:ext uri="{D42A27DB-BD31-4B8C-83A1-F6EECF244321}">
                <p14:modId xmlns:p14="http://schemas.microsoft.com/office/powerpoint/2010/main" val="1779843696"/>
              </p:ext>
            </p:extLst>
          </p:nvPr>
        </p:nvGraphicFramePr>
        <p:xfrm>
          <a:off x="4305118" y="1218583"/>
          <a:ext cx="6900512" cy="50053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Slide Number Placeholder 5">
            <a:extLst>
              <a:ext uri="{FF2B5EF4-FFF2-40B4-BE49-F238E27FC236}">
                <a16:creationId xmlns:a16="http://schemas.microsoft.com/office/drawing/2014/main" xmlns="" id="{9924FF57-302B-97C8-BD3F-550746DA6FE1}"/>
              </a:ext>
            </a:extLst>
          </p:cNvPr>
          <p:cNvSpPr>
            <a:spLocks noGrp="1"/>
          </p:cNvSpPr>
          <p:nvPr>
            <p:ph type="sldNum" sz="quarter" idx="12"/>
          </p:nvPr>
        </p:nvSpPr>
        <p:spPr/>
        <p:txBody>
          <a:bodyPr/>
          <a:lstStyle/>
          <a:p>
            <a:fld id="{26510230-8DD5-4BA5-AB2D-CA30FC08F9D7}" type="slidenum">
              <a:rPr lang="en-IN" smtClean="0"/>
              <a:t>8</a:t>
            </a:fld>
            <a:endParaRPr lang="en-IN"/>
          </a:p>
        </p:txBody>
      </p:sp>
      <p:pic>
        <p:nvPicPr>
          <p:cNvPr id="7" name="Picture 6" descr="A blue circle with text and words&#10;&#10;Description automatically generated">
            <a:extLst>
              <a:ext uri="{FF2B5EF4-FFF2-40B4-BE49-F238E27FC236}">
                <a16:creationId xmlns:a16="http://schemas.microsoft.com/office/drawing/2014/main" xmlns="" id="{A4DDE187-E81D-B835-E4CD-A2B8788BFA0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3" name="Picture 2">
            <a:extLst>
              <a:ext uri="{FF2B5EF4-FFF2-40B4-BE49-F238E27FC236}">
                <a16:creationId xmlns:a16="http://schemas.microsoft.com/office/drawing/2014/main" xmlns="" id="{953114F5-F06B-4D82-5258-AB40ED145D3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8" name="Footer Placeholder 5">
            <a:extLst>
              <a:ext uri="{FF2B5EF4-FFF2-40B4-BE49-F238E27FC236}">
                <a16:creationId xmlns:a16="http://schemas.microsoft.com/office/drawing/2014/main" xmlns="" id="{0AC4C0B8-55BF-7607-C08F-4F93C85CCC8F}"/>
              </a:ext>
            </a:extLst>
          </p:cNvPr>
          <p:cNvSpPr>
            <a:spLocks noGrp="1"/>
          </p:cNvSpPr>
          <p:nvPr>
            <p:ph type="ftr" sz="quarter" idx="11"/>
          </p:nvPr>
        </p:nvSpPr>
        <p:spPr>
          <a:xfrm>
            <a:off x="2243139" y="6356350"/>
            <a:ext cx="8186736" cy="365125"/>
          </a:xfrm>
        </p:spPr>
        <p:txBody>
          <a:bodyPr/>
          <a:lstStyle/>
          <a:p>
            <a:r>
              <a:rPr lang="en-GB" sz="1400" smtClean="0"/>
              <a:t>Galgotias-Student Centered Active Learning Ecosystem &amp; Date 12-08-2026 </a:t>
            </a:r>
            <a:endParaRPr lang="en-IN" dirty="0"/>
          </a:p>
        </p:txBody>
      </p:sp>
    </p:spTree>
    <p:extLst>
      <p:ext uri="{BB962C8B-B14F-4D97-AF65-F5344CB8AC3E}">
        <p14:creationId xmlns:p14="http://schemas.microsoft.com/office/powerpoint/2010/main" val="11425593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noAutofit/>
          </a:bodyPr>
          <a:lstStyle/>
          <a:p>
            <a:r>
              <a:rPr lang="en-GB" sz="2800" dirty="0" smtClean="0"/>
              <a:t/>
            </a:r>
            <a:br>
              <a:rPr lang="en-GB" sz="2800" dirty="0" smtClean="0"/>
            </a:br>
            <a:endParaRPr lang="en-IN" sz="2400" dirty="0">
              <a:latin typeface="Calibri" panose="020F0502020204030204" pitchFamily="34" charset="0"/>
              <a:cs typeface="Calibri" panose="020F0502020204030204" pitchFamily="34" charset="0"/>
            </a:endParaRPr>
          </a:p>
        </p:txBody>
      </p:sp>
      <p:sp>
        <p:nvSpPr>
          <p:cNvPr id="6" name="Footer Placeholder 5">
            <a:extLst>
              <a:ext uri="{FF2B5EF4-FFF2-40B4-BE49-F238E27FC236}">
                <a16:creationId xmlns:a16="http://schemas.microsoft.com/office/drawing/2014/main" xmlns="" id="{0AC4C0B8-55BF-7607-C08F-4F93C85CCC8F}"/>
              </a:ext>
            </a:extLst>
          </p:cNvPr>
          <p:cNvSpPr>
            <a:spLocks noGrp="1"/>
          </p:cNvSpPr>
          <p:nvPr>
            <p:ph type="ftr" sz="quarter" idx="11"/>
          </p:nvPr>
        </p:nvSpPr>
        <p:spPr>
          <a:xfrm>
            <a:off x="2243139" y="6356350"/>
            <a:ext cx="8186736" cy="365125"/>
          </a:xfrm>
        </p:spPr>
        <p:txBody>
          <a:bodyPr/>
          <a:lstStyle/>
          <a:p>
            <a:r>
              <a:rPr lang="en-GB" sz="1400" smtClean="0"/>
              <a:t>Galgotias-Student Centered Active Learning Ecosystem &amp; Date 12-08-2026 </a:t>
            </a:r>
            <a:endParaRPr lang="en-IN" dirty="0"/>
          </a:p>
        </p:txBody>
      </p:sp>
      <p:pic>
        <p:nvPicPr>
          <p:cNvPr id="9" name="Picture 8" descr="A blue circle with text and words&#10;&#10;Description automatically generated">
            <a:extLst>
              <a:ext uri="{FF2B5EF4-FFF2-40B4-BE49-F238E27FC236}">
                <a16:creationId xmlns:a16="http://schemas.microsoft.com/office/drawing/2014/main" xmlns=""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3" name="Picture 2">
            <a:extLst>
              <a:ext uri="{FF2B5EF4-FFF2-40B4-BE49-F238E27FC236}">
                <a16:creationId xmlns:a16="http://schemas.microsoft.com/office/drawing/2014/main" xmlns="" id="{37C1D46A-BF2A-20B3-FD02-68B4F4BF6A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4" name="Rectangle 3"/>
          <p:cNvSpPr/>
          <p:nvPr/>
        </p:nvSpPr>
        <p:spPr>
          <a:xfrm>
            <a:off x="4451806" y="245794"/>
            <a:ext cx="5755520" cy="477054"/>
          </a:xfrm>
          <a:prstGeom prst="rect">
            <a:avLst/>
          </a:prstGeom>
        </p:spPr>
        <p:txBody>
          <a:bodyPr wrap="square">
            <a:spAutoFit/>
          </a:bodyPr>
          <a:lstStyle/>
          <a:p>
            <a:pPr lvl="0" algn="ctr"/>
            <a:r>
              <a:rPr lang="en-GB" sz="2500" b="1" dirty="0">
                <a:solidFill>
                  <a:srgbClr val="000000"/>
                </a:solidFill>
                <a:latin typeface="Arial"/>
                <a:ea typeface="Arial"/>
                <a:cs typeface="Arial"/>
                <a:sym typeface="Arial"/>
              </a:rPr>
              <a:t>History of Machine Learning (ML)</a:t>
            </a:r>
            <a:endParaRPr lang="en-GB" sz="2500" b="1" dirty="0">
              <a:solidFill>
                <a:srgbClr val="000000"/>
              </a:solidFill>
              <a:latin typeface="Arial"/>
              <a:ea typeface="Arial"/>
              <a:cs typeface="Arial"/>
              <a:sym typeface="Arial"/>
            </a:endParaRPr>
          </a:p>
        </p:txBody>
      </p:sp>
      <p:sp>
        <p:nvSpPr>
          <p:cNvPr id="2" name="Slide Number Placeholder 1"/>
          <p:cNvSpPr>
            <a:spLocks noGrp="1"/>
          </p:cNvSpPr>
          <p:nvPr>
            <p:ph type="sldNum" sz="quarter" idx="12"/>
          </p:nvPr>
        </p:nvSpPr>
        <p:spPr/>
        <p:txBody>
          <a:bodyPr/>
          <a:lstStyle/>
          <a:p>
            <a:fld id="{26510230-8DD5-4BA5-AB2D-CA30FC08F9D7}" type="slidenum">
              <a:rPr lang="en-IN" smtClean="0"/>
              <a:t>9</a:t>
            </a:fld>
            <a:endParaRPr lang="en-IN"/>
          </a:p>
        </p:txBody>
      </p:sp>
      <p:sp>
        <p:nvSpPr>
          <p:cNvPr id="10" name="Google Shape;171;p8"/>
          <p:cNvSpPr txBox="1"/>
          <p:nvPr/>
        </p:nvSpPr>
        <p:spPr>
          <a:xfrm>
            <a:off x="696286" y="1061804"/>
            <a:ext cx="10799428" cy="5170606"/>
          </a:xfrm>
          <a:prstGeom prst="rect">
            <a:avLst/>
          </a:prstGeom>
          <a:noFill/>
          <a:ln>
            <a:noFill/>
          </a:ln>
        </p:spPr>
        <p:txBody>
          <a:bodyPr spcFirstLastPara="1" wrap="square" lIns="91425" tIns="45700" rIns="91425" bIns="45700" anchor="t" anchorCtr="0">
            <a:spAutoFit/>
          </a:bodyPr>
          <a:lstStyle/>
          <a:p>
            <a:pPr lvl="0" algn="just"/>
            <a:r>
              <a:rPr lang="en-GB" sz="2200" b="1" dirty="0">
                <a:latin typeface="Times New Roman" panose="02020603050405020304" pitchFamily="18" charset="0"/>
                <a:ea typeface="+mj-ea"/>
                <a:cs typeface="Times New Roman" panose="02020603050405020304" pitchFamily="18" charset="0"/>
                <a:sym typeface="Arial"/>
              </a:rPr>
              <a:t>Machine Learning has </a:t>
            </a:r>
            <a:r>
              <a:rPr lang="en-GB" sz="2200" b="1" dirty="0" smtClean="0">
                <a:latin typeface="Times New Roman" panose="02020603050405020304" pitchFamily="18" charset="0"/>
                <a:ea typeface="+mj-ea"/>
                <a:cs typeface="Times New Roman" panose="02020603050405020304" pitchFamily="18" charset="0"/>
                <a:sym typeface="Arial"/>
              </a:rPr>
              <a:t>evolved </a:t>
            </a:r>
            <a:r>
              <a:rPr lang="en-GB" sz="2200" b="1" dirty="0">
                <a:latin typeface="Times New Roman" panose="02020603050405020304" pitchFamily="18" charset="0"/>
                <a:ea typeface="+mj-ea"/>
                <a:cs typeface="Times New Roman" panose="02020603050405020304" pitchFamily="18" charset="0"/>
                <a:sym typeface="Arial"/>
              </a:rPr>
              <a:t>over </a:t>
            </a:r>
            <a:r>
              <a:rPr lang="en-GB" sz="2200" b="1" dirty="0" smtClean="0">
                <a:latin typeface="Times New Roman" panose="02020603050405020304" pitchFamily="18" charset="0"/>
                <a:ea typeface="+mj-ea"/>
                <a:cs typeface="Times New Roman" panose="02020603050405020304" pitchFamily="18" charset="0"/>
                <a:sym typeface="Arial"/>
              </a:rPr>
              <a:t>decades, </a:t>
            </a:r>
            <a:r>
              <a:rPr lang="en-GB" sz="2200" b="1" dirty="0">
                <a:latin typeface="Times New Roman" panose="02020603050405020304" pitchFamily="18" charset="0"/>
                <a:ea typeface="+mj-ea"/>
                <a:cs typeface="Times New Roman" panose="02020603050405020304" pitchFamily="18" charset="0"/>
                <a:sym typeface="Arial"/>
              </a:rPr>
              <a:t>combining statistics, mathematics, and computer science. Here’s a quick timeline</a:t>
            </a:r>
            <a:r>
              <a:rPr lang="en-GB" sz="2200" b="1" dirty="0" smtClean="0">
                <a:latin typeface="Times New Roman" panose="02020603050405020304" pitchFamily="18" charset="0"/>
                <a:ea typeface="+mj-ea"/>
                <a:cs typeface="Times New Roman" panose="02020603050405020304" pitchFamily="18" charset="0"/>
                <a:sym typeface="Arial"/>
              </a:rPr>
              <a:t>:</a:t>
            </a:r>
          </a:p>
          <a:p>
            <a:pPr lvl="0" algn="just"/>
            <a:endParaRPr lang="en-GB" sz="2200" b="1" dirty="0">
              <a:latin typeface="Times New Roman" panose="02020603050405020304" pitchFamily="18" charset="0"/>
              <a:ea typeface="+mj-ea"/>
              <a:cs typeface="Times New Roman" panose="02020603050405020304" pitchFamily="18" charset="0"/>
              <a:sym typeface="Arial"/>
            </a:endParaRPr>
          </a:p>
          <a:p>
            <a:pPr lvl="0" algn="just"/>
            <a:r>
              <a:rPr lang="en-GB" sz="2200" b="1" dirty="0">
                <a:latin typeface="Times New Roman" panose="02020603050405020304" pitchFamily="18" charset="0"/>
                <a:ea typeface="+mj-ea"/>
                <a:cs typeface="Times New Roman" panose="02020603050405020304" pitchFamily="18" charset="0"/>
                <a:sym typeface="Arial"/>
              </a:rPr>
              <a:t>1950s – </a:t>
            </a:r>
            <a:r>
              <a:rPr lang="en-GB" sz="2200" b="1" dirty="0" smtClean="0">
                <a:latin typeface="Times New Roman" panose="02020603050405020304" pitchFamily="18" charset="0"/>
                <a:ea typeface="+mj-ea"/>
                <a:cs typeface="Times New Roman" panose="02020603050405020304" pitchFamily="18" charset="0"/>
                <a:sym typeface="Arial"/>
              </a:rPr>
              <a:t>Foundations</a:t>
            </a:r>
          </a:p>
          <a:p>
            <a:pPr lvl="0" algn="just"/>
            <a:endParaRPr lang="en-GB" sz="2200" b="1" dirty="0">
              <a:latin typeface="Times New Roman" panose="02020603050405020304" pitchFamily="18" charset="0"/>
              <a:ea typeface="+mj-ea"/>
              <a:cs typeface="Times New Roman" panose="02020603050405020304" pitchFamily="18" charset="0"/>
              <a:sym typeface="Arial"/>
            </a:endParaRPr>
          </a:p>
          <a:p>
            <a:pPr lvl="0" algn="just"/>
            <a:r>
              <a:rPr lang="en-GB" sz="2200" b="1" dirty="0">
                <a:latin typeface="Times New Roman" panose="02020603050405020304" pitchFamily="18" charset="0"/>
                <a:ea typeface="+mj-ea"/>
                <a:cs typeface="Times New Roman" panose="02020603050405020304" pitchFamily="18" charset="0"/>
                <a:sym typeface="Arial"/>
              </a:rPr>
              <a:t>Alan Turing (1950): </a:t>
            </a:r>
            <a:r>
              <a:rPr lang="en-GB" sz="2200" dirty="0">
                <a:latin typeface="Times New Roman" panose="02020603050405020304" pitchFamily="18" charset="0"/>
                <a:ea typeface="+mj-ea"/>
                <a:cs typeface="Times New Roman" panose="02020603050405020304" pitchFamily="18" charset="0"/>
                <a:sym typeface="Arial"/>
              </a:rPr>
              <a:t>Proposed the Turing Test to evaluate machine intelligence.</a:t>
            </a:r>
          </a:p>
          <a:p>
            <a:pPr lvl="0" algn="just"/>
            <a:r>
              <a:rPr lang="en-GB" sz="2200" b="1" dirty="0">
                <a:latin typeface="Times New Roman" panose="02020603050405020304" pitchFamily="18" charset="0"/>
                <a:ea typeface="+mj-ea"/>
                <a:cs typeface="Times New Roman" panose="02020603050405020304" pitchFamily="18" charset="0"/>
                <a:sym typeface="Arial"/>
              </a:rPr>
              <a:t>Arthur Samuel (1952): </a:t>
            </a:r>
            <a:r>
              <a:rPr lang="en-GB" sz="2200" dirty="0">
                <a:latin typeface="Times New Roman" panose="02020603050405020304" pitchFamily="18" charset="0"/>
                <a:ea typeface="+mj-ea"/>
                <a:cs typeface="Times New Roman" panose="02020603050405020304" pitchFamily="18" charset="0"/>
                <a:sym typeface="Arial"/>
              </a:rPr>
              <a:t>Developed a program to play checkers that improved as it played — one of the first ML programs.</a:t>
            </a:r>
          </a:p>
          <a:p>
            <a:pPr lvl="0" algn="just"/>
            <a:r>
              <a:rPr lang="en-GB" sz="2200" b="1" dirty="0">
                <a:latin typeface="Times New Roman" panose="02020603050405020304" pitchFamily="18" charset="0"/>
                <a:ea typeface="+mj-ea"/>
                <a:cs typeface="Times New Roman" panose="02020603050405020304" pitchFamily="18" charset="0"/>
                <a:sym typeface="Arial"/>
              </a:rPr>
              <a:t>Frank Rosenblatt (1957): </a:t>
            </a:r>
            <a:r>
              <a:rPr lang="en-GB" sz="2200" dirty="0">
                <a:latin typeface="Times New Roman" panose="02020603050405020304" pitchFamily="18" charset="0"/>
                <a:ea typeface="+mj-ea"/>
                <a:cs typeface="Times New Roman" panose="02020603050405020304" pitchFamily="18" charset="0"/>
                <a:sym typeface="Arial"/>
              </a:rPr>
              <a:t>Introduced the Perceptron, an early neural network.</a:t>
            </a:r>
          </a:p>
          <a:p>
            <a:pPr lvl="0" algn="just"/>
            <a:endParaRPr lang="en-GB" sz="2200" dirty="0">
              <a:latin typeface="Times New Roman" panose="02020603050405020304" pitchFamily="18" charset="0"/>
              <a:ea typeface="+mj-ea"/>
              <a:cs typeface="Times New Roman" panose="02020603050405020304" pitchFamily="18" charset="0"/>
              <a:sym typeface="Arial"/>
            </a:endParaRPr>
          </a:p>
          <a:p>
            <a:pPr lvl="0" algn="just"/>
            <a:r>
              <a:rPr lang="en-GB" sz="2200" b="1" dirty="0">
                <a:latin typeface="Times New Roman" panose="02020603050405020304" pitchFamily="18" charset="0"/>
                <a:ea typeface="+mj-ea"/>
                <a:cs typeface="Times New Roman" panose="02020603050405020304" pitchFamily="18" charset="0"/>
                <a:sym typeface="Arial"/>
              </a:rPr>
              <a:t>1960s–1970s – Early </a:t>
            </a:r>
            <a:r>
              <a:rPr lang="en-GB" sz="2200" b="1" dirty="0" smtClean="0">
                <a:latin typeface="Times New Roman" panose="02020603050405020304" pitchFamily="18" charset="0"/>
                <a:ea typeface="+mj-ea"/>
                <a:cs typeface="Times New Roman" panose="02020603050405020304" pitchFamily="18" charset="0"/>
                <a:sym typeface="Arial"/>
              </a:rPr>
              <a:t>AI</a:t>
            </a:r>
          </a:p>
          <a:p>
            <a:pPr lvl="0" algn="just"/>
            <a:endParaRPr lang="en-GB" sz="2200" b="1" dirty="0">
              <a:latin typeface="Times New Roman" panose="02020603050405020304" pitchFamily="18" charset="0"/>
              <a:ea typeface="+mj-ea"/>
              <a:cs typeface="Times New Roman" panose="02020603050405020304" pitchFamily="18" charset="0"/>
              <a:sym typeface="Arial"/>
            </a:endParaRPr>
          </a:p>
          <a:p>
            <a:pPr marL="342900" lvl="0" indent="-342900" algn="just">
              <a:buFont typeface="Wingdings" panose="05000000000000000000" pitchFamily="2" charset="2"/>
              <a:buChar char="Ø"/>
            </a:pPr>
            <a:r>
              <a:rPr lang="en-GB" sz="2200" dirty="0">
                <a:latin typeface="Times New Roman" panose="02020603050405020304" pitchFamily="18" charset="0"/>
                <a:ea typeface="+mj-ea"/>
                <a:cs typeface="Times New Roman" panose="02020603050405020304" pitchFamily="18" charset="0"/>
                <a:sym typeface="Arial"/>
              </a:rPr>
              <a:t>Introduction of statistical models and pattern recognition.</a:t>
            </a:r>
          </a:p>
          <a:p>
            <a:pPr marL="342900" lvl="0" indent="-342900" algn="just">
              <a:buFont typeface="Wingdings" panose="05000000000000000000" pitchFamily="2" charset="2"/>
              <a:buChar char="Ø"/>
            </a:pPr>
            <a:r>
              <a:rPr lang="en-GB" sz="2200" dirty="0">
                <a:latin typeface="Times New Roman" panose="02020603050405020304" pitchFamily="18" charset="0"/>
                <a:ea typeface="+mj-ea"/>
                <a:cs typeface="Times New Roman" panose="02020603050405020304" pitchFamily="18" charset="0"/>
                <a:sym typeface="Arial"/>
              </a:rPr>
              <a:t>Nearest Neighbor algorithms developed.</a:t>
            </a:r>
          </a:p>
          <a:p>
            <a:pPr marL="342900" lvl="0" indent="-342900" algn="just">
              <a:buFont typeface="Wingdings" panose="05000000000000000000" pitchFamily="2" charset="2"/>
              <a:buChar char="Ø"/>
            </a:pPr>
            <a:r>
              <a:rPr lang="en-GB" sz="2200" dirty="0">
                <a:latin typeface="Times New Roman" panose="02020603050405020304" pitchFamily="18" charset="0"/>
                <a:ea typeface="+mj-ea"/>
                <a:cs typeface="Times New Roman" panose="02020603050405020304" pitchFamily="18" charset="0"/>
                <a:sym typeface="Arial"/>
              </a:rPr>
              <a:t>Limited computational power restricted progress.</a:t>
            </a:r>
          </a:p>
        </p:txBody>
      </p:sp>
    </p:spTree>
    <p:extLst>
      <p:ext uri="{BB962C8B-B14F-4D97-AF65-F5344CB8AC3E}">
        <p14:creationId xmlns:p14="http://schemas.microsoft.com/office/powerpoint/2010/main" val="14859892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noAutofit/>
          </a:bodyPr>
          <a:lstStyle/>
          <a:p>
            <a:r>
              <a:rPr lang="en-GB" sz="2800" dirty="0" smtClean="0"/>
              <a:t/>
            </a:r>
            <a:br>
              <a:rPr lang="en-GB" sz="2800" dirty="0" smtClean="0"/>
            </a:br>
            <a:endParaRPr lang="en-IN" sz="2400" dirty="0">
              <a:latin typeface="Calibri" panose="020F0502020204030204" pitchFamily="34" charset="0"/>
              <a:cs typeface="Calibri" panose="020F0502020204030204" pitchFamily="34" charset="0"/>
            </a:endParaRPr>
          </a:p>
        </p:txBody>
      </p:sp>
      <p:sp>
        <p:nvSpPr>
          <p:cNvPr id="6" name="Footer Placeholder 5">
            <a:extLst>
              <a:ext uri="{FF2B5EF4-FFF2-40B4-BE49-F238E27FC236}">
                <a16:creationId xmlns:a16="http://schemas.microsoft.com/office/drawing/2014/main" xmlns="" id="{0AC4C0B8-55BF-7607-C08F-4F93C85CCC8F}"/>
              </a:ext>
            </a:extLst>
          </p:cNvPr>
          <p:cNvSpPr>
            <a:spLocks noGrp="1"/>
          </p:cNvSpPr>
          <p:nvPr>
            <p:ph type="ftr" sz="quarter" idx="11"/>
          </p:nvPr>
        </p:nvSpPr>
        <p:spPr>
          <a:xfrm>
            <a:off x="2243139" y="6356350"/>
            <a:ext cx="8186736" cy="365125"/>
          </a:xfrm>
        </p:spPr>
        <p:txBody>
          <a:bodyPr/>
          <a:lstStyle/>
          <a:p>
            <a:r>
              <a:rPr lang="en-GB" sz="1400" smtClean="0"/>
              <a:t>Galgotias-Student Centered Active Learning Ecosystem &amp; Date 12-08-2026 </a:t>
            </a:r>
            <a:endParaRPr lang="en-IN" dirty="0"/>
          </a:p>
        </p:txBody>
      </p:sp>
      <p:pic>
        <p:nvPicPr>
          <p:cNvPr id="9" name="Picture 8" descr="A blue circle with text and words&#10;&#10;Description automatically generated">
            <a:extLst>
              <a:ext uri="{FF2B5EF4-FFF2-40B4-BE49-F238E27FC236}">
                <a16:creationId xmlns:a16="http://schemas.microsoft.com/office/drawing/2014/main" xmlns=""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3" name="Picture 2">
            <a:extLst>
              <a:ext uri="{FF2B5EF4-FFF2-40B4-BE49-F238E27FC236}">
                <a16:creationId xmlns:a16="http://schemas.microsoft.com/office/drawing/2014/main" xmlns="" id="{37C1D46A-BF2A-20B3-FD02-68B4F4BF6A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4" name="Rectangle 3"/>
          <p:cNvSpPr/>
          <p:nvPr/>
        </p:nvSpPr>
        <p:spPr>
          <a:xfrm>
            <a:off x="4451806" y="245794"/>
            <a:ext cx="5755520" cy="477054"/>
          </a:xfrm>
          <a:prstGeom prst="rect">
            <a:avLst/>
          </a:prstGeom>
        </p:spPr>
        <p:txBody>
          <a:bodyPr wrap="square">
            <a:spAutoFit/>
          </a:bodyPr>
          <a:lstStyle/>
          <a:p>
            <a:pPr lvl="0" algn="ctr"/>
            <a:r>
              <a:rPr lang="en-GB" sz="2500" b="1" dirty="0">
                <a:solidFill>
                  <a:srgbClr val="000000"/>
                </a:solidFill>
                <a:latin typeface="Arial"/>
                <a:ea typeface="Arial"/>
                <a:cs typeface="Arial"/>
                <a:sym typeface="Arial"/>
              </a:rPr>
              <a:t>History of Machine Learning (ML)</a:t>
            </a:r>
            <a:endParaRPr lang="en-GB" sz="2500" b="1" dirty="0">
              <a:solidFill>
                <a:srgbClr val="000000"/>
              </a:solidFill>
              <a:latin typeface="Arial"/>
              <a:ea typeface="Arial"/>
              <a:cs typeface="Arial"/>
              <a:sym typeface="Arial"/>
            </a:endParaRPr>
          </a:p>
        </p:txBody>
      </p:sp>
      <p:sp>
        <p:nvSpPr>
          <p:cNvPr id="2" name="Slide Number Placeholder 1"/>
          <p:cNvSpPr>
            <a:spLocks noGrp="1"/>
          </p:cNvSpPr>
          <p:nvPr>
            <p:ph type="sldNum" sz="quarter" idx="12"/>
          </p:nvPr>
        </p:nvSpPr>
        <p:spPr/>
        <p:txBody>
          <a:bodyPr/>
          <a:lstStyle/>
          <a:p>
            <a:fld id="{26510230-8DD5-4BA5-AB2D-CA30FC08F9D7}" type="slidenum">
              <a:rPr lang="en-IN" smtClean="0"/>
              <a:t>10</a:t>
            </a:fld>
            <a:endParaRPr lang="en-IN"/>
          </a:p>
        </p:txBody>
      </p:sp>
      <p:sp>
        <p:nvSpPr>
          <p:cNvPr id="10" name="Google Shape;171;p8"/>
          <p:cNvSpPr txBox="1"/>
          <p:nvPr/>
        </p:nvSpPr>
        <p:spPr>
          <a:xfrm>
            <a:off x="696286" y="1066476"/>
            <a:ext cx="10799428" cy="4493497"/>
          </a:xfrm>
          <a:prstGeom prst="rect">
            <a:avLst/>
          </a:prstGeom>
          <a:noFill/>
          <a:ln>
            <a:noFill/>
          </a:ln>
        </p:spPr>
        <p:txBody>
          <a:bodyPr spcFirstLastPara="1" wrap="square" lIns="91425" tIns="45700" rIns="91425" bIns="45700" anchor="t" anchorCtr="0">
            <a:spAutoFit/>
          </a:bodyPr>
          <a:lstStyle/>
          <a:p>
            <a:pPr lvl="0" algn="just"/>
            <a:r>
              <a:rPr lang="en-GB" sz="2200" b="1" dirty="0">
                <a:latin typeface="Times New Roman" panose="02020603050405020304" pitchFamily="18" charset="0"/>
                <a:ea typeface="+mj-ea"/>
                <a:cs typeface="Times New Roman" panose="02020603050405020304" pitchFamily="18" charset="0"/>
                <a:sym typeface="Arial"/>
              </a:rPr>
              <a:t>1980s – Rise of Algorithms</a:t>
            </a:r>
          </a:p>
          <a:p>
            <a:pPr marL="342900" lvl="0" indent="-342900" algn="just">
              <a:buFont typeface="Wingdings" panose="05000000000000000000" pitchFamily="2" charset="2"/>
              <a:buChar char="Ø"/>
            </a:pPr>
            <a:r>
              <a:rPr lang="en-GB" sz="2200" dirty="0" smtClean="0">
                <a:latin typeface="Times New Roman" panose="02020603050405020304" pitchFamily="18" charset="0"/>
                <a:ea typeface="+mj-ea"/>
                <a:cs typeface="Times New Roman" panose="02020603050405020304" pitchFamily="18" charset="0"/>
                <a:sym typeface="Arial"/>
              </a:rPr>
              <a:t>Back propagation </a:t>
            </a:r>
            <a:r>
              <a:rPr lang="en-GB" sz="2200" dirty="0">
                <a:latin typeface="Times New Roman" panose="02020603050405020304" pitchFamily="18" charset="0"/>
                <a:ea typeface="+mj-ea"/>
                <a:cs typeface="Times New Roman" panose="02020603050405020304" pitchFamily="18" charset="0"/>
                <a:sym typeface="Arial"/>
              </a:rPr>
              <a:t>rediscovered (important for training neural networks).</a:t>
            </a:r>
          </a:p>
          <a:p>
            <a:pPr marL="342900" lvl="0" indent="-342900" algn="just">
              <a:buFont typeface="Wingdings" panose="05000000000000000000" pitchFamily="2" charset="2"/>
              <a:buChar char="Ø"/>
            </a:pPr>
            <a:r>
              <a:rPr lang="en-GB" sz="2200" dirty="0">
                <a:latin typeface="Times New Roman" panose="02020603050405020304" pitchFamily="18" charset="0"/>
                <a:ea typeface="+mj-ea"/>
                <a:cs typeface="Times New Roman" panose="02020603050405020304" pitchFamily="18" charset="0"/>
                <a:sym typeface="Arial"/>
              </a:rPr>
              <a:t>Development of decision trees and expert systems.</a:t>
            </a:r>
          </a:p>
          <a:p>
            <a:pPr marL="342900" lvl="0" indent="-342900" algn="just">
              <a:buFont typeface="Wingdings" panose="05000000000000000000" pitchFamily="2" charset="2"/>
              <a:buChar char="Ø"/>
            </a:pPr>
            <a:r>
              <a:rPr lang="en-GB" sz="2200" dirty="0">
                <a:latin typeface="Times New Roman" panose="02020603050405020304" pitchFamily="18" charset="0"/>
                <a:ea typeface="+mj-ea"/>
                <a:cs typeface="Times New Roman" panose="02020603050405020304" pitchFamily="18" charset="0"/>
                <a:sym typeface="Arial"/>
              </a:rPr>
              <a:t>Symbolic AI vs. statistical learning approaches debated</a:t>
            </a:r>
            <a:r>
              <a:rPr lang="en-GB" sz="2200" dirty="0" smtClean="0">
                <a:latin typeface="Times New Roman" panose="02020603050405020304" pitchFamily="18" charset="0"/>
                <a:ea typeface="+mj-ea"/>
                <a:cs typeface="Times New Roman" panose="02020603050405020304" pitchFamily="18" charset="0"/>
                <a:sym typeface="Arial"/>
              </a:rPr>
              <a:t>.</a:t>
            </a:r>
          </a:p>
          <a:p>
            <a:pPr lvl="0" algn="just"/>
            <a:endParaRPr lang="en-GB" sz="2200" dirty="0">
              <a:latin typeface="Times New Roman" panose="02020603050405020304" pitchFamily="18" charset="0"/>
              <a:ea typeface="+mj-ea"/>
              <a:cs typeface="Times New Roman" panose="02020603050405020304" pitchFamily="18" charset="0"/>
              <a:sym typeface="Arial"/>
            </a:endParaRPr>
          </a:p>
          <a:p>
            <a:pPr lvl="0" algn="just"/>
            <a:r>
              <a:rPr lang="en-GB" sz="2200" b="1" dirty="0">
                <a:latin typeface="Times New Roman" panose="02020603050405020304" pitchFamily="18" charset="0"/>
                <a:ea typeface="+mj-ea"/>
                <a:cs typeface="Times New Roman" panose="02020603050405020304" pitchFamily="18" charset="0"/>
                <a:sym typeface="Arial"/>
              </a:rPr>
              <a:t>1990s – Data-driven ML</a:t>
            </a:r>
          </a:p>
          <a:p>
            <a:pPr marL="342900" lvl="0" indent="-342900" algn="just">
              <a:buFont typeface="Wingdings" panose="05000000000000000000" pitchFamily="2" charset="2"/>
              <a:buChar char="Ø"/>
            </a:pPr>
            <a:r>
              <a:rPr lang="en-GB" sz="2200" dirty="0">
                <a:latin typeface="Times New Roman" panose="02020603050405020304" pitchFamily="18" charset="0"/>
                <a:ea typeface="+mj-ea"/>
                <a:cs typeface="Times New Roman" panose="02020603050405020304" pitchFamily="18" charset="0"/>
                <a:sym typeface="Arial"/>
              </a:rPr>
              <a:t>Emergence of Support Vector Machines (SVMs).</a:t>
            </a:r>
          </a:p>
          <a:p>
            <a:pPr marL="342900" lvl="0" indent="-342900" algn="just">
              <a:buFont typeface="Wingdings" panose="05000000000000000000" pitchFamily="2" charset="2"/>
              <a:buChar char="Ø"/>
            </a:pPr>
            <a:r>
              <a:rPr lang="en-GB" sz="2200" dirty="0">
                <a:latin typeface="Times New Roman" panose="02020603050405020304" pitchFamily="18" charset="0"/>
                <a:ea typeface="+mj-ea"/>
                <a:cs typeface="Times New Roman" panose="02020603050405020304" pitchFamily="18" charset="0"/>
                <a:sym typeface="Arial"/>
              </a:rPr>
              <a:t>Probabilistic graphical models (e.g., Bayesian networks).</a:t>
            </a:r>
          </a:p>
          <a:p>
            <a:pPr marL="342900" lvl="0" indent="-342900" algn="just">
              <a:buFont typeface="Wingdings" panose="05000000000000000000" pitchFamily="2" charset="2"/>
              <a:buChar char="Ø"/>
            </a:pPr>
            <a:r>
              <a:rPr lang="en-GB" sz="2200" dirty="0">
                <a:latin typeface="Times New Roman" panose="02020603050405020304" pitchFamily="18" charset="0"/>
                <a:ea typeface="+mj-ea"/>
                <a:cs typeface="Times New Roman" panose="02020603050405020304" pitchFamily="18" charset="0"/>
                <a:sym typeface="Arial"/>
              </a:rPr>
              <a:t>ML starts being applied in real-world domains (finance, medicine, speech recognition</a:t>
            </a:r>
            <a:r>
              <a:rPr lang="en-GB" sz="2200" dirty="0" smtClean="0">
                <a:latin typeface="Times New Roman" panose="02020603050405020304" pitchFamily="18" charset="0"/>
                <a:ea typeface="+mj-ea"/>
                <a:cs typeface="Times New Roman" panose="02020603050405020304" pitchFamily="18" charset="0"/>
                <a:sym typeface="Arial"/>
              </a:rPr>
              <a:t>).</a:t>
            </a:r>
          </a:p>
          <a:p>
            <a:pPr marL="342900" lvl="0" indent="-342900" algn="just">
              <a:buFont typeface="Wingdings" panose="05000000000000000000" pitchFamily="2" charset="2"/>
              <a:buChar char="Ø"/>
            </a:pPr>
            <a:endParaRPr lang="en-GB" sz="2200" dirty="0">
              <a:latin typeface="Times New Roman" panose="02020603050405020304" pitchFamily="18" charset="0"/>
              <a:ea typeface="+mj-ea"/>
              <a:cs typeface="Times New Roman" panose="02020603050405020304" pitchFamily="18" charset="0"/>
              <a:sym typeface="Arial"/>
            </a:endParaRPr>
          </a:p>
          <a:p>
            <a:pPr lvl="0" algn="just"/>
            <a:r>
              <a:rPr lang="en-GB" sz="2200" b="1" dirty="0">
                <a:latin typeface="Times New Roman" panose="02020603050405020304" pitchFamily="18" charset="0"/>
                <a:ea typeface="+mj-ea"/>
                <a:cs typeface="Times New Roman" panose="02020603050405020304" pitchFamily="18" charset="0"/>
                <a:sym typeface="Arial"/>
              </a:rPr>
              <a:t>2000s – Big Data Era</a:t>
            </a:r>
          </a:p>
          <a:p>
            <a:pPr marL="342900" lvl="0" indent="-342900" algn="just">
              <a:buFont typeface="Wingdings" panose="05000000000000000000" pitchFamily="2" charset="2"/>
              <a:buChar char="Ø"/>
            </a:pPr>
            <a:r>
              <a:rPr lang="en-GB" sz="2200" dirty="0">
                <a:latin typeface="Times New Roman" panose="02020603050405020304" pitchFamily="18" charset="0"/>
                <a:ea typeface="+mj-ea"/>
                <a:cs typeface="Times New Roman" panose="02020603050405020304" pitchFamily="18" charset="0"/>
                <a:sym typeface="Arial"/>
              </a:rPr>
              <a:t>With the internet, vast amounts of data became available.</a:t>
            </a:r>
          </a:p>
          <a:p>
            <a:pPr marL="342900" lvl="0" indent="-342900" algn="just">
              <a:buFont typeface="Wingdings" panose="05000000000000000000" pitchFamily="2" charset="2"/>
              <a:buChar char="Ø"/>
            </a:pPr>
            <a:r>
              <a:rPr lang="en-GB" sz="2200" dirty="0">
                <a:latin typeface="Times New Roman" panose="02020603050405020304" pitchFamily="18" charset="0"/>
                <a:ea typeface="+mj-ea"/>
                <a:cs typeface="Times New Roman" panose="02020603050405020304" pitchFamily="18" charset="0"/>
                <a:sym typeface="Arial"/>
              </a:rPr>
              <a:t>Ensemble methods like Random Forests and Gradient Boosting became popular.</a:t>
            </a:r>
          </a:p>
        </p:txBody>
      </p:sp>
    </p:spTree>
    <p:extLst>
      <p:ext uri="{BB962C8B-B14F-4D97-AF65-F5344CB8AC3E}">
        <p14:creationId xmlns:p14="http://schemas.microsoft.com/office/powerpoint/2010/main" val="317482038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noAutofit/>
          </a:bodyPr>
          <a:lstStyle/>
          <a:p>
            <a:r>
              <a:rPr lang="en-GB" sz="2800" dirty="0" smtClean="0"/>
              <a:t/>
            </a:r>
            <a:br>
              <a:rPr lang="en-GB" sz="2800" dirty="0" smtClean="0"/>
            </a:br>
            <a:endParaRPr lang="en-IN" sz="2400" dirty="0">
              <a:latin typeface="Calibri" panose="020F0502020204030204" pitchFamily="34" charset="0"/>
              <a:cs typeface="Calibri" panose="020F0502020204030204" pitchFamily="34" charset="0"/>
            </a:endParaRPr>
          </a:p>
        </p:txBody>
      </p:sp>
      <p:sp>
        <p:nvSpPr>
          <p:cNvPr id="6" name="Footer Placeholder 5">
            <a:extLst>
              <a:ext uri="{FF2B5EF4-FFF2-40B4-BE49-F238E27FC236}">
                <a16:creationId xmlns:a16="http://schemas.microsoft.com/office/drawing/2014/main" xmlns="" id="{0AC4C0B8-55BF-7607-C08F-4F93C85CCC8F}"/>
              </a:ext>
            </a:extLst>
          </p:cNvPr>
          <p:cNvSpPr>
            <a:spLocks noGrp="1"/>
          </p:cNvSpPr>
          <p:nvPr>
            <p:ph type="ftr" sz="quarter" idx="11"/>
          </p:nvPr>
        </p:nvSpPr>
        <p:spPr>
          <a:xfrm>
            <a:off x="2243139" y="6356350"/>
            <a:ext cx="8186736" cy="365125"/>
          </a:xfrm>
        </p:spPr>
        <p:txBody>
          <a:bodyPr/>
          <a:lstStyle/>
          <a:p>
            <a:r>
              <a:rPr lang="en-GB" sz="1400" smtClean="0"/>
              <a:t>Galgotias-Student Centered Active Learning Ecosystem &amp; Date 12-08-2026 </a:t>
            </a:r>
            <a:endParaRPr lang="en-IN" dirty="0"/>
          </a:p>
        </p:txBody>
      </p:sp>
      <p:pic>
        <p:nvPicPr>
          <p:cNvPr id="9" name="Picture 8" descr="A blue circle with text and words&#10;&#10;Description automatically generated">
            <a:extLst>
              <a:ext uri="{FF2B5EF4-FFF2-40B4-BE49-F238E27FC236}">
                <a16:creationId xmlns:a16="http://schemas.microsoft.com/office/drawing/2014/main" xmlns=""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3" name="Picture 2">
            <a:extLst>
              <a:ext uri="{FF2B5EF4-FFF2-40B4-BE49-F238E27FC236}">
                <a16:creationId xmlns:a16="http://schemas.microsoft.com/office/drawing/2014/main" xmlns="" id="{37C1D46A-BF2A-20B3-FD02-68B4F4BF6A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4" name="Rectangle 3"/>
          <p:cNvSpPr/>
          <p:nvPr/>
        </p:nvSpPr>
        <p:spPr>
          <a:xfrm>
            <a:off x="4451806" y="245794"/>
            <a:ext cx="5755520" cy="477054"/>
          </a:xfrm>
          <a:prstGeom prst="rect">
            <a:avLst/>
          </a:prstGeom>
        </p:spPr>
        <p:txBody>
          <a:bodyPr wrap="square">
            <a:spAutoFit/>
          </a:bodyPr>
          <a:lstStyle/>
          <a:p>
            <a:pPr lvl="0" algn="ctr"/>
            <a:r>
              <a:rPr lang="en-GB" sz="2500" b="1" dirty="0">
                <a:solidFill>
                  <a:srgbClr val="000000"/>
                </a:solidFill>
                <a:latin typeface="Arial"/>
                <a:ea typeface="Arial"/>
                <a:cs typeface="Arial"/>
                <a:sym typeface="Arial"/>
              </a:rPr>
              <a:t>History of Machine Learning (ML)</a:t>
            </a:r>
            <a:endParaRPr lang="en-GB" sz="2500" b="1" dirty="0">
              <a:solidFill>
                <a:srgbClr val="000000"/>
              </a:solidFill>
              <a:latin typeface="Arial"/>
              <a:ea typeface="Arial"/>
              <a:cs typeface="Arial"/>
              <a:sym typeface="Arial"/>
            </a:endParaRPr>
          </a:p>
        </p:txBody>
      </p:sp>
      <p:sp>
        <p:nvSpPr>
          <p:cNvPr id="2" name="Slide Number Placeholder 1"/>
          <p:cNvSpPr>
            <a:spLocks noGrp="1"/>
          </p:cNvSpPr>
          <p:nvPr>
            <p:ph type="sldNum" sz="quarter" idx="12"/>
          </p:nvPr>
        </p:nvSpPr>
        <p:spPr/>
        <p:txBody>
          <a:bodyPr/>
          <a:lstStyle/>
          <a:p>
            <a:fld id="{26510230-8DD5-4BA5-AB2D-CA30FC08F9D7}" type="slidenum">
              <a:rPr lang="en-IN" smtClean="0"/>
              <a:t>11</a:t>
            </a:fld>
            <a:endParaRPr lang="en-IN"/>
          </a:p>
        </p:txBody>
      </p:sp>
      <p:sp>
        <p:nvSpPr>
          <p:cNvPr id="11" name="Google Shape;190;p30"/>
          <p:cNvSpPr txBox="1">
            <a:spLocks/>
          </p:cNvSpPr>
          <p:nvPr/>
        </p:nvSpPr>
        <p:spPr>
          <a:xfrm>
            <a:off x="632707" y="1066476"/>
            <a:ext cx="10515600" cy="5077838"/>
          </a:xfrm>
          <a:prstGeom prst="rect">
            <a:avLst/>
          </a:prstGeom>
          <a:noFill/>
          <a:ln>
            <a:noFill/>
          </a:ln>
        </p:spPr>
        <p:txBody>
          <a:bodyPr spcFirstLastPara="1" vert="horz" wrap="square" lIns="91425" tIns="45700" rIns="91425" bIns="45700"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14300" algn="just">
              <a:lnSpc>
                <a:spcPct val="110000"/>
              </a:lnSpc>
              <a:buSzPct val="75630"/>
            </a:pPr>
            <a:r>
              <a:rPr lang="en-US" sz="2200" b="1" dirty="0">
                <a:latin typeface="Times New Roman" panose="02020603050405020304" pitchFamily="18" charset="0"/>
                <a:ea typeface="+mj-ea"/>
                <a:cs typeface="Times New Roman" panose="02020603050405020304" pitchFamily="18" charset="0"/>
              </a:rPr>
              <a:t>2010s – Deep Learning Revolution</a:t>
            </a:r>
          </a:p>
          <a:p>
            <a:pPr marL="457200" indent="-342900" algn="just">
              <a:lnSpc>
                <a:spcPct val="100000"/>
              </a:lnSpc>
              <a:spcBef>
                <a:spcPts val="0"/>
              </a:spcBef>
              <a:buSzPct val="75630"/>
              <a:buFont typeface="Wingdings" panose="05000000000000000000" pitchFamily="2" charset="2"/>
              <a:buChar char="Ø"/>
            </a:pPr>
            <a:r>
              <a:rPr lang="en-US" sz="2200" dirty="0">
                <a:latin typeface="Times New Roman" panose="02020603050405020304" pitchFamily="18" charset="0"/>
                <a:ea typeface="+mj-ea"/>
                <a:cs typeface="Times New Roman" panose="02020603050405020304" pitchFamily="18" charset="0"/>
              </a:rPr>
              <a:t>2012: </a:t>
            </a:r>
            <a:r>
              <a:rPr lang="en-US" sz="2200" dirty="0" err="1">
                <a:latin typeface="Times New Roman" panose="02020603050405020304" pitchFamily="18" charset="0"/>
                <a:ea typeface="+mj-ea"/>
                <a:cs typeface="Times New Roman" panose="02020603050405020304" pitchFamily="18" charset="0"/>
              </a:rPr>
              <a:t>AlexNet</a:t>
            </a:r>
            <a:r>
              <a:rPr lang="en-US" sz="2200" dirty="0">
                <a:latin typeface="Times New Roman" panose="02020603050405020304" pitchFamily="18" charset="0"/>
                <a:ea typeface="+mj-ea"/>
                <a:cs typeface="Times New Roman" panose="02020603050405020304" pitchFamily="18" charset="0"/>
              </a:rPr>
              <a:t> (Deep Neural Network) won </a:t>
            </a:r>
            <a:r>
              <a:rPr lang="en-US" sz="2200" dirty="0" err="1">
                <a:latin typeface="Times New Roman" panose="02020603050405020304" pitchFamily="18" charset="0"/>
                <a:ea typeface="+mj-ea"/>
                <a:cs typeface="Times New Roman" panose="02020603050405020304" pitchFamily="18" charset="0"/>
              </a:rPr>
              <a:t>ImageNet</a:t>
            </a:r>
            <a:r>
              <a:rPr lang="en-US" sz="2200" dirty="0">
                <a:latin typeface="Times New Roman" panose="02020603050405020304" pitchFamily="18" charset="0"/>
                <a:ea typeface="+mj-ea"/>
                <a:cs typeface="Times New Roman" panose="02020603050405020304" pitchFamily="18" charset="0"/>
              </a:rPr>
              <a:t> challenge → huge leap in computer vision.</a:t>
            </a:r>
          </a:p>
          <a:p>
            <a:pPr marL="457200" indent="-342900" algn="just">
              <a:lnSpc>
                <a:spcPct val="100000"/>
              </a:lnSpc>
              <a:spcBef>
                <a:spcPts val="0"/>
              </a:spcBef>
              <a:buSzPct val="75630"/>
              <a:buFont typeface="Wingdings" panose="05000000000000000000" pitchFamily="2" charset="2"/>
              <a:buChar char="Ø"/>
            </a:pPr>
            <a:r>
              <a:rPr lang="en-US" sz="2200" dirty="0">
                <a:latin typeface="Times New Roman" panose="02020603050405020304" pitchFamily="18" charset="0"/>
                <a:ea typeface="+mj-ea"/>
                <a:cs typeface="Times New Roman" panose="02020603050405020304" pitchFamily="18" charset="0"/>
              </a:rPr>
              <a:t>Breakthroughs in NLP, speech, reinforcement learning (e.g., Google </a:t>
            </a:r>
            <a:r>
              <a:rPr lang="en-US" sz="2200" dirty="0" err="1">
                <a:latin typeface="Times New Roman" panose="02020603050405020304" pitchFamily="18" charset="0"/>
                <a:ea typeface="+mj-ea"/>
                <a:cs typeface="Times New Roman" panose="02020603050405020304" pitchFamily="18" charset="0"/>
              </a:rPr>
              <a:t>DeepMind’s</a:t>
            </a:r>
            <a:r>
              <a:rPr lang="en-US" sz="2200" dirty="0">
                <a:latin typeface="Times New Roman" panose="02020603050405020304" pitchFamily="18" charset="0"/>
                <a:ea typeface="+mj-ea"/>
                <a:cs typeface="Times New Roman" panose="02020603050405020304" pitchFamily="18" charset="0"/>
              </a:rPr>
              <a:t> </a:t>
            </a:r>
            <a:r>
              <a:rPr lang="en-US" sz="2200" dirty="0" err="1">
                <a:latin typeface="Times New Roman" panose="02020603050405020304" pitchFamily="18" charset="0"/>
                <a:ea typeface="+mj-ea"/>
                <a:cs typeface="Times New Roman" panose="02020603050405020304" pitchFamily="18" charset="0"/>
              </a:rPr>
              <a:t>AlphaGo</a:t>
            </a:r>
            <a:r>
              <a:rPr lang="en-US" sz="2200" dirty="0" smtClean="0">
                <a:latin typeface="Times New Roman" panose="02020603050405020304" pitchFamily="18" charset="0"/>
                <a:ea typeface="+mj-ea"/>
                <a:cs typeface="Times New Roman" panose="02020603050405020304" pitchFamily="18" charset="0"/>
              </a:rPr>
              <a:t>).</a:t>
            </a:r>
          </a:p>
          <a:p>
            <a:pPr marL="457200" indent="-342900" algn="just">
              <a:lnSpc>
                <a:spcPct val="100000"/>
              </a:lnSpc>
              <a:spcBef>
                <a:spcPts val="0"/>
              </a:spcBef>
              <a:buSzPct val="75630"/>
              <a:buFont typeface="Wingdings" panose="05000000000000000000" pitchFamily="2" charset="2"/>
              <a:buChar char="Ø"/>
            </a:pPr>
            <a:endParaRPr lang="en-US" sz="2200" dirty="0">
              <a:latin typeface="Times New Roman" panose="02020603050405020304" pitchFamily="18" charset="0"/>
              <a:ea typeface="+mj-ea"/>
              <a:cs typeface="Times New Roman" panose="02020603050405020304" pitchFamily="18" charset="0"/>
            </a:endParaRPr>
          </a:p>
          <a:p>
            <a:pPr marL="114300" algn="just">
              <a:lnSpc>
                <a:spcPct val="110000"/>
              </a:lnSpc>
              <a:buSzPct val="75630"/>
            </a:pPr>
            <a:r>
              <a:rPr lang="en-US" sz="2200" b="1" dirty="0">
                <a:latin typeface="Times New Roman" panose="02020603050405020304" pitchFamily="18" charset="0"/>
                <a:ea typeface="+mj-ea"/>
                <a:cs typeface="Times New Roman" panose="02020603050405020304" pitchFamily="18" charset="0"/>
              </a:rPr>
              <a:t>2020s – Current Trends</a:t>
            </a:r>
          </a:p>
          <a:p>
            <a:pPr marL="457200" indent="-342900" algn="just">
              <a:lnSpc>
                <a:spcPct val="100000"/>
              </a:lnSpc>
              <a:spcBef>
                <a:spcPts val="0"/>
              </a:spcBef>
              <a:buSzPct val="75630"/>
              <a:buFont typeface="Wingdings" panose="05000000000000000000" pitchFamily="2" charset="2"/>
              <a:buChar char="Ø"/>
            </a:pPr>
            <a:r>
              <a:rPr lang="en-US" sz="2200" dirty="0">
                <a:latin typeface="Times New Roman" panose="02020603050405020304" pitchFamily="18" charset="0"/>
                <a:ea typeface="+mj-ea"/>
                <a:cs typeface="Times New Roman" panose="02020603050405020304" pitchFamily="18" charset="0"/>
              </a:rPr>
              <a:t>Transformers (</a:t>
            </a:r>
            <a:r>
              <a:rPr lang="en-US" sz="2200" dirty="0">
                <a:latin typeface="Times New Roman" panose="02020603050405020304" pitchFamily="18" charset="0"/>
                <a:ea typeface="+mj-ea"/>
                <a:cs typeface="Times New Roman" panose="02020603050405020304" pitchFamily="18" charset="0"/>
              </a:rPr>
              <a:t>BERT(</a:t>
            </a:r>
            <a:r>
              <a:rPr lang="en-IN" sz="2200" dirty="0">
                <a:latin typeface="Times New Roman" panose="02020603050405020304" pitchFamily="18" charset="0"/>
                <a:ea typeface="+mj-ea"/>
                <a:cs typeface="Times New Roman" panose="02020603050405020304" pitchFamily="18" charset="0"/>
              </a:rPr>
              <a:t>Bidirectional Encoder Representations from Transformers</a:t>
            </a:r>
            <a:r>
              <a:rPr lang="en-US" sz="2200" dirty="0" smtClean="0">
                <a:latin typeface="Times New Roman" panose="02020603050405020304" pitchFamily="18" charset="0"/>
                <a:ea typeface="+mj-ea"/>
                <a:cs typeface="Times New Roman" panose="02020603050405020304" pitchFamily="18" charset="0"/>
              </a:rPr>
              <a:t>), </a:t>
            </a:r>
            <a:r>
              <a:rPr lang="en-US" sz="2200" dirty="0">
                <a:latin typeface="Times New Roman" panose="02020603050405020304" pitchFamily="18" charset="0"/>
                <a:ea typeface="+mj-ea"/>
                <a:cs typeface="Times New Roman" panose="02020603050405020304" pitchFamily="18" charset="0"/>
              </a:rPr>
              <a:t>GPT(</a:t>
            </a:r>
            <a:r>
              <a:rPr lang="en-IN" sz="2200" dirty="0">
                <a:latin typeface="Times New Roman" panose="02020603050405020304" pitchFamily="18" charset="0"/>
                <a:ea typeface="+mj-ea"/>
                <a:cs typeface="Times New Roman" panose="02020603050405020304" pitchFamily="18" charset="0"/>
              </a:rPr>
              <a:t>Generative Pre-trained Transformer</a:t>
            </a:r>
            <a:r>
              <a:rPr lang="en-US" sz="2200" dirty="0">
                <a:latin typeface="Times New Roman" panose="02020603050405020304" pitchFamily="18" charset="0"/>
                <a:ea typeface="+mj-ea"/>
                <a:cs typeface="Times New Roman" panose="02020603050405020304" pitchFamily="18" charset="0"/>
              </a:rPr>
              <a:t>)</a:t>
            </a:r>
            <a:r>
              <a:rPr lang="en-US" sz="2200" dirty="0" smtClean="0">
                <a:latin typeface="Times New Roman" panose="02020603050405020304" pitchFamily="18" charset="0"/>
                <a:ea typeface="+mj-ea"/>
                <a:cs typeface="Times New Roman" panose="02020603050405020304" pitchFamily="18" charset="0"/>
              </a:rPr>
              <a:t>, </a:t>
            </a:r>
            <a:r>
              <a:rPr lang="en-US" sz="2200" dirty="0">
                <a:latin typeface="Times New Roman" panose="02020603050405020304" pitchFamily="18" charset="0"/>
                <a:ea typeface="+mj-ea"/>
                <a:cs typeface="Times New Roman" panose="02020603050405020304" pitchFamily="18" charset="0"/>
              </a:rPr>
              <a:t>etc.) </a:t>
            </a:r>
            <a:r>
              <a:rPr lang="en-US" sz="2200" dirty="0" smtClean="0">
                <a:latin typeface="Times New Roman" panose="02020603050405020304" pitchFamily="18" charset="0"/>
                <a:ea typeface="+mj-ea"/>
                <a:cs typeface="Times New Roman" panose="02020603050405020304" pitchFamily="18" charset="0"/>
              </a:rPr>
              <a:t>reformed </a:t>
            </a:r>
            <a:r>
              <a:rPr lang="en-US" sz="2200" dirty="0">
                <a:latin typeface="Times New Roman" panose="02020603050405020304" pitchFamily="18" charset="0"/>
                <a:ea typeface="+mj-ea"/>
                <a:cs typeface="Times New Roman" panose="02020603050405020304" pitchFamily="18" charset="0"/>
              </a:rPr>
              <a:t>NLP.</a:t>
            </a:r>
          </a:p>
          <a:p>
            <a:pPr marL="457200" indent="-342900" algn="just">
              <a:lnSpc>
                <a:spcPct val="100000"/>
              </a:lnSpc>
              <a:spcBef>
                <a:spcPts val="0"/>
              </a:spcBef>
              <a:buSzPct val="75630"/>
              <a:buFont typeface="Wingdings" panose="05000000000000000000" pitchFamily="2" charset="2"/>
              <a:buChar char="Ø"/>
            </a:pPr>
            <a:r>
              <a:rPr lang="en-US" sz="2200" dirty="0">
                <a:latin typeface="Times New Roman" panose="02020603050405020304" pitchFamily="18" charset="0"/>
                <a:ea typeface="+mj-ea"/>
                <a:cs typeface="Times New Roman" panose="02020603050405020304" pitchFamily="18" charset="0"/>
              </a:rPr>
              <a:t>Widespread use of ML in healthcare, self-driving cars, recommendation systems, and generative AI.</a:t>
            </a:r>
          </a:p>
          <a:p>
            <a:pPr marL="457200" indent="-342900" algn="just">
              <a:lnSpc>
                <a:spcPct val="100000"/>
              </a:lnSpc>
              <a:spcBef>
                <a:spcPts val="0"/>
              </a:spcBef>
              <a:buSzPct val="75630"/>
              <a:buFont typeface="Wingdings" panose="05000000000000000000" pitchFamily="2" charset="2"/>
              <a:buChar char="Ø"/>
            </a:pPr>
            <a:r>
              <a:rPr lang="en-US" sz="2200" dirty="0">
                <a:latin typeface="Times New Roman" panose="02020603050405020304" pitchFamily="18" charset="0"/>
                <a:ea typeface="+mj-ea"/>
                <a:cs typeface="Times New Roman" panose="02020603050405020304" pitchFamily="18" charset="0"/>
              </a:rPr>
              <a:t>Focus on explainable AI (XAI), fairness, and ethics.</a:t>
            </a:r>
          </a:p>
          <a:p>
            <a:pPr marL="571500" indent="-342900" algn="just">
              <a:lnSpc>
                <a:spcPct val="100000"/>
              </a:lnSpc>
              <a:spcBef>
                <a:spcPts val="0"/>
              </a:spcBef>
              <a:buClr>
                <a:schemeClr val="dk1"/>
              </a:buClr>
              <a:buSzPct val="75630"/>
              <a:buFont typeface="Wingdings" panose="05000000000000000000" pitchFamily="2" charset="2"/>
              <a:buChar char="Ø"/>
            </a:pPr>
            <a:endParaRPr lang="en-US" sz="2200" dirty="0">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126074515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noAutofit/>
          </a:bodyPr>
          <a:lstStyle/>
          <a:p>
            <a:r>
              <a:rPr lang="en-GB" sz="2800" dirty="0" smtClean="0"/>
              <a:t/>
            </a:r>
            <a:br>
              <a:rPr lang="en-GB" sz="2800" dirty="0" smtClean="0"/>
            </a:br>
            <a:endParaRPr lang="en-IN" sz="2400" dirty="0">
              <a:latin typeface="Calibri" panose="020F0502020204030204" pitchFamily="34" charset="0"/>
              <a:cs typeface="Calibri" panose="020F0502020204030204" pitchFamily="34" charset="0"/>
            </a:endParaRPr>
          </a:p>
        </p:txBody>
      </p:sp>
      <p:sp>
        <p:nvSpPr>
          <p:cNvPr id="7" name="Slide Number Placeholder 6">
            <a:extLst>
              <a:ext uri="{FF2B5EF4-FFF2-40B4-BE49-F238E27FC236}">
                <a16:creationId xmlns:a16="http://schemas.microsoft.com/office/drawing/2014/main" xmlns="" id="{28EC62E8-F0EB-0BD9-2B59-1AA3588B6594}"/>
              </a:ext>
            </a:extLst>
          </p:cNvPr>
          <p:cNvSpPr>
            <a:spLocks noGrp="1"/>
          </p:cNvSpPr>
          <p:nvPr>
            <p:ph type="sldNum" sz="quarter" idx="12"/>
          </p:nvPr>
        </p:nvSpPr>
        <p:spPr/>
        <p:txBody>
          <a:bodyPr/>
          <a:lstStyle/>
          <a:p>
            <a:fld id="{26510230-8DD5-4BA5-AB2D-CA30FC08F9D7}" type="slidenum">
              <a:rPr lang="en-IN" smtClean="0"/>
              <a:t>12</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xmlns=""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3" name="Picture 2">
            <a:extLst>
              <a:ext uri="{FF2B5EF4-FFF2-40B4-BE49-F238E27FC236}">
                <a16:creationId xmlns:a16="http://schemas.microsoft.com/office/drawing/2014/main" xmlns="" id="{37C1D46A-BF2A-20B3-FD02-68B4F4BF6A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4" name="Rectangle 3"/>
          <p:cNvSpPr/>
          <p:nvPr/>
        </p:nvSpPr>
        <p:spPr>
          <a:xfrm>
            <a:off x="4600654" y="114202"/>
            <a:ext cx="4953374" cy="1077218"/>
          </a:xfrm>
          <a:prstGeom prst="rect">
            <a:avLst/>
          </a:prstGeom>
        </p:spPr>
        <p:txBody>
          <a:bodyPr wrap="square">
            <a:spAutoFit/>
          </a:bodyPr>
          <a:lstStyle/>
          <a:p>
            <a:pPr lvl="0" algn="ctr"/>
            <a:r>
              <a:rPr lang="en-IN" sz="3200" b="1" dirty="0" smtClean="0"/>
              <a:t>Activity 1 </a:t>
            </a:r>
          </a:p>
          <a:p>
            <a:pPr lvl="0" algn="ctr"/>
            <a:r>
              <a:rPr lang="en-IN" sz="3200" b="1" dirty="0" smtClean="0"/>
              <a:t>Gallery Walk</a:t>
            </a:r>
            <a:endParaRPr lang="en-US" sz="3200" b="1" dirty="0"/>
          </a:p>
        </p:txBody>
      </p:sp>
      <p:sp>
        <p:nvSpPr>
          <p:cNvPr id="11" name="Footer Placeholder 5">
            <a:extLst>
              <a:ext uri="{FF2B5EF4-FFF2-40B4-BE49-F238E27FC236}">
                <a16:creationId xmlns:a16="http://schemas.microsoft.com/office/drawing/2014/main" xmlns="" id="{0AC4C0B8-55BF-7607-C08F-4F93C85CCC8F}"/>
              </a:ext>
            </a:extLst>
          </p:cNvPr>
          <p:cNvSpPr>
            <a:spLocks noGrp="1"/>
          </p:cNvSpPr>
          <p:nvPr>
            <p:ph type="ftr" sz="quarter" idx="11"/>
          </p:nvPr>
        </p:nvSpPr>
        <p:spPr>
          <a:xfrm>
            <a:off x="2243139" y="6356350"/>
            <a:ext cx="8186736" cy="365125"/>
          </a:xfrm>
        </p:spPr>
        <p:txBody>
          <a:bodyPr/>
          <a:lstStyle/>
          <a:p>
            <a:r>
              <a:rPr lang="en-GB" sz="1400" smtClean="0"/>
              <a:t>Galgotias-Student Centered Active Learning Ecosystem &amp; Date 12-08-2026 </a:t>
            </a:r>
            <a:endParaRPr lang="en-IN" dirty="0"/>
          </a:p>
        </p:txBody>
      </p:sp>
      <p:sp>
        <p:nvSpPr>
          <p:cNvPr id="10" name="Google Shape;199;p11"/>
          <p:cNvSpPr txBox="1">
            <a:spLocks/>
          </p:cNvSpPr>
          <p:nvPr/>
        </p:nvSpPr>
        <p:spPr>
          <a:xfrm>
            <a:off x="541094" y="1667758"/>
            <a:ext cx="10574581" cy="3016808"/>
          </a:xfrm>
          <a:prstGeom prst="rect">
            <a:avLst/>
          </a:prstGeom>
          <a:noFill/>
          <a:ln>
            <a:noFill/>
          </a:ln>
        </p:spPr>
        <p:txBody>
          <a:bodyPr spcFirstLastPara="1" vert="horz" wrap="square" lIns="91425" tIns="45700" rIns="91425" bIns="45700" rtlCol="0"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14300" algn="l">
              <a:buSzPts val="1800"/>
            </a:pPr>
            <a:r>
              <a:rPr lang="en-GB" sz="2800" dirty="0">
                <a:latin typeface="Times New Roman" panose="02020603050405020304" pitchFamily="18" charset="0"/>
                <a:ea typeface="+mj-ea"/>
                <a:cs typeface="Times New Roman" panose="02020603050405020304" pitchFamily="18" charset="0"/>
              </a:rPr>
              <a:t>“Machine Learning looks very advanced today with </a:t>
            </a:r>
            <a:r>
              <a:rPr lang="en-GB" sz="2800" dirty="0" err="1">
                <a:latin typeface="Times New Roman" panose="02020603050405020304" pitchFamily="18" charset="0"/>
                <a:ea typeface="+mj-ea"/>
                <a:cs typeface="Times New Roman" panose="02020603050405020304" pitchFamily="18" charset="0"/>
              </a:rPr>
              <a:t>ChatGPT</a:t>
            </a:r>
            <a:r>
              <a:rPr lang="en-GB" sz="2800" dirty="0">
                <a:latin typeface="Times New Roman" panose="02020603050405020304" pitchFamily="18" charset="0"/>
                <a:ea typeface="+mj-ea"/>
                <a:cs typeface="Times New Roman" panose="02020603050405020304" pitchFamily="18" charset="0"/>
              </a:rPr>
              <a:t> and deep learning. But how do you think ML in the 1950s, like the first checkers-playing program or the Perceptron, compares to today’s systems?”</a:t>
            </a:r>
          </a:p>
          <a:p>
            <a:pPr marL="114300" algn="l">
              <a:buSzPts val="1800"/>
            </a:pPr>
            <a:endParaRPr lang="en-GB" sz="2800" dirty="0">
              <a:latin typeface="Times New Roman" panose="02020603050405020304" pitchFamily="18" charset="0"/>
              <a:ea typeface="+mj-ea"/>
              <a:cs typeface="Times New Roman" panose="02020603050405020304" pitchFamily="18" charset="0"/>
            </a:endParaRPr>
          </a:p>
          <a:p>
            <a:pPr marL="114300" algn="l">
              <a:buSzPts val="1800"/>
            </a:pPr>
            <a:r>
              <a:rPr lang="en-GB" sz="2800" dirty="0">
                <a:latin typeface="Times New Roman" panose="02020603050405020304" pitchFamily="18" charset="0"/>
                <a:ea typeface="+mj-ea"/>
                <a:cs typeface="Times New Roman" panose="02020603050405020304" pitchFamily="18" charset="0"/>
              </a:rPr>
              <a:t>Arrange historical milestones of ML in the correct order.</a:t>
            </a:r>
            <a:endParaRPr lang="en-GB" sz="2800" dirty="0">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151901354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noAutofit/>
          </a:bodyPr>
          <a:lstStyle/>
          <a:p>
            <a:r>
              <a:rPr lang="en-GB" sz="2800" dirty="0" smtClean="0"/>
              <a:t/>
            </a:r>
            <a:br>
              <a:rPr lang="en-GB" sz="2800" dirty="0" smtClean="0"/>
            </a:br>
            <a:endParaRPr lang="en-IN" sz="2400" dirty="0">
              <a:latin typeface="Calibri" panose="020F0502020204030204" pitchFamily="34" charset="0"/>
              <a:cs typeface="Calibri" panose="020F0502020204030204" pitchFamily="34" charset="0"/>
            </a:endParaRPr>
          </a:p>
        </p:txBody>
      </p:sp>
      <p:sp>
        <p:nvSpPr>
          <p:cNvPr id="7" name="Slide Number Placeholder 6">
            <a:extLst>
              <a:ext uri="{FF2B5EF4-FFF2-40B4-BE49-F238E27FC236}">
                <a16:creationId xmlns:a16="http://schemas.microsoft.com/office/drawing/2014/main" xmlns="" id="{28EC62E8-F0EB-0BD9-2B59-1AA3588B6594}"/>
              </a:ext>
            </a:extLst>
          </p:cNvPr>
          <p:cNvSpPr>
            <a:spLocks noGrp="1"/>
          </p:cNvSpPr>
          <p:nvPr>
            <p:ph type="sldNum" sz="quarter" idx="12"/>
          </p:nvPr>
        </p:nvSpPr>
        <p:spPr/>
        <p:txBody>
          <a:bodyPr/>
          <a:lstStyle/>
          <a:p>
            <a:fld id="{26510230-8DD5-4BA5-AB2D-CA30FC08F9D7}" type="slidenum">
              <a:rPr lang="en-IN" smtClean="0"/>
              <a:t>13</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xmlns=""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3" name="Picture 2">
            <a:extLst>
              <a:ext uri="{FF2B5EF4-FFF2-40B4-BE49-F238E27FC236}">
                <a16:creationId xmlns:a16="http://schemas.microsoft.com/office/drawing/2014/main" xmlns="" id="{37C1D46A-BF2A-20B3-FD02-68B4F4BF6A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4" name="Rectangle 3"/>
          <p:cNvSpPr/>
          <p:nvPr/>
        </p:nvSpPr>
        <p:spPr>
          <a:xfrm>
            <a:off x="3900566" y="114202"/>
            <a:ext cx="6767434" cy="1077218"/>
          </a:xfrm>
          <a:prstGeom prst="rect">
            <a:avLst/>
          </a:prstGeom>
        </p:spPr>
        <p:txBody>
          <a:bodyPr wrap="square">
            <a:spAutoFit/>
          </a:bodyPr>
          <a:lstStyle/>
          <a:p>
            <a:pPr lvl="0" algn="ctr"/>
            <a:r>
              <a:rPr lang="en-IN" sz="3200" b="1" dirty="0"/>
              <a:t>Activity </a:t>
            </a:r>
            <a:r>
              <a:rPr lang="en-IN" sz="3200" b="1" dirty="0" smtClean="0"/>
              <a:t>1 </a:t>
            </a:r>
            <a:endParaRPr lang="en-IN" sz="3200" b="1" dirty="0" smtClean="0"/>
          </a:p>
          <a:p>
            <a:pPr lvl="0" algn="ctr"/>
            <a:r>
              <a:rPr lang="en-IN" sz="3200" b="1" dirty="0" smtClean="0"/>
              <a:t>Gallery Walk - Reflections</a:t>
            </a:r>
            <a:endParaRPr lang="en-US" sz="3200" b="1" dirty="0"/>
          </a:p>
        </p:txBody>
      </p:sp>
      <p:sp>
        <p:nvSpPr>
          <p:cNvPr id="11" name="Footer Placeholder 5">
            <a:extLst>
              <a:ext uri="{FF2B5EF4-FFF2-40B4-BE49-F238E27FC236}">
                <a16:creationId xmlns:a16="http://schemas.microsoft.com/office/drawing/2014/main" xmlns="" id="{0AC4C0B8-55BF-7607-C08F-4F93C85CCC8F}"/>
              </a:ext>
            </a:extLst>
          </p:cNvPr>
          <p:cNvSpPr>
            <a:spLocks noGrp="1"/>
          </p:cNvSpPr>
          <p:nvPr>
            <p:ph type="ftr" sz="quarter" idx="11"/>
          </p:nvPr>
        </p:nvSpPr>
        <p:spPr>
          <a:xfrm>
            <a:off x="2243139" y="6356350"/>
            <a:ext cx="8186736" cy="365125"/>
          </a:xfrm>
        </p:spPr>
        <p:txBody>
          <a:bodyPr/>
          <a:lstStyle/>
          <a:p>
            <a:r>
              <a:rPr lang="en-GB" sz="1400" smtClean="0"/>
              <a:t>Galgotias-Student Centered Active Learning Ecosystem &amp; Date 12-08-2026 </a:t>
            </a:r>
            <a:endParaRPr lang="en-IN" dirty="0"/>
          </a:p>
        </p:txBody>
      </p:sp>
      <p:pic>
        <p:nvPicPr>
          <p:cNvPr id="6" name="Picture 5"/>
          <p:cNvPicPr>
            <a:picLocks noChangeAspect="1"/>
          </p:cNvPicPr>
          <p:nvPr/>
        </p:nvPicPr>
        <p:blipFill>
          <a:blip r:embed="rId4"/>
          <a:stretch>
            <a:fillRect/>
          </a:stretch>
        </p:blipFill>
        <p:spPr>
          <a:xfrm>
            <a:off x="14288" y="1131726"/>
            <a:ext cx="12192000" cy="5233988"/>
          </a:xfrm>
          <a:prstGeom prst="rect">
            <a:avLst/>
          </a:prstGeom>
        </p:spPr>
      </p:pic>
    </p:spTree>
    <p:extLst>
      <p:ext uri="{BB962C8B-B14F-4D97-AF65-F5344CB8AC3E}">
        <p14:creationId xmlns:p14="http://schemas.microsoft.com/office/powerpoint/2010/main" val="360615779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noAutofit/>
          </a:bodyPr>
          <a:lstStyle/>
          <a:p>
            <a:r>
              <a:rPr lang="en-GB" sz="2800" dirty="0" smtClean="0"/>
              <a:t/>
            </a:r>
            <a:br>
              <a:rPr lang="en-GB" sz="2800" dirty="0" smtClean="0"/>
            </a:br>
            <a:endParaRPr lang="en-IN" sz="2400" dirty="0">
              <a:latin typeface="Calibri" panose="020F0502020204030204" pitchFamily="34" charset="0"/>
              <a:cs typeface="Calibri" panose="020F0502020204030204" pitchFamily="34" charset="0"/>
            </a:endParaRPr>
          </a:p>
        </p:txBody>
      </p:sp>
      <p:sp>
        <p:nvSpPr>
          <p:cNvPr id="6" name="Footer Placeholder 5">
            <a:extLst>
              <a:ext uri="{FF2B5EF4-FFF2-40B4-BE49-F238E27FC236}">
                <a16:creationId xmlns:a16="http://schemas.microsoft.com/office/drawing/2014/main" xmlns="" id="{0AC4C0B8-55BF-7607-C08F-4F93C85CCC8F}"/>
              </a:ext>
            </a:extLst>
          </p:cNvPr>
          <p:cNvSpPr>
            <a:spLocks noGrp="1"/>
          </p:cNvSpPr>
          <p:nvPr>
            <p:ph type="ftr" sz="quarter" idx="11"/>
          </p:nvPr>
        </p:nvSpPr>
        <p:spPr>
          <a:xfrm>
            <a:off x="2243139" y="6356350"/>
            <a:ext cx="8186736" cy="365125"/>
          </a:xfrm>
        </p:spPr>
        <p:txBody>
          <a:bodyPr/>
          <a:lstStyle/>
          <a:p>
            <a:r>
              <a:rPr lang="en-GB" sz="1400" smtClean="0"/>
              <a:t>Galgotias-Student Centered Active Learning Ecosystem &amp; Date 12-08-2026 </a:t>
            </a:r>
            <a:endParaRPr lang="en-IN" dirty="0"/>
          </a:p>
        </p:txBody>
      </p:sp>
      <p:pic>
        <p:nvPicPr>
          <p:cNvPr id="9" name="Picture 8" descr="A blue circle with text and words&#10;&#10;Description automatically generated">
            <a:extLst>
              <a:ext uri="{FF2B5EF4-FFF2-40B4-BE49-F238E27FC236}">
                <a16:creationId xmlns:a16="http://schemas.microsoft.com/office/drawing/2014/main" xmlns=""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3" name="Picture 2">
            <a:extLst>
              <a:ext uri="{FF2B5EF4-FFF2-40B4-BE49-F238E27FC236}">
                <a16:creationId xmlns:a16="http://schemas.microsoft.com/office/drawing/2014/main" xmlns="" id="{37C1D46A-BF2A-20B3-FD02-68B4F4BF6A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4" name="Rectangle 3"/>
          <p:cNvSpPr/>
          <p:nvPr/>
        </p:nvSpPr>
        <p:spPr>
          <a:xfrm>
            <a:off x="4451806" y="245794"/>
            <a:ext cx="5755520" cy="477054"/>
          </a:xfrm>
          <a:prstGeom prst="rect">
            <a:avLst/>
          </a:prstGeom>
        </p:spPr>
        <p:txBody>
          <a:bodyPr wrap="square">
            <a:spAutoFit/>
          </a:bodyPr>
          <a:lstStyle/>
          <a:p>
            <a:pPr lvl="0" algn="ctr"/>
            <a:r>
              <a:rPr lang="en-GB" sz="2500" b="1" dirty="0">
                <a:solidFill>
                  <a:srgbClr val="000000"/>
                </a:solidFill>
                <a:latin typeface="Arial"/>
                <a:ea typeface="Arial"/>
                <a:cs typeface="Arial"/>
                <a:sym typeface="Arial"/>
              </a:rPr>
              <a:t>Machine Learning Lifecycle</a:t>
            </a:r>
            <a:endParaRPr lang="en-GB" sz="2500" b="1" dirty="0">
              <a:solidFill>
                <a:srgbClr val="000000"/>
              </a:solidFill>
              <a:latin typeface="Arial"/>
              <a:ea typeface="Arial"/>
              <a:cs typeface="Arial"/>
              <a:sym typeface="Arial"/>
            </a:endParaRPr>
          </a:p>
        </p:txBody>
      </p:sp>
      <p:sp>
        <p:nvSpPr>
          <p:cNvPr id="2" name="Slide Number Placeholder 1"/>
          <p:cNvSpPr>
            <a:spLocks noGrp="1"/>
          </p:cNvSpPr>
          <p:nvPr>
            <p:ph type="sldNum" sz="quarter" idx="12"/>
          </p:nvPr>
        </p:nvSpPr>
        <p:spPr/>
        <p:txBody>
          <a:bodyPr/>
          <a:lstStyle/>
          <a:p>
            <a:fld id="{26510230-8DD5-4BA5-AB2D-CA30FC08F9D7}" type="slidenum">
              <a:rPr lang="en-IN" smtClean="0"/>
              <a:t>14</a:t>
            </a:fld>
            <a:endParaRPr lang="en-IN"/>
          </a:p>
        </p:txBody>
      </p:sp>
      <p:sp>
        <p:nvSpPr>
          <p:cNvPr id="11" name="Google Shape;190;p30"/>
          <p:cNvSpPr txBox="1">
            <a:spLocks/>
          </p:cNvSpPr>
          <p:nvPr/>
        </p:nvSpPr>
        <p:spPr>
          <a:xfrm>
            <a:off x="314326" y="1066476"/>
            <a:ext cx="11318972" cy="5077838"/>
          </a:xfrm>
          <a:prstGeom prst="rect">
            <a:avLst/>
          </a:prstGeom>
          <a:noFill/>
          <a:ln>
            <a:noFill/>
          </a:ln>
        </p:spPr>
        <p:txBody>
          <a:bodyPr spcFirstLastPara="1" vert="horz" wrap="square" lIns="91425" tIns="45700" rIns="91425" bIns="45700"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14300" lvl="0" algn="l">
              <a:lnSpc>
                <a:spcPct val="120000"/>
              </a:lnSpc>
              <a:buSzPct val="102857"/>
            </a:pPr>
            <a:r>
              <a:rPr lang="en-GB" sz="2200" dirty="0">
                <a:latin typeface="Times New Roman" panose="02020603050405020304" pitchFamily="18" charset="0"/>
                <a:ea typeface="+mj-ea"/>
                <a:cs typeface="Times New Roman" panose="02020603050405020304" pitchFamily="18" charset="0"/>
              </a:rPr>
              <a:t>Machine Learning lifecycle is a structured process with crucial steps for developing and deploying models, enabling complex problem-solving, data-driven insights, and creation of scalable, sustainable solutions</a:t>
            </a:r>
            <a:r>
              <a:rPr lang="en-GB" sz="2200" dirty="0">
                <a:latin typeface="Times New Roman" panose="02020603050405020304" pitchFamily="18" charset="0"/>
                <a:ea typeface="+mj-ea"/>
                <a:cs typeface="Times New Roman" panose="02020603050405020304" pitchFamily="18" charset="0"/>
              </a:rPr>
              <a:t>.</a:t>
            </a:r>
          </a:p>
          <a:p>
            <a:pPr marL="114300" lvl="0" algn="l">
              <a:lnSpc>
                <a:spcPct val="120000"/>
              </a:lnSpc>
              <a:buSzPct val="102857"/>
            </a:pPr>
            <a:r>
              <a:rPr lang="en-GB" sz="2200" dirty="0">
                <a:latin typeface="Times New Roman" panose="02020603050405020304" pitchFamily="18" charset="0"/>
                <a:ea typeface="+mj-ea"/>
                <a:cs typeface="Times New Roman" panose="02020603050405020304" pitchFamily="18" charset="0"/>
              </a:rPr>
              <a:t> </a:t>
            </a:r>
            <a:r>
              <a:rPr lang="en-GB" sz="2200" dirty="0">
                <a:latin typeface="Times New Roman" panose="02020603050405020304" pitchFamily="18" charset="0"/>
                <a:ea typeface="+mj-ea"/>
                <a:cs typeface="Times New Roman" panose="02020603050405020304" pitchFamily="18" charset="0"/>
              </a:rPr>
              <a:t>The steps are:</a:t>
            </a:r>
          </a:p>
          <a:p>
            <a:pPr marL="1071563" lvl="0" indent="-514350" algn="l">
              <a:spcBef>
                <a:spcPts val="0"/>
              </a:spcBef>
              <a:buSzPct val="102857"/>
              <a:buFont typeface="Arial"/>
              <a:buAutoNum type="arabicPeriod"/>
            </a:pPr>
            <a:r>
              <a:rPr lang="en-GB" sz="2200" dirty="0">
                <a:latin typeface="Times New Roman" panose="02020603050405020304" pitchFamily="18" charset="0"/>
                <a:ea typeface="+mj-ea"/>
                <a:cs typeface="Times New Roman" panose="02020603050405020304" pitchFamily="18" charset="0"/>
              </a:rPr>
              <a:t>Problem Definition</a:t>
            </a:r>
          </a:p>
          <a:p>
            <a:pPr marL="1071563" lvl="0" indent="-514350" algn="l">
              <a:spcBef>
                <a:spcPts val="0"/>
              </a:spcBef>
              <a:buSzPct val="102857"/>
              <a:buFont typeface="Arial"/>
              <a:buAutoNum type="arabicPeriod"/>
            </a:pPr>
            <a:r>
              <a:rPr lang="en-GB" sz="2200" dirty="0">
                <a:latin typeface="Times New Roman" panose="02020603050405020304" pitchFamily="18" charset="0"/>
                <a:ea typeface="+mj-ea"/>
                <a:cs typeface="Times New Roman" panose="02020603050405020304" pitchFamily="18" charset="0"/>
              </a:rPr>
              <a:t>Data Collection</a:t>
            </a:r>
          </a:p>
          <a:p>
            <a:pPr marL="1071563" lvl="0" indent="-514350" algn="l">
              <a:spcBef>
                <a:spcPts val="0"/>
              </a:spcBef>
              <a:buSzPct val="102857"/>
              <a:buFont typeface="Arial"/>
              <a:buAutoNum type="arabicPeriod"/>
            </a:pPr>
            <a:r>
              <a:rPr lang="en-GB" sz="2200" dirty="0">
                <a:latin typeface="Times New Roman" panose="02020603050405020304" pitchFamily="18" charset="0"/>
                <a:ea typeface="+mj-ea"/>
                <a:cs typeface="Times New Roman" panose="02020603050405020304" pitchFamily="18" charset="0"/>
              </a:rPr>
              <a:t>Data Cleaning and </a:t>
            </a:r>
            <a:r>
              <a:rPr lang="en-GB" sz="2200" dirty="0" smtClean="0">
                <a:latin typeface="Times New Roman" panose="02020603050405020304" pitchFamily="18" charset="0"/>
                <a:ea typeface="+mj-ea"/>
                <a:cs typeface="Times New Roman" panose="02020603050405020304" pitchFamily="18" charset="0"/>
              </a:rPr>
              <a:t>Pre-processing</a:t>
            </a:r>
            <a:endParaRPr lang="en-GB" sz="2200" dirty="0">
              <a:latin typeface="Times New Roman" panose="02020603050405020304" pitchFamily="18" charset="0"/>
              <a:ea typeface="+mj-ea"/>
              <a:cs typeface="Times New Roman" panose="02020603050405020304" pitchFamily="18" charset="0"/>
            </a:endParaRPr>
          </a:p>
          <a:p>
            <a:pPr marL="1071563" lvl="0" indent="-514350" algn="l">
              <a:spcBef>
                <a:spcPts val="0"/>
              </a:spcBef>
              <a:buSzPct val="102857"/>
              <a:buFont typeface="Arial"/>
              <a:buAutoNum type="arabicPeriod"/>
            </a:pPr>
            <a:r>
              <a:rPr lang="en-GB" sz="2200" dirty="0">
                <a:latin typeface="Times New Roman" panose="02020603050405020304" pitchFamily="18" charset="0"/>
                <a:ea typeface="+mj-ea"/>
                <a:cs typeface="Times New Roman" panose="02020603050405020304" pitchFamily="18" charset="0"/>
              </a:rPr>
              <a:t>Exploratory Data Analysis (EDA)</a:t>
            </a:r>
          </a:p>
          <a:p>
            <a:pPr marL="1071563" lvl="0" indent="-514350" algn="l">
              <a:spcBef>
                <a:spcPts val="0"/>
              </a:spcBef>
              <a:buSzPct val="102857"/>
              <a:buFont typeface="Arial"/>
              <a:buAutoNum type="arabicPeriod"/>
            </a:pPr>
            <a:r>
              <a:rPr lang="en-GB" sz="2200" dirty="0">
                <a:latin typeface="Times New Roman" panose="02020603050405020304" pitchFamily="18" charset="0"/>
                <a:ea typeface="+mj-ea"/>
                <a:cs typeface="Times New Roman" panose="02020603050405020304" pitchFamily="18" charset="0"/>
              </a:rPr>
              <a:t>Feature Engineering and Selection</a:t>
            </a:r>
          </a:p>
          <a:p>
            <a:pPr marL="1071563" lvl="0" indent="-514350" algn="l">
              <a:spcBef>
                <a:spcPts val="0"/>
              </a:spcBef>
              <a:buSzPct val="102857"/>
              <a:buFont typeface="Arial"/>
              <a:buAutoNum type="arabicPeriod"/>
            </a:pPr>
            <a:r>
              <a:rPr lang="en-GB" sz="2200" dirty="0">
                <a:latin typeface="Times New Roman" panose="02020603050405020304" pitchFamily="18" charset="0"/>
                <a:ea typeface="+mj-ea"/>
                <a:cs typeface="Times New Roman" panose="02020603050405020304" pitchFamily="18" charset="0"/>
              </a:rPr>
              <a:t>Model Selection</a:t>
            </a:r>
          </a:p>
          <a:p>
            <a:pPr marL="1071563" lvl="0" indent="-514350" algn="l">
              <a:spcBef>
                <a:spcPts val="0"/>
              </a:spcBef>
              <a:buSzPct val="102857"/>
              <a:buFont typeface="Arial"/>
              <a:buAutoNum type="arabicPeriod"/>
            </a:pPr>
            <a:r>
              <a:rPr lang="en-GB" sz="2200" dirty="0">
                <a:latin typeface="Times New Roman" panose="02020603050405020304" pitchFamily="18" charset="0"/>
                <a:ea typeface="+mj-ea"/>
                <a:cs typeface="Times New Roman" panose="02020603050405020304" pitchFamily="18" charset="0"/>
              </a:rPr>
              <a:t>Model Training</a:t>
            </a:r>
          </a:p>
          <a:p>
            <a:pPr marL="1071563" lvl="0" indent="-514350" algn="l">
              <a:spcBef>
                <a:spcPts val="0"/>
              </a:spcBef>
              <a:buSzPct val="102857"/>
              <a:buFont typeface="Arial"/>
              <a:buAutoNum type="arabicPeriod"/>
            </a:pPr>
            <a:r>
              <a:rPr lang="en-GB" sz="2200" dirty="0">
                <a:latin typeface="Times New Roman" panose="02020603050405020304" pitchFamily="18" charset="0"/>
                <a:ea typeface="+mj-ea"/>
                <a:cs typeface="Times New Roman" panose="02020603050405020304" pitchFamily="18" charset="0"/>
              </a:rPr>
              <a:t>Model Evaluation and Tuning</a:t>
            </a:r>
          </a:p>
          <a:p>
            <a:pPr marL="1071563" lvl="0" indent="-514350" algn="l">
              <a:spcBef>
                <a:spcPts val="0"/>
              </a:spcBef>
              <a:buSzPct val="102857"/>
              <a:buFont typeface="Arial"/>
              <a:buAutoNum type="arabicPeriod"/>
            </a:pPr>
            <a:r>
              <a:rPr lang="en-GB" sz="2200" dirty="0">
                <a:latin typeface="Times New Roman" panose="02020603050405020304" pitchFamily="18" charset="0"/>
                <a:ea typeface="+mj-ea"/>
                <a:cs typeface="Times New Roman" panose="02020603050405020304" pitchFamily="18" charset="0"/>
              </a:rPr>
              <a:t>Model Deployment</a:t>
            </a:r>
          </a:p>
          <a:p>
            <a:pPr marL="1071563" lvl="0" indent="-514350" algn="l">
              <a:spcBef>
                <a:spcPts val="0"/>
              </a:spcBef>
              <a:buSzPct val="102857"/>
              <a:buFont typeface="Arial"/>
              <a:buAutoNum type="arabicPeriod"/>
            </a:pPr>
            <a:r>
              <a:rPr lang="en-GB" sz="2200" dirty="0">
                <a:latin typeface="Times New Roman" panose="02020603050405020304" pitchFamily="18" charset="0"/>
                <a:ea typeface="+mj-ea"/>
                <a:cs typeface="Times New Roman" panose="02020603050405020304" pitchFamily="18" charset="0"/>
              </a:rPr>
              <a:t>Model Monitoring and Maintenance</a:t>
            </a:r>
          </a:p>
        </p:txBody>
      </p:sp>
    </p:spTree>
    <p:extLst>
      <p:ext uri="{BB962C8B-B14F-4D97-AF65-F5344CB8AC3E}">
        <p14:creationId xmlns:p14="http://schemas.microsoft.com/office/powerpoint/2010/main" val="276106673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2051932" y="1111777"/>
            <a:ext cx="9144000" cy="2387600"/>
          </a:xfrm>
        </p:spPr>
        <p:txBody>
          <a:bodyPr>
            <a:noAutofit/>
          </a:bodyPr>
          <a:lstStyle/>
          <a:p>
            <a:r>
              <a:rPr lang="en-GB" sz="2800" dirty="0" smtClean="0"/>
              <a:t/>
            </a:r>
            <a:br>
              <a:rPr lang="en-GB" sz="2800" dirty="0" smtClean="0"/>
            </a:br>
            <a:endParaRPr lang="en-IN" sz="2400" dirty="0">
              <a:latin typeface="Calibri" panose="020F0502020204030204" pitchFamily="34" charset="0"/>
              <a:cs typeface="Calibri" panose="020F0502020204030204" pitchFamily="34" charset="0"/>
            </a:endParaRPr>
          </a:p>
        </p:txBody>
      </p:sp>
      <p:sp>
        <p:nvSpPr>
          <p:cNvPr id="6" name="Footer Placeholder 5">
            <a:extLst>
              <a:ext uri="{FF2B5EF4-FFF2-40B4-BE49-F238E27FC236}">
                <a16:creationId xmlns:a16="http://schemas.microsoft.com/office/drawing/2014/main" xmlns="" id="{0AC4C0B8-55BF-7607-C08F-4F93C85CCC8F}"/>
              </a:ext>
            </a:extLst>
          </p:cNvPr>
          <p:cNvSpPr>
            <a:spLocks noGrp="1"/>
          </p:cNvSpPr>
          <p:nvPr>
            <p:ph type="ftr" sz="quarter" idx="11"/>
          </p:nvPr>
        </p:nvSpPr>
        <p:spPr>
          <a:xfrm>
            <a:off x="2243139" y="6356350"/>
            <a:ext cx="8186736" cy="365125"/>
          </a:xfrm>
        </p:spPr>
        <p:txBody>
          <a:bodyPr/>
          <a:lstStyle/>
          <a:p>
            <a:r>
              <a:rPr lang="en-GB" sz="1400" smtClean="0"/>
              <a:t>Galgotias-Student Centered Active Learning Ecosystem &amp; Date 12-08-2026 </a:t>
            </a:r>
            <a:endParaRPr lang="en-IN" dirty="0"/>
          </a:p>
        </p:txBody>
      </p:sp>
      <p:pic>
        <p:nvPicPr>
          <p:cNvPr id="9" name="Picture 8" descr="A blue circle with text and words&#10;&#10;Description automatically generated">
            <a:extLst>
              <a:ext uri="{FF2B5EF4-FFF2-40B4-BE49-F238E27FC236}">
                <a16:creationId xmlns:a16="http://schemas.microsoft.com/office/drawing/2014/main" xmlns=""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3" name="Picture 2">
            <a:extLst>
              <a:ext uri="{FF2B5EF4-FFF2-40B4-BE49-F238E27FC236}">
                <a16:creationId xmlns:a16="http://schemas.microsoft.com/office/drawing/2014/main" xmlns="" id="{37C1D46A-BF2A-20B3-FD02-68B4F4BF6A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4" name="Rectangle 3"/>
          <p:cNvSpPr/>
          <p:nvPr/>
        </p:nvSpPr>
        <p:spPr>
          <a:xfrm>
            <a:off x="4451806" y="245794"/>
            <a:ext cx="5755520" cy="477054"/>
          </a:xfrm>
          <a:prstGeom prst="rect">
            <a:avLst/>
          </a:prstGeom>
        </p:spPr>
        <p:txBody>
          <a:bodyPr wrap="square">
            <a:spAutoFit/>
          </a:bodyPr>
          <a:lstStyle/>
          <a:p>
            <a:pPr lvl="0" algn="ctr"/>
            <a:r>
              <a:rPr lang="en-GB" sz="2500" b="1" dirty="0">
                <a:solidFill>
                  <a:srgbClr val="000000"/>
                </a:solidFill>
                <a:latin typeface="Arial"/>
                <a:ea typeface="Arial"/>
                <a:cs typeface="Arial"/>
                <a:sym typeface="Arial"/>
              </a:rPr>
              <a:t>Machine Learning Lifecycle</a:t>
            </a:r>
            <a:endParaRPr lang="en-GB" sz="2500" b="1" dirty="0">
              <a:solidFill>
                <a:srgbClr val="000000"/>
              </a:solidFill>
              <a:latin typeface="Arial"/>
              <a:ea typeface="Arial"/>
              <a:cs typeface="Arial"/>
              <a:sym typeface="Arial"/>
            </a:endParaRPr>
          </a:p>
        </p:txBody>
      </p:sp>
      <p:sp>
        <p:nvSpPr>
          <p:cNvPr id="2" name="Slide Number Placeholder 1"/>
          <p:cNvSpPr>
            <a:spLocks noGrp="1"/>
          </p:cNvSpPr>
          <p:nvPr>
            <p:ph type="sldNum" sz="quarter" idx="12"/>
          </p:nvPr>
        </p:nvSpPr>
        <p:spPr/>
        <p:txBody>
          <a:bodyPr/>
          <a:lstStyle/>
          <a:p>
            <a:fld id="{26510230-8DD5-4BA5-AB2D-CA30FC08F9D7}" type="slidenum">
              <a:rPr lang="en-IN" smtClean="0"/>
              <a:t>15</a:t>
            </a:fld>
            <a:endParaRPr lang="en-IN"/>
          </a:p>
        </p:txBody>
      </p:sp>
      <p:pic>
        <p:nvPicPr>
          <p:cNvPr id="8" name="Picture 7"/>
          <p:cNvPicPr>
            <a:picLocks noChangeAspect="1"/>
          </p:cNvPicPr>
          <p:nvPr/>
        </p:nvPicPr>
        <p:blipFill>
          <a:blip r:embed="rId4"/>
          <a:stretch>
            <a:fillRect/>
          </a:stretch>
        </p:blipFill>
        <p:spPr>
          <a:xfrm>
            <a:off x="1214438" y="854440"/>
            <a:ext cx="9215437" cy="5501910"/>
          </a:xfrm>
          <a:prstGeom prst="rect">
            <a:avLst/>
          </a:prstGeom>
        </p:spPr>
      </p:pic>
    </p:spTree>
    <p:extLst>
      <p:ext uri="{BB962C8B-B14F-4D97-AF65-F5344CB8AC3E}">
        <p14:creationId xmlns:p14="http://schemas.microsoft.com/office/powerpoint/2010/main" val="20368312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2051932" y="1111777"/>
            <a:ext cx="9144000" cy="2387600"/>
          </a:xfrm>
        </p:spPr>
        <p:txBody>
          <a:bodyPr>
            <a:noAutofit/>
          </a:bodyPr>
          <a:lstStyle/>
          <a:p>
            <a:r>
              <a:rPr lang="en-GB" sz="2800" dirty="0" smtClean="0"/>
              <a:t/>
            </a:r>
            <a:br>
              <a:rPr lang="en-GB" sz="2800" dirty="0" smtClean="0"/>
            </a:br>
            <a:endParaRPr lang="en-IN" sz="2400" dirty="0">
              <a:latin typeface="Calibri" panose="020F0502020204030204" pitchFamily="34" charset="0"/>
              <a:cs typeface="Calibri" panose="020F0502020204030204" pitchFamily="34" charset="0"/>
            </a:endParaRPr>
          </a:p>
        </p:txBody>
      </p:sp>
      <p:sp>
        <p:nvSpPr>
          <p:cNvPr id="6" name="Footer Placeholder 5">
            <a:extLst>
              <a:ext uri="{FF2B5EF4-FFF2-40B4-BE49-F238E27FC236}">
                <a16:creationId xmlns:a16="http://schemas.microsoft.com/office/drawing/2014/main" xmlns="" id="{0AC4C0B8-55BF-7607-C08F-4F93C85CCC8F}"/>
              </a:ext>
            </a:extLst>
          </p:cNvPr>
          <p:cNvSpPr>
            <a:spLocks noGrp="1"/>
          </p:cNvSpPr>
          <p:nvPr>
            <p:ph type="ftr" sz="quarter" idx="11"/>
          </p:nvPr>
        </p:nvSpPr>
        <p:spPr>
          <a:xfrm>
            <a:off x="2243139" y="6356350"/>
            <a:ext cx="8186736" cy="365125"/>
          </a:xfrm>
        </p:spPr>
        <p:txBody>
          <a:bodyPr/>
          <a:lstStyle/>
          <a:p>
            <a:r>
              <a:rPr lang="en-GB" sz="1400" smtClean="0"/>
              <a:t>Galgotias-Student Centered Active Learning Ecosystem &amp; Date 12-08-2026 </a:t>
            </a:r>
            <a:endParaRPr lang="en-IN" dirty="0"/>
          </a:p>
        </p:txBody>
      </p:sp>
      <p:pic>
        <p:nvPicPr>
          <p:cNvPr id="9" name="Picture 8" descr="A blue circle with text and words&#10;&#10;Description automatically generated">
            <a:extLst>
              <a:ext uri="{FF2B5EF4-FFF2-40B4-BE49-F238E27FC236}">
                <a16:creationId xmlns:a16="http://schemas.microsoft.com/office/drawing/2014/main" xmlns=""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3" name="Picture 2">
            <a:extLst>
              <a:ext uri="{FF2B5EF4-FFF2-40B4-BE49-F238E27FC236}">
                <a16:creationId xmlns:a16="http://schemas.microsoft.com/office/drawing/2014/main" xmlns="" id="{37C1D46A-BF2A-20B3-FD02-68B4F4BF6A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4" name="Rectangle 3"/>
          <p:cNvSpPr/>
          <p:nvPr/>
        </p:nvSpPr>
        <p:spPr>
          <a:xfrm>
            <a:off x="4451806" y="245794"/>
            <a:ext cx="5755520" cy="477054"/>
          </a:xfrm>
          <a:prstGeom prst="rect">
            <a:avLst/>
          </a:prstGeom>
        </p:spPr>
        <p:txBody>
          <a:bodyPr wrap="square">
            <a:spAutoFit/>
          </a:bodyPr>
          <a:lstStyle/>
          <a:p>
            <a:pPr lvl="0" algn="ctr"/>
            <a:r>
              <a:rPr lang="en-GB" sz="2500" b="1" dirty="0">
                <a:solidFill>
                  <a:srgbClr val="000000"/>
                </a:solidFill>
                <a:latin typeface="Arial"/>
                <a:ea typeface="Arial"/>
                <a:cs typeface="Arial"/>
                <a:sym typeface="Arial"/>
              </a:rPr>
              <a:t>Machine Learning Lifecycle</a:t>
            </a:r>
            <a:endParaRPr lang="en-GB" sz="2500" b="1" dirty="0">
              <a:solidFill>
                <a:srgbClr val="000000"/>
              </a:solidFill>
              <a:latin typeface="Arial"/>
              <a:ea typeface="Arial"/>
              <a:cs typeface="Arial"/>
              <a:sym typeface="Arial"/>
            </a:endParaRPr>
          </a:p>
        </p:txBody>
      </p:sp>
      <p:sp>
        <p:nvSpPr>
          <p:cNvPr id="2" name="Slide Number Placeholder 1"/>
          <p:cNvSpPr>
            <a:spLocks noGrp="1"/>
          </p:cNvSpPr>
          <p:nvPr>
            <p:ph type="sldNum" sz="quarter" idx="12"/>
          </p:nvPr>
        </p:nvSpPr>
        <p:spPr/>
        <p:txBody>
          <a:bodyPr/>
          <a:lstStyle/>
          <a:p>
            <a:fld id="{26510230-8DD5-4BA5-AB2D-CA30FC08F9D7}" type="slidenum">
              <a:rPr lang="en-IN" smtClean="0"/>
              <a:t>16</a:t>
            </a:fld>
            <a:endParaRPr lang="en-IN"/>
          </a:p>
        </p:txBody>
      </p:sp>
      <p:sp>
        <p:nvSpPr>
          <p:cNvPr id="10" name="Google Shape;227;p34"/>
          <p:cNvSpPr txBox="1">
            <a:spLocks/>
          </p:cNvSpPr>
          <p:nvPr/>
        </p:nvSpPr>
        <p:spPr>
          <a:xfrm>
            <a:off x="680332" y="1066476"/>
            <a:ext cx="10515600" cy="5077838"/>
          </a:xfrm>
          <a:prstGeom prst="rect">
            <a:avLst/>
          </a:prstGeom>
          <a:noFill/>
          <a:ln>
            <a:noFill/>
          </a:ln>
        </p:spPr>
        <p:txBody>
          <a:bodyPr spcFirstLastPara="1" vert="horz" wrap="square" lIns="91425" tIns="45700" rIns="91425" bIns="45700" rtlCol="0" anchor="t"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14300" algn="l">
              <a:buClr>
                <a:schemeClr val="dk1"/>
              </a:buClr>
              <a:buSzPts val="1800"/>
            </a:pPr>
            <a:r>
              <a:rPr lang="en-US" b="1" dirty="0">
                <a:latin typeface="Times New Roman" panose="02020603050405020304" pitchFamily="18" charset="0"/>
                <a:cs typeface="Times New Roman" panose="02020603050405020304" pitchFamily="18" charset="0"/>
              </a:rPr>
              <a:t>Step 1: Problem </a:t>
            </a:r>
            <a:r>
              <a:rPr lang="en-US" b="1" dirty="0" smtClean="0">
                <a:latin typeface="Times New Roman" panose="02020603050405020304" pitchFamily="18" charset="0"/>
                <a:cs typeface="Times New Roman" panose="02020603050405020304" pitchFamily="18" charset="0"/>
              </a:rPr>
              <a:t>Definition</a:t>
            </a:r>
          </a:p>
          <a:p>
            <a:pPr marL="114300" algn="just">
              <a:buClr>
                <a:schemeClr val="dk1"/>
              </a:buClr>
              <a:buSzPts val="1800"/>
            </a:pPr>
            <a:r>
              <a:rPr lang="en-GB" dirty="0" smtClean="0">
                <a:latin typeface="Times New Roman" panose="02020603050405020304" pitchFamily="18" charset="0"/>
                <a:cs typeface="Times New Roman" panose="02020603050405020304" pitchFamily="18" charset="0"/>
              </a:rPr>
              <a:t>In this initial phase we need to identify the business problem and frame it. By framing the problem in a comprehensive manner, team can establishes foundation for machine learning lifecycle. Crucial elements such as </a:t>
            </a:r>
            <a:r>
              <a:rPr lang="en-GB" b="1" dirty="0" smtClean="0">
                <a:latin typeface="Times New Roman" panose="02020603050405020304" pitchFamily="18" charset="0"/>
                <a:cs typeface="Times New Roman" panose="02020603050405020304" pitchFamily="18" charset="0"/>
              </a:rPr>
              <a:t>project objectives, desired outcomes and the scope of the task</a:t>
            </a:r>
            <a:r>
              <a:rPr lang="en-GB" dirty="0" smtClean="0">
                <a:latin typeface="Times New Roman" panose="02020603050405020304" pitchFamily="18" charset="0"/>
                <a:cs typeface="Times New Roman" panose="02020603050405020304" pitchFamily="18" charset="0"/>
              </a:rPr>
              <a:t> are carefully designed during this stage.</a:t>
            </a:r>
          </a:p>
          <a:p>
            <a:pPr marL="114300" lvl="0" algn="l">
              <a:buClr>
                <a:schemeClr val="dk1"/>
              </a:buClr>
              <a:buSzPts val="1800"/>
            </a:pPr>
            <a:r>
              <a:rPr lang="en-US" b="1" dirty="0">
                <a:latin typeface="Times New Roman" panose="02020603050405020304" pitchFamily="18" charset="0"/>
                <a:cs typeface="Times New Roman" panose="02020603050405020304" pitchFamily="18" charset="0"/>
              </a:rPr>
              <a:t>Step 2: Data </a:t>
            </a:r>
            <a:r>
              <a:rPr lang="en-US" b="1" dirty="0" smtClean="0">
                <a:latin typeface="Times New Roman" panose="02020603050405020304" pitchFamily="18" charset="0"/>
                <a:cs typeface="Times New Roman" panose="02020603050405020304" pitchFamily="18" charset="0"/>
              </a:rPr>
              <a:t>Collection</a:t>
            </a:r>
          </a:p>
          <a:p>
            <a:pPr marL="114300" lvl="0" algn="just">
              <a:buClr>
                <a:schemeClr val="dk1"/>
              </a:buClr>
              <a:buSzPts val="1800"/>
            </a:pPr>
            <a:r>
              <a:rPr lang="en-GB" dirty="0" smtClean="0">
                <a:latin typeface="Times New Roman" panose="02020603050405020304" pitchFamily="18" charset="0"/>
                <a:cs typeface="Times New Roman" panose="02020603050405020304" pitchFamily="18" charset="0"/>
              </a:rPr>
              <a:t>After </a:t>
            </a:r>
            <a:r>
              <a:rPr lang="en-GB" b="1" dirty="0" smtClean="0">
                <a:latin typeface="Times New Roman" panose="02020603050405020304" pitchFamily="18" charset="0"/>
                <a:cs typeface="Times New Roman" panose="02020603050405020304" pitchFamily="18" charset="0"/>
              </a:rPr>
              <a:t>Problem Definition</a:t>
            </a:r>
            <a:r>
              <a:rPr lang="en-GB" dirty="0" smtClean="0">
                <a:latin typeface="Times New Roman" panose="02020603050405020304" pitchFamily="18" charset="0"/>
                <a:cs typeface="Times New Roman" panose="02020603050405020304" pitchFamily="18" charset="0"/>
              </a:rPr>
              <a:t>, ML lifecycle moves to </a:t>
            </a:r>
            <a:r>
              <a:rPr lang="en-GB" b="1" dirty="0" smtClean="0">
                <a:latin typeface="Times New Roman" panose="02020603050405020304" pitchFamily="18" charset="0"/>
                <a:cs typeface="Times New Roman" panose="02020603050405020304" pitchFamily="18" charset="0"/>
              </a:rPr>
              <a:t>Data Collection</a:t>
            </a:r>
            <a:r>
              <a:rPr lang="en-GB" dirty="0" smtClean="0">
                <a:latin typeface="Times New Roman" panose="02020603050405020304" pitchFamily="18" charset="0"/>
                <a:cs typeface="Times New Roman" panose="02020603050405020304" pitchFamily="18" charset="0"/>
              </a:rPr>
              <a:t>—systematic gathering of </a:t>
            </a:r>
            <a:r>
              <a:rPr lang="en-GB" b="1" dirty="0" smtClean="0">
                <a:latin typeface="Times New Roman" panose="02020603050405020304" pitchFamily="18" charset="0"/>
                <a:cs typeface="Times New Roman" panose="02020603050405020304" pitchFamily="18" charset="0"/>
              </a:rPr>
              <a:t>raw datasets</a:t>
            </a:r>
            <a:r>
              <a:rPr lang="en-GB" dirty="0" smtClean="0">
                <a:latin typeface="Times New Roman" panose="02020603050405020304" pitchFamily="18" charset="0"/>
                <a:cs typeface="Times New Roman" panose="02020603050405020304" pitchFamily="18" charset="0"/>
              </a:rPr>
              <a:t>. Data </a:t>
            </a:r>
            <a:r>
              <a:rPr lang="en-GB" b="1" dirty="0" smtClean="0">
                <a:latin typeface="Times New Roman" panose="02020603050405020304" pitchFamily="18" charset="0"/>
                <a:cs typeface="Times New Roman" panose="02020603050405020304" pitchFamily="18" charset="0"/>
              </a:rPr>
              <a:t>quality</a:t>
            </a:r>
            <a:r>
              <a:rPr lang="en-GB" dirty="0" smtClean="0">
                <a:latin typeface="Times New Roman" panose="02020603050405020304" pitchFamily="18" charset="0"/>
                <a:cs typeface="Times New Roman" panose="02020603050405020304" pitchFamily="18" charset="0"/>
              </a:rPr>
              <a:t>, </a:t>
            </a:r>
            <a:r>
              <a:rPr lang="en-GB" b="1" dirty="0" smtClean="0">
                <a:latin typeface="Times New Roman" panose="02020603050405020304" pitchFamily="18" charset="0"/>
                <a:cs typeface="Times New Roman" panose="02020603050405020304" pitchFamily="18" charset="0"/>
              </a:rPr>
              <a:t>diversity</a:t>
            </a:r>
            <a:r>
              <a:rPr lang="en-GB" dirty="0" smtClean="0">
                <a:latin typeface="Times New Roman" panose="02020603050405020304" pitchFamily="18" charset="0"/>
                <a:cs typeface="Times New Roman" panose="02020603050405020304" pitchFamily="18" charset="0"/>
              </a:rPr>
              <a:t>, and </a:t>
            </a:r>
            <a:r>
              <a:rPr lang="en-GB" b="1" dirty="0" smtClean="0">
                <a:latin typeface="Times New Roman" panose="02020603050405020304" pitchFamily="18" charset="0"/>
                <a:cs typeface="Times New Roman" panose="02020603050405020304" pitchFamily="18" charset="0"/>
              </a:rPr>
              <a:t>relevance</a:t>
            </a:r>
            <a:r>
              <a:rPr lang="en-GB" dirty="0" smtClean="0">
                <a:latin typeface="Times New Roman" panose="02020603050405020304" pitchFamily="18" charset="0"/>
                <a:cs typeface="Times New Roman" panose="02020603050405020304" pitchFamily="18" charset="0"/>
              </a:rPr>
              <a:t> impact </a:t>
            </a:r>
            <a:r>
              <a:rPr lang="en-GB" b="1" dirty="0" smtClean="0">
                <a:latin typeface="Times New Roman" panose="02020603050405020304" pitchFamily="18" charset="0"/>
                <a:cs typeface="Times New Roman" panose="02020603050405020304" pitchFamily="18" charset="0"/>
              </a:rPr>
              <a:t>robustness</a:t>
            </a:r>
            <a:r>
              <a:rPr lang="en-GB" dirty="0" smtClean="0">
                <a:latin typeface="Times New Roman" panose="02020603050405020304" pitchFamily="18" charset="0"/>
                <a:cs typeface="Times New Roman" panose="02020603050405020304" pitchFamily="18" charset="0"/>
              </a:rPr>
              <a:t> and </a:t>
            </a:r>
            <a:r>
              <a:rPr lang="en-GB" b="1" dirty="0" smtClean="0">
                <a:latin typeface="Times New Roman" panose="02020603050405020304" pitchFamily="18" charset="0"/>
                <a:cs typeface="Times New Roman" panose="02020603050405020304" pitchFamily="18" charset="0"/>
              </a:rPr>
              <a:t>generalization</a:t>
            </a:r>
            <a:r>
              <a:rPr lang="en-GB" dirty="0" smtClean="0">
                <a:latin typeface="Times New Roman" panose="02020603050405020304" pitchFamily="18" charset="0"/>
                <a:cs typeface="Times New Roman" panose="02020603050405020304" pitchFamily="18" charset="0"/>
              </a:rPr>
              <a:t>. A </a:t>
            </a:r>
            <a:r>
              <a:rPr lang="en-GB" b="1" dirty="0" smtClean="0">
                <a:latin typeface="Times New Roman" panose="02020603050405020304" pitchFamily="18" charset="0"/>
                <a:cs typeface="Times New Roman" panose="02020603050405020304" pitchFamily="18" charset="0"/>
              </a:rPr>
              <a:t>well-organized approach</a:t>
            </a:r>
            <a:r>
              <a:rPr lang="en-GB" dirty="0" smtClean="0">
                <a:latin typeface="Times New Roman" panose="02020603050405020304" pitchFamily="18" charset="0"/>
                <a:cs typeface="Times New Roman" panose="02020603050405020304" pitchFamily="18" charset="0"/>
              </a:rPr>
              <a:t> ensures effective </a:t>
            </a:r>
            <a:r>
              <a:rPr lang="en-GB" b="1" dirty="0" smtClean="0">
                <a:latin typeface="Times New Roman" panose="02020603050405020304" pitchFamily="18" charset="0"/>
                <a:cs typeface="Times New Roman" panose="02020603050405020304" pitchFamily="18" charset="0"/>
              </a:rPr>
              <a:t>training</a:t>
            </a:r>
            <a:r>
              <a:rPr lang="en-GB" dirty="0" smtClean="0">
                <a:latin typeface="Times New Roman" panose="02020603050405020304" pitchFamily="18" charset="0"/>
                <a:cs typeface="Times New Roman" panose="02020603050405020304" pitchFamily="18" charset="0"/>
              </a:rPr>
              <a:t>, </a:t>
            </a:r>
            <a:r>
              <a:rPr lang="en-GB" b="1" dirty="0" smtClean="0">
                <a:latin typeface="Times New Roman" panose="02020603050405020304" pitchFamily="18" charset="0"/>
                <a:cs typeface="Times New Roman" panose="02020603050405020304" pitchFamily="18" charset="0"/>
              </a:rPr>
              <a:t>evaluation</a:t>
            </a:r>
            <a:r>
              <a:rPr lang="en-GB" dirty="0" smtClean="0">
                <a:latin typeface="Times New Roman" panose="02020603050405020304" pitchFamily="18" charset="0"/>
                <a:cs typeface="Times New Roman" panose="02020603050405020304" pitchFamily="18" charset="0"/>
              </a:rPr>
              <a:t>, </a:t>
            </a:r>
            <a:r>
              <a:rPr lang="en-GB" b="1" dirty="0" smtClean="0">
                <a:latin typeface="Times New Roman" panose="02020603050405020304" pitchFamily="18" charset="0"/>
                <a:cs typeface="Times New Roman" panose="02020603050405020304" pitchFamily="18" charset="0"/>
              </a:rPr>
              <a:t>deployment</a:t>
            </a:r>
            <a:r>
              <a:rPr lang="en-GB" dirty="0" smtClean="0">
                <a:latin typeface="Times New Roman" panose="02020603050405020304" pitchFamily="18" charset="0"/>
                <a:cs typeface="Times New Roman" panose="02020603050405020304" pitchFamily="18" charset="0"/>
              </a:rPr>
              <a:t>, and accurate models for </a:t>
            </a:r>
            <a:r>
              <a:rPr lang="en-GB" b="1" dirty="0" smtClean="0">
                <a:latin typeface="Times New Roman" panose="02020603050405020304" pitchFamily="18" charset="0"/>
                <a:cs typeface="Times New Roman" panose="02020603050405020304" pitchFamily="18" charset="0"/>
              </a:rPr>
              <a:t>real-world applications</a:t>
            </a:r>
            <a:r>
              <a:rPr lang="en-GB" dirty="0" smtClean="0">
                <a:latin typeface="Times New Roman" panose="02020603050405020304" pitchFamily="18" charset="0"/>
                <a:cs typeface="Times New Roman" panose="02020603050405020304" pitchFamily="18" charset="0"/>
              </a:rPr>
              <a:t>.</a:t>
            </a:r>
          </a:p>
          <a:p>
            <a:pPr marL="114300" algn="l">
              <a:buClr>
                <a:schemeClr val="dk1"/>
              </a:buClr>
              <a:buSzPts val="1800"/>
            </a:pP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505420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2051932" y="1111777"/>
            <a:ext cx="9144000" cy="2387600"/>
          </a:xfrm>
        </p:spPr>
        <p:txBody>
          <a:bodyPr>
            <a:noAutofit/>
          </a:bodyPr>
          <a:lstStyle/>
          <a:p>
            <a:r>
              <a:rPr lang="en-GB" sz="2800" dirty="0" smtClean="0"/>
              <a:t/>
            </a:r>
            <a:br>
              <a:rPr lang="en-GB" sz="2800" dirty="0" smtClean="0"/>
            </a:br>
            <a:endParaRPr lang="en-IN" sz="2400" dirty="0">
              <a:latin typeface="Calibri" panose="020F0502020204030204" pitchFamily="34" charset="0"/>
              <a:cs typeface="Calibri" panose="020F0502020204030204" pitchFamily="34" charset="0"/>
            </a:endParaRPr>
          </a:p>
        </p:txBody>
      </p:sp>
      <p:sp>
        <p:nvSpPr>
          <p:cNvPr id="6" name="Footer Placeholder 5">
            <a:extLst>
              <a:ext uri="{FF2B5EF4-FFF2-40B4-BE49-F238E27FC236}">
                <a16:creationId xmlns:a16="http://schemas.microsoft.com/office/drawing/2014/main" xmlns="" id="{0AC4C0B8-55BF-7607-C08F-4F93C85CCC8F}"/>
              </a:ext>
            </a:extLst>
          </p:cNvPr>
          <p:cNvSpPr>
            <a:spLocks noGrp="1"/>
          </p:cNvSpPr>
          <p:nvPr>
            <p:ph type="ftr" sz="quarter" idx="11"/>
          </p:nvPr>
        </p:nvSpPr>
        <p:spPr>
          <a:xfrm>
            <a:off x="2243139" y="6356350"/>
            <a:ext cx="8186736" cy="365125"/>
          </a:xfrm>
        </p:spPr>
        <p:txBody>
          <a:bodyPr/>
          <a:lstStyle/>
          <a:p>
            <a:r>
              <a:rPr lang="en-GB" sz="1400" smtClean="0"/>
              <a:t>Galgotias-Student Centered Active Learning Ecosystem &amp; Date 12-08-2026 </a:t>
            </a:r>
            <a:endParaRPr lang="en-IN" dirty="0"/>
          </a:p>
        </p:txBody>
      </p:sp>
      <p:pic>
        <p:nvPicPr>
          <p:cNvPr id="9" name="Picture 8" descr="A blue circle with text and words&#10;&#10;Description automatically generated">
            <a:extLst>
              <a:ext uri="{FF2B5EF4-FFF2-40B4-BE49-F238E27FC236}">
                <a16:creationId xmlns:a16="http://schemas.microsoft.com/office/drawing/2014/main" xmlns=""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3" name="Picture 2">
            <a:extLst>
              <a:ext uri="{FF2B5EF4-FFF2-40B4-BE49-F238E27FC236}">
                <a16:creationId xmlns:a16="http://schemas.microsoft.com/office/drawing/2014/main" xmlns="" id="{37C1D46A-BF2A-20B3-FD02-68B4F4BF6A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4" name="Rectangle 3"/>
          <p:cNvSpPr/>
          <p:nvPr/>
        </p:nvSpPr>
        <p:spPr>
          <a:xfrm>
            <a:off x="4451806" y="245794"/>
            <a:ext cx="5755520" cy="477054"/>
          </a:xfrm>
          <a:prstGeom prst="rect">
            <a:avLst/>
          </a:prstGeom>
        </p:spPr>
        <p:txBody>
          <a:bodyPr wrap="square">
            <a:spAutoFit/>
          </a:bodyPr>
          <a:lstStyle/>
          <a:p>
            <a:pPr lvl="0" algn="ctr"/>
            <a:r>
              <a:rPr lang="en-GB" sz="2500" b="1" dirty="0">
                <a:solidFill>
                  <a:srgbClr val="000000"/>
                </a:solidFill>
                <a:latin typeface="Arial"/>
                <a:ea typeface="Arial"/>
                <a:cs typeface="Arial"/>
                <a:sym typeface="Arial"/>
              </a:rPr>
              <a:t>Machine Learning Lifecycle</a:t>
            </a:r>
            <a:endParaRPr lang="en-GB" sz="2500" b="1" dirty="0">
              <a:solidFill>
                <a:srgbClr val="000000"/>
              </a:solidFill>
              <a:latin typeface="Arial"/>
              <a:ea typeface="Arial"/>
              <a:cs typeface="Arial"/>
              <a:sym typeface="Arial"/>
            </a:endParaRPr>
          </a:p>
        </p:txBody>
      </p:sp>
      <p:sp>
        <p:nvSpPr>
          <p:cNvPr id="2" name="Slide Number Placeholder 1"/>
          <p:cNvSpPr>
            <a:spLocks noGrp="1"/>
          </p:cNvSpPr>
          <p:nvPr>
            <p:ph type="sldNum" sz="quarter" idx="12"/>
          </p:nvPr>
        </p:nvSpPr>
        <p:spPr/>
        <p:txBody>
          <a:bodyPr/>
          <a:lstStyle/>
          <a:p>
            <a:fld id="{26510230-8DD5-4BA5-AB2D-CA30FC08F9D7}" type="slidenum">
              <a:rPr lang="en-IN" smtClean="0"/>
              <a:t>17</a:t>
            </a:fld>
            <a:endParaRPr lang="en-IN"/>
          </a:p>
        </p:txBody>
      </p:sp>
      <p:sp>
        <p:nvSpPr>
          <p:cNvPr id="10" name="Google Shape;227;p34"/>
          <p:cNvSpPr txBox="1">
            <a:spLocks/>
          </p:cNvSpPr>
          <p:nvPr/>
        </p:nvSpPr>
        <p:spPr>
          <a:xfrm>
            <a:off x="680332" y="1066476"/>
            <a:ext cx="10515600" cy="5077838"/>
          </a:xfrm>
          <a:prstGeom prst="rect">
            <a:avLst/>
          </a:prstGeom>
          <a:noFill/>
          <a:ln>
            <a:noFill/>
          </a:ln>
        </p:spPr>
        <p:txBody>
          <a:bodyPr spcFirstLastPara="1" vert="horz" wrap="square" lIns="91425" tIns="45700" rIns="91425" bIns="45700" rtlCol="0" anchor="t"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14300" algn="l">
              <a:buClr>
                <a:schemeClr val="dk1"/>
              </a:buClr>
              <a:buSzPts val="1800"/>
            </a:pPr>
            <a:r>
              <a:rPr lang="en-GB" b="1" dirty="0">
                <a:latin typeface="Times New Roman" panose="02020603050405020304" pitchFamily="18" charset="0"/>
                <a:cs typeface="Times New Roman" panose="02020603050405020304" pitchFamily="18" charset="0"/>
              </a:rPr>
              <a:t>Step 3: Data Cleaning and </a:t>
            </a:r>
            <a:r>
              <a:rPr lang="en-GB" b="1" dirty="0" smtClean="0">
                <a:latin typeface="Times New Roman" panose="02020603050405020304" pitchFamily="18" charset="0"/>
                <a:cs typeface="Times New Roman" panose="02020603050405020304" pitchFamily="18" charset="0"/>
              </a:rPr>
              <a:t>Pre-processing</a:t>
            </a:r>
          </a:p>
          <a:p>
            <a:pPr marL="114300" algn="just">
              <a:buClr>
                <a:schemeClr val="dk1"/>
              </a:buClr>
              <a:buSzPts val="1800"/>
            </a:pPr>
            <a:r>
              <a:rPr lang="en-GB" dirty="0">
                <a:latin typeface="Times New Roman" panose="02020603050405020304" pitchFamily="18" charset="0"/>
                <a:cs typeface="Times New Roman" panose="02020603050405020304" pitchFamily="18" charset="0"/>
              </a:rPr>
              <a:t>With datasets ready, we perform Data Cleaning &amp; </a:t>
            </a:r>
            <a:r>
              <a:rPr lang="en-GB" dirty="0" smtClean="0">
                <a:latin typeface="Times New Roman" panose="02020603050405020304" pitchFamily="18" charset="0"/>
                <a:cs typeface="Times New Roman" panose="02020603050405020304" pitchFamily="18" charset="0"/>
              </a:rPr>
              <a:t>Pre-processing</a:t>
            </a:r>
            <a:r>
              <a:rPr lang="en-GB" dirty="0">
                <a:latin typeface="Times New Roman" panose="02020603050405020304" pitchFamily="18" charset="0"/>
                <a:cs typeface="Times New Roman" panose="02020603050405020304" pitchFamily="18" charset="0"/>
              </a:rPr>
              <a:t>. Raw data is messy; issues like missing values, outliers, and inconsistencies reduce accuracy. Standardization, scaling, and encoding refine data, ensuring high-quality, reliable input for effective analysis and training</a:t>
            </a:r>
            <a:r>
              <a:rPr lang="en-GB" dirty="0" smtClean="0">
                <a:latin typeface="Times New Roman" panose="02020603050405020304" pitchFamily="18" charset="0"/>
                <a:cs typeface="Times New Roman" panose="02020603050405020304" pitchFamily="18" charset="0"/>
              </a:rPr>
              <a:t>.</a:t>
            </a:r>
          </a:p>
          <a:p>
            <a:pPr marL="114300" algn="just">
              <a:buClr>
                <a:schemeClr val="dk1"/>
              </a:buClr>
              <a:buSzPts val="1800"/>
            </a:pPr>
            <a:endParaRPr lang="en-GB" dirty="0">
              <a:latin typeface="Times New Roman" panose="02020603050405020304" pitchFamily="18" charset="0"/>
              <a:cs typeface="Times New Roman" panose="02020603050405020304" pitchFamily="18" charset="0"/>
            </a:endParaRPr>
          </a:p>
          <a:p>
            <a:pPr marL="114300" lvl="0" algn="l">
              <a:buClr>
                <a:schemeClr val="dk1"/>
              </a:buClr>
              <a:buSzPts val="1800"/>
            </a:pPr>
            <a:r>
              <a:rPr lang="en-GB" b="1" dirty="0">
                <a:latin typeface="Times New Roman" panose="02020603050405020304" pitchFamily="18" charset="0"/>
                <a:cs typeface="Times New Roman" panose="02020603050405020304" pitchFamily="18" charset="0"/>
              </a:rPr>
              <a:t>Step 4: Exploratory Data Analysis (EDA</a:t>
            </a:r>
            <a:r>
              <a:rPr lang="en-GB" b="1" dirty="0" smtClean="0">
                <a:latin typeface="Times New Roman" panose="02020603050405020304" pitchFamily="18" charset="0"/>
                <a:cs typeface="Times New Roman" panose="02020603050405020304" pitchFamily="18" charset="0"/>
              </a:rPr>
              <a:t>)</a:t>
            </a:r>
          </a:p>
          <a:p>
            <a:pPr marL="114300" lvl="0" algn="just">
              <a:buClr>
                <a:schemeClr val="dk1"/>
              </a:buClr>
              <a:buSzPts val="1800"/>
            </a:pPr>
            <a:r>
              <a:rPr lang="en-GB" dirty="0">
                <a:latin typeface="Times New Roman" panose="02020603050405020304" pitchFamily="18" charset="0"/>
                <a:cs typeface="Times New Roman" panose="02020603050405020304" pitchFamily="18" charset="0"/>
              </a:rPr>
              <a:t>Exploratory Data Analysis (EDA) reveals patterns, trends, and insights hidden in data. Using visualizations, EDA provides clear statistical summaries, guiding feature engineering, model selection, and decisions. It helps uncover valuable relationships essential for building effective machine learning models.</a:t>
            </a:r>
          </a:p>
          <a:p>
            <a:pPr marL="114300" algn="just">
              <a:buClr>
                <a:schemeClr val="dk1"/>
              </a:buClr>
              <a:buSzPts val="1800"/>
            </a:pP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132846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2051932" y="1111777"/>
            <a:ext cx="9144000" cy="2387600"/>
          </a:xfrm>
        </p:spPr>
        <p:txBody>
          <a:bodyPr>
            <a:noAutofit/>
          </a:bodyPr>
          <a:lstStyle/>
          <a:p>
            <a:r>
              <a:rPr lang="en-GB" sz="2800" dirty="0" smtClean="0"/>
              <a:t/>
            </a:r>
            <a:br>
              <a:rPr lang="en-GB" sz="2800" dirty="0" smtClean="0"/>
            </a:br>
            <a:endParaRPr lang="en-IN" sz="2400" dirty="0">
              <a:latin typeface="Calibri" panose="020F0502020204030204" pitchFamily="34" charset="0"/>
              <a:cs typeface="Calibri" panose="020F0502020204030204" pitchFamily="34" charset="0"/>
            </a:endParaRPr>
          </a:p>
        </p:txBody>
      </p:sp>
      <p:sp>
        <p:nvSpPr>
          <p:cNvPr id="6" name="Footer Placeholder 5">
            <a:extLst>
              <a:ext uri="{FF2B5EF4-FFF2-40B4-BE49-F238E27FC236}">
                <a16:creationId xmlns:a16="http://schemas.microsoft.com/office/drawing/2014/main" xmlns="" id="{0AC4C0B8-55BF-7607-C08F-4F93C85CCC8F}"/>
              </a:ext>
            </a:extLst>
          </p:cNvPr>
          <p:cNvSpPr>
            <a:spLocks noGrp="1"/>
          </p:cNvSpPr>
          <p:nvPr>
            <p:ph type="ftr" sz="quarter" idx="11"/>
          </p:nvPr>
        </p:nvSpPr>
        <p:spPr>
          <a:xfrm>
            <a:off x="2243139" y="6356350"/>
            <a:ext cx="8186736" cy="365125"/>
          </a:xfrm>
        </p:spPr>
        <p:txBody>
          <a:bodyPr/>
          <a:lstStyle/>
          <a:p>
            <a:r>
              <a:rPr lang="en-GB" sz="1400" smtClean="0"/>
              <a:t>Galgotias-Student Centered Active Learning Ecosystem &amp; Date 12-08-2026 </a:t>
            </a:r>
            <a:endParaRPr lang="en-IN" dirty="0"/>
          </a:p>
        </p:txBody>
      </p:sp>
      <p:pic>
        <p:nvPicPr>
          <p:cNvPr id="9" name="Picture 8" descr="A blue circle with text and words&#10;&#10;Description automatically generated">
            <a:extLst>
              <a:ext uri="{FF2B5EF4-FFF2-40B4-BE49-F238E27FC236}">
                <a16:creationId xmlns:a16="http://schemas.microsoft.com/office/drawing/2014/main" xmlns=""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3" name="Picture 2">
            <a:extLst>
              <a:ext uri="{FF2B5EF4-FFF2-40B4-BE49-F238E27FC236}">
                <a16:creationId xmlns:a16="http://schemas.microsoft.com/office/drawing/2014/main" xmlns="" id="{37C1D46A-BF2A-20B3-FD02-68B4F4BF6A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4" name="Rectangle 3"/>
          <p:cNvSpPr/>
          <p:nvPr/>
        </p:nvSpPr>
        <p:spPr>
          <a:xfrm>
            <a:off x="4451806" y="245794"/>
            <a:ext cx="5755520" cy="477054"/>
          </a:xfrm>
          <a:prstGeom prst="rect">
            <a:avLst/>
          </a:prstGeom>
        </p:spPr>
        <p:txBody>
          <a:bodyPr wrap="square">
            <a:spAutoFit/>
          </a:bodyPr>
          <a:lstStyle/>
          <a:p>
            <a:pPr lvl="0" algn="ctr"/>
            <a:r>
              <a:rPr lang="en-GB" sz="2500" b="1" dirty="0">
                <a:solidFill>
                  <a:srgbClr val="000000"/>
                </a:solidFill>
                <a:latin typeface="Arial"/>
                <a:ea typeface="Arial"/>
                <a:cs typeface="Arial"/>
                <a:sym typeface="Arial"/>
              </a:rPr>
              <a:t>Machine Learning Lifecycle</a:t>
            </a:r>
            <a:endParaRPr lang="en-GB" sz="2500" b="1" dirty="0">
              <a:solidFill>
                <a:srgbClr val="000000"/>
              </a:solidFill>
              <a:latin typeface="Arial"/>
              <a:ea typeface="Arial"/>
              <a:cs typeface="Arial"/>
              <a:sym typeface="Arial"/>
            </a:endParaRPr>
          </a:p>
        </p:txBody>
      </p:sp>
      <p:sp>
        <p:nvSpPr>
          <p:cNvPr id="2" name="Slide Number Placeholder 1"/>
          <p:cNvSpPr>
            <a:spLocks noGrp="1"/>
          </p:cNvSpPr>
          <p:nvPr>
            <p:ph type="sldNum" sz="quarter" idx="12"/>
          </p:nvPr>
        </p:nvSpPr>
        <p:spPr/>
        <p:txBody>
          <a:bodyPr/>
          <a:lstStyle/>
          <a:p>
            <a:fld id="{26510230-8DD5-4BA5-AB2D-CA30FC08F9D7}" type="slidenum">
              <a:rPr lang="en-IN" smtClean="0"/>
              <a:t>18</a:t>
            </a:fld>
            <a:endParaRPr lang="en-IN"/>
          </a:p>
        </p:txBody>
      </p:sp>
      <p:sp>
        <p:nvSpPr>
          <p:cNvPr id="10" name="Google Shape;227;p34"/>
          <p:cNvSpPr txBox="1">
            <a:spLocks/>
          </p:cNvSpPr>
          <p:nvPr/>
        </p:nvSpPr>
        <p:spPr>
          <a:xfrm>
            <a:off x="680332" y="1238282"/>
            <a:ext cx="10515600" cy="4805687"/>
          </a:xfrm>
          <a:prstGeom prst="rect">
            <a:avLst/>
          </a:prstGeom>
          <a:noFill/>
          <a:ln>
            <a:noFill/>
          </a:ln>
        </p:spPr>
        <p:txBody>
          <a:bodyPr spcFirstLastPara="1" vert="horz" wrap="square" lIns="91425" tIns="45700" rIns="91425" bIns="45700" rtlCol="0" anchor="t"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14300" algn="l">
              <a:buClr>
                <a:schemeClr val="dk1"/>
              </a:buClr>
              <a:buSzPts val="1800"/>
            </a:pPr>
            <a:r>
              <a:rPr lang="en-GB" b="1" dirty="0">
                <a:latin typeface="Times New Roman" panose="02020603050405020304" pitchFamily="18" charset="0"/>
                <a:cs typeface="Times New Roman" panose="02020603050405020304" pitchFamily="18" charset="0"/>
              </a:rPr>
              <a:t>Step 5: Feature Engineering and </a:t>
            </a:r>
            <a:r>
              <a:rPr lang="en-GB" b="1" dirty="0" smtClean="0">
                <a:latin typeface="Times New Roman" panose="02020603050405020304" pitchFamily="18" charset="0"/>
                <a:cs typeface="Times New Roman" panose="02020603050405020304" pitchFamily="18" charset="0"/>
              </a:rPr>
              <a:t>Selection</a:t>
            </a:r>
          </a:p>
          <a:p>
            <a:pPr marL="114300" algn="just">
              <a:buClr>
                <a:schemeClr val="dk1"/>
              </a:buClr>
              <a:buSzPts val="1800"/>
            </a:pPr>
            <a:r>
              <a:rPr lang="en-GB" dirty="0" smtClean="0">
                <a:latin typeface="Times New Roman" panose="02020603050405020304" pitchFamily="18" charset="0"/>
                <a:cs typeface="Times New Roman" panose="02020603050405020304" pitchFamily="18" charset="0"/>
              </a:rPr>
              <a:t>Feature </a:t>
            </a:r>
            <a:r>
              <a:rPr lang="en-GB" dirty="0">
                <a:latin typeface="Times New Roman" panose="02020603050405020304" pitchFamily="18" charset="0"/>
                <a:cs typeface="Times New Roman" panose="02020603050405020304" pitchFamily="18" charset="0"/>
              </a:rPr>
              <a:t>Engineering &amp; Selection refines data by choosing relevant variables and creating new features from existing ones. This process, guided by domain expertise, improves accuracy, enhances model efficiency, and reduces computational complexity, ensuring meaningful contributions to prediction.</a:t>
            </a:r>
          </a:p>
          <a:p>
            <a:pPr marL="114300" algn="just">
              <a:buClr>
                <a:schemeClr val="dk1"/>
              </a:buClr>
              <a:buSzPts val="1800"/>
            </a:pPr>
            <a:endParaRPr lang="en-GB" dirty="0">
              <a:latin typeface="Times New Roman" panose="02020603050405020304" pitchFamily="18" charset="0"/>
              <a:cs typeface="Times New Roman" panose="02020603050405020304" pitchFamily="18" charset="0"/>
            </a:endParaRPr>
          </a:p>
          <a:p>
            <a:pPr marL="114300" lvl="0" algn="l">
              <a:buClr>
                <a:schemeClr val="dk1"/>
              </a:buClr>
              <a:buSzPts val="1800"/>
            </a:pPr>
            <a:r>
              <a:rPr lang="en-GB" b="1" dirty="0">
                <a:latin typeface="Times New Roman" panose="02020603050405020304" pitchFamily="18" charset="0"/>
                <a:cs typeface="Times New Roman" panose="02020603050405020304" pitchFamily="18" charset="0"/>
              </a:rPr>
              <a:t>Step 6: Model </a:t>
            </a:r>
            <a:r>
              <a:rPr lang="en-GB" b="1" dirty="0" smtClean="0">
                <a:latin typeface="Times New Roman" panose="02020603050405020304" pitchFamily="18" charset="0"/>
                <a:cs typeface="Times New Roman" panose="02020603050405020304" pitchFamily="18" charset="0"/>
              </a:rPr>
              <a:t>Selection</a:t>
            </a:r>
          </a:p>
          <a:p>
            <a:pPr marL="114300" lvl="0" algn="just">
              <a:buClr>
                <a:schemeClr val="dk1"/>
              </a:buClr>
              <a:buSzPts val="1800"/>
            </a:pPr>
            <a:r>
              <a:rPr lang="en-GB" dirty="0" smtClean="0">
                <a:latin typeface="Times New Roman" panose="02020603050405020304" pitchFamily="18" charset="0"/>
                <a:cs typeface="Times New Roman" panose="02020603050405020304" pitchFamily="18" charset="0"/>
              </a:rPr>
              <a:t>Model </a:t>
            </a:r>
            <a:r>
              <a:rPr lang="en-GB" dirty="0">
                <a:latin typeface="Times New Roman" panose="02020603050405020304" pitchFamily="18" charset="0"/>
                <a:cs typeface="Times New Roman" panose="02020603050405020304" pitchFamily="18" charset="0"/>
              </a:rPr>
              <a:t>Selection is crucial for aligning the algorithm with the problem and dataset characteristics. The choice depends on data nature, problem complexity, and desired outcomes, determining the right framework for accurate and effective prediction.</a:t>
            </a:r>
          </a:p>
        </p:txBody>
      </p:sp>
    </p:spTree>
    <p:extLst>
      <p:ext uri="{BB962C8B-B14F-4D97-AF65-F5344CB8AC3E}">
        <p14:creationId xmlns:p14="http://schemas.microsoft.com/office/powerpoint/2010/main" val="176882029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2051932" y="1111777"/>
            <a:ext cx="9144000" cy="2387600"/>
          </a:xfrm>
        </p:spPr>
        <p:txBody>
          <a:bodyPr>
            <a:noAutofit/>
          </a:bodyPr>
          <a:lstStyle/>
          <a:p>
            <a:r>
              <a:rPr lang="en-GB" sz="2800" dirty="0" smtClean="0"/>
              <a:t/>
            </a:r>
            <a:br>
              <a:rPr lang="en-GB" sz="2800" dirty="0" smtClean="0"/>
            </a:br>
            <a:endParaRPr lang="en-IN" sz="2400" dirty="0">
              <a:latin typeface="Calibri" panose="020F0502020204030204" pitchFamily="34" charset="0"/>
              <a:cs typeface="Calibri" panose="020F0502020204030204" pitchFamily="34" charset="0"/>
            </a:endParaRPr>
          </a:p>
        </p:txBody>
      </p:sp>
      <p:sp>
        <p:nvSpPr>
          <p:cNvPr id="6" name="Footer Placeholder 5">
            <a:extLst>
              <a:ext uri="{FF2B5EF4-FFF2-40B4-BE49-F238E27FC236}">
                <a16:creationId xmlns:a16="http://schemas.microsoft.com/office/drawing/2014/main" xmlns="" id="{0AC4C0B8-55BF-7607-C08F-4F93C85CCC8F}"/>
              </a:ext>
            </a:extLst>
          </p:cNvPr>
          <p:cNvSpPr>
            <a:spLocks noGrp="1"/>
          </p:cNvSpPr>
          <p:nvPr>
            <p:ph type="ftr" sz="quarter" idx="11"/>
          </p:nvPr>
        </p:nvSpPr>
        <p:spPr>
          <a:xfrm>
            <a:off x="2243139" y="6356350"/>
            <a:ext cx="8186736" cy="365125"/>
          </a:xfrm>
        </p:spPr>
        <p:txBody>
          <a:bodyPr/>
          <a:lstStyle/>
          <a:p>
            <a:r>
              <a:rPr lang="en-GB" sz="1400" smtClean="0"/>
              <a:t>Galgotias-Student Centered Active Learning Ecosystem &amp; Date 12-08-2026 </a:t>
            </a:r>
            <a:endParaRPr lang="en-IN" dirty="0"/>
          </a:p>
        </p:txBody>
      </p:sp>
      <p:pic>
        <p:nvPicPr>
          <p:cNvPr id="9" name="Picture 8" descr="A blue circle with text and words&#10;&#10;Description automatically generated">
            <a:extLst>
              <a:ext uri="{FF2B5EF4-FFF2-40B4-BE49-F238E27FC236}">
                <a16:creationId xmlns:a16="http://schemas.microsoft.com/office/drawing/2014/main" xmlns=""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3" name="Picture 2">
            <a:extLst>
              <a:ext uri="{FF2B5EF4-FFF2-40B4-BE49-F238E27FC236}">
                <a16:creationId xmlns:a16="http://schemas.microsoft.com/office/drawing/2014/main" xmlns="" id="{37C1D46A-BF2A-20B3-FD02-68B4F4BF6A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4" name="Rectangle 3"/>
          <p:cNvSpPr/>
          <p:nvPr/>
        </p:nvSpPr>
        <p:spPr>
          <a:xfrm>
            <a:off x="4451806" y="245794"/>
            <a:ext cx="5755520" cy="477054"/>
          </a:xfrm>
          <a:prstGeom prst="rect">
            <a:avLst/>
          </a:prstGeom>
        </p:spPr>
        <p:txBody>
          <a:bodyPr wrap="square">
            <a:spAutoFit/>
          </a:bodyPr>
          <a:lstStyle/>
          <a:p>
            <a:pPr lvl="0" algn="ctr"/>
            <a:r>
              <a:rPr lang="en-GB" sz="2500" b="1" dirty="0">
                <a:solidFill>
                  <a:srgbClr val="000000"/>
                </a:solidFill>
                <a:latin typeface="Arial"/>
                <a:ea typeface="Arial"/>
                <a:cs typeface="Arial"/>
                <a:sym typeface="Arial"/>
              </a:rPr>
              <a:t>Machine Learning Lifecycle</a:t>
            </a:r>
            <a:endParaRPr lang="en-GB" sz="2500" b="1" dirty="0">
              <a:solidFill>
                <a:srgbClr val="000000"/>
              </a:solidFill>
              <a:latin typeface="Arial"/>
              <a:ea typeface="Arial"/>
              <a:cs typeface="Arial"/>
              <a:sym typeface="Arial"/>
            </a:endParaRPr>
          </a:p>
        </p:txBody>
      </p:sp>
      <p:sp>
        <p:nvSpPr>
          <p:cNvPr id="2" name="Slide Number Placeholder 1"/>
          <p:cNvSpPr>
            <a:spLocks noGrp="1"/>
          </p:cNvSpPr>
          <p:nvPr>
            <p:ph type="sldNum" sz="quarter" idx="12"/>
          </p:nvPr>
        </p:nvSpPr>
        <p:spPr/>
        <p:txBody>
          <a:bodyPr/>
          <a:lstStyle/>
          <a:p>
            <a:fld id="{26510230-8DD5-4BA5-AB2D-CA30FC08F9D7}" type="slidenum">
              <a:rPr lang="en-IN" smtClean="0"/>
              <a:t>19</a:t>
            </a:fld>
            <a:endParaRPr lang="en-IN"/>
          </a:p>
        </p:txBody>
      </p:sp>
      <p:sp>
        <p:nvSpPr>
          <p:cNvPr id="10" name="Google Shape;227;p34"/>
          <p:cNvSpPr txBox="1">
            <a:spLocks/>
          </p:cNvSpPr>
          <p:nvPr/>
        </p:nvSpPr>
        <p:spPr>
          <a:xfrm>
            <a:off x="680332" y="1238282"/>
            <a:ext cx="10515600" cy="4805687"/>
          </a:xfrm>
          <a:prstGeom prst="rect">
            <a:avLst/>
          </a:prstGeom>
          <a:noFill/>
          <a:ln>
            <a:noFill/>
          </a:ln>
        </p:spPr>
        <p:txBody>
          <a:bodyPr spcFirstLastPara="1" vert="horz" wrap="square" lIns="91425" tIns="45700" rIns="91425" bIns="45700" rtlCol="0" anchor="t"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14300" algn="l">
              <a:buClr>
                <a:schemeClr val="dk1"/>
              </a:buClr>
              <a:buSzPts val="1800"/>
            </a:pPr>
            <a:r>
              <a:rPr lang="en-GB" b="1" dirty="0">
                <a:latin typeface="Times New Roman" panose="02020603050405020304" pitchFamily="18" charset="0"/>
                <a:cs typeface="Times New Roman" panose="02020603050405020304" pitchFamily="18" charset="0"/>
              </a:rPr>
              <a:t>Step 7: Model </a:t>
            </a:r>
            <a:r>
              <a:rPr lang="en-GB" b="1" dirty="0" smtClean="0">
                <a:latin typeface="Times New Roman" panose="02020603050405020304" pitchFamily="18" charset="0"/>
                <a:cs typeface="Times New Roman" panose="02020603050405020304" pitchFamily="18" charset="0"/>
              </a:rPr>
              <a:t>Training</a:t>
            </a:r>
          </a:p>
          <a:p>
            <a:pPr marL="114300" algn="just">
              <a:buClr>
                <a:schemeClr val="dk1"/>
              </a:buClr>
              <a:buSzPts val="1800"/>
            </a:pPr>
            <a:r>
              <a:rPr lang="en-GB" dirty="0">
                <a:latin typeface="Times New Roman" panose="02020603050405020304" pitchFamily="18" charset="0"/>
                <a:cs typeface="Times New Roman" panose="02020603050405020304" pitchFamily="18" charset="0"/>
              </a:rPr>
              <a:t>With the chosen model, the lifecycle advances to Model Training, where algorithms learn patterns and relationships from historical data. Through iterative parameter tuning, the model minimizes errors, improves accuracy, and ensures reliable predictions on new, unseen real-world data.</a:t>
            </a:r>
          </a:p>
          <a:p>
            <a:pPr marL="114300" algn="just">
              <a:buClr>
                <a:schemeClr val="dk1"/>
              </a:buClr>
              <a:buSzPts val="1800"/>
            </a:pPr>
            <a:endParaRPr lang="en-GB" dirty="0">
              <a:latin typeface="Times New Roman" panose="02020603050405020304" pitchFamily="18" charset="0"/>
              <a:cs typeface="Times New Roman" panose="02020603050405020304" pitchFamily="18" charset="0"/>
            </a:endParaRPr>
          </a:p>
          <a:p>
            <a:pPr marL="114300" lvl="0" algn="l">
              <a:buClr>
                <a:schemeClr val="dk1"/>
              </a:buClr>
              <a:buSzPts val="1800"/>
            </a:pPr>
            <a:r>
              <a:rPr lang="en-GB" b="1" dirty="0">
                <a:latin typeface="Times New Roman" panose="02020603050405020304" pitchFamily="18" charset="0"/>
                <a:cs typeface="Times New Roman" panose="02020603050405020304" pitchFamily="18" charset="0"/>
              </a:rPr>
              <a:t>Step 8: Model Evaluation and Tuning</a:t>
            </a:r>
            <a:endParaRPr lang="en-GB" b="1" dirty="0" smtClean="0">
              <a:latin typeface="Times New Roman" panose="02020603050405020304" pitchFamily="18" charset="0"/>
              <a:cs typeface="Times New Roman" panose="02020603050405020304" pitchFamily="18" charset="0"/>
            </a:endParaRPr>
          </a:p>
          <a:p>
            <a:pPr marL="114300" lvl="0" algn="just">
              <a:buClr>
                <a:schemeClr val="dk1"/>
              </a:buClr>
              <a:buSzPts val="1800"/>
            </a:pPr>
            <a:r>
              <a:rPr lang="en-GB" dirty="0">
                <a:latin typeface="Times New Roman" panose="02020603050405020304" pitchFamily="18" charset="0"/>
                <a:cs typeface="Times New Roman" panose="02020603050405020304" pitchFamily="18" charset="0"/>
              </a:rPr>
              <a:t>Model Evaluation tests performance on validation/test data using metrics like accuracy, precision, recall, and F1-score. It reveals model strengths and weaknesses, guiding </a:t>
            </a:r>
            <a:r>
              <a:rPr lang="en-GB" dirty="0" err="1">
                <a:latin typeface="Times New Roman" panose="02020603050405020304" pitchFamily="18" charset="0"/>
                <a:cs typeface="Times New Roman" panose="02020603050405020304" pitchFamily="18" charset="0"/>
              </a:rPr>
              <a:t>hyperparameter</a:t>
            </a:r>
            <a:r>
              <a:rPr lang="en-GB" dirty="0">
                <a:latin typeface="Times New Roman" panose="02020603050405020304" pitchFamily="18" charset="0"/>
                <a:cs typeface="Times New Roman" panose="02020603050405020304" pitchFamily="18" charset="0"/>
              </a:rPr>
              <a:t> tuning in an iterative cycle to ensure robustness, reliability, and improved predictive accuracy</a:t>
            </a:r>
          </a:p>
        </p:txBody>
      </p:sp>
    </p:spTree>
    <p:extLst>
      <p:ext uri="{BB962C8B-B14F-4D97-AF65-F5344CB8AC3E}">
        <p14:creationId xmlns:p14="http://schemas.microsoft.com/office/powerpoint/2010/main" val="176772598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2051932" y="1111777"/>
            <a:ext cx="9144000" cy="2387600"/>
          </a:xfrm>
        </p:spPr>
        <p:txBody>
          <a:bodyPr>
            <a:noAutofit/>
          </a:bodyPr>
          <a:lstStyle/>
          <a:p>
            <a:r>
              <a:rPr lang="en-GB" sz="2800" dirty="0" smtClean="0"/>
              <a:t/>
            </a:r>
            <a:br>
              <a:rPr lang="en-GB" sz="2800" dirty="0" smtClean="0"/>
            </a:br>
            <a:endParaRPr lang="en-IN" sz="2400" dirty="0">
              <a:latin typeface="Calibri" panose="020F0502020204030204" pitchFamily="34" charset="0"/>
              <a:cs typeface="Calibri" panose="020F0502020204030204" pitchFamily="34" charset="0"/>
            </a:endParaRPr>
          </a:p>
        </p:txBody>
      </p:sp>
      <p:sp>
        <p:nvSpPr>
          <p:cNvPr id="6" name="Footer Placeholder 5">
            <a:extLst>
              <a:ext uri="{FF2B5EF4-FFF2-40B4-BE49-F238E27FC236}">
                <a16:creationId xmlns:a16="http://schemas.microsoft.com/office/drawing/2014/main" xmlns="" id="{0AC4C0B8-55BF-7607-C08F-4F93C85CCC8F}"/>
              </a:ext>
            </a:extLst>
          </p:cNvPr>
          <p:cNvSpPr>
            <a:spLocks noGrp="1"/>
          </p:cNvSpPr>
          <p:nvPr>
            <p:ph type="ftr" sz="quarter" idx="11"/>
          </p:nvPr>
        </p:nvSpPr>
        <p:spPr>
          <a:xfrm>
            <a:off x="2243139" y="6356350"/>
            <a:ext cx="8186736" cy="365125"/>
          </a:xfrm>
        </p:spPr>
        <p:txBody>
          <a:bodyPr/>
          <a:lstStyle/>
          <a:p>
            <a:r>
              <a:rPr lang="en-GB" sz="1400" smtClean="0"/>
              <a:t>Galgotias-Student Centered Active Learning Ecosystem &amp; Date 12-08-2026 </a:t>
            </a:r>
            <a:endParaRPr lang="en-IN" dirty="0"/>
          </a:p>
        </p:txBody>
      </p:sp>
      <p:pic>
        <p:nvPicPr>
          <p:cNvPr id="9" name="Picture 8" descr="A blue circle with text and words&#10;&#10;Description automatically generated">
            <a:extLst>
              <a:ext uri="{FF2B5EF4-FFF2-40B4-BE49-F238E27FC236}">
                <a16:creationId xmlns:a16="http://schemas.microsoft.com/office/drawing/2014/main" xmlns=""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3" name="Picture 2">
            <a:extLst>
              <a:ext uri="{FF2B5EF4-FFF2-40B4-BE49-F238E27FC236}">
                <a16:creationId xmlns:a16="http://schemas.microsoft.com/office/drawing/2014/main" xmlns="" id="{37C1D46A-BF2A-20B3-FD02-68B4F4BF6A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4" name="Rectangle 3"/>
          <p:cNvSpPr/>
          <p:nvPr/>
        </p:nvSpPr>
        <p:spPr>
          <a:xfrm>
            <a:off x="4451806" y="245794"/>
            <a:ext cx="5755520" cy="477054"/>
          </a:xfrm>
          <a:prstGeom prst="rect">
            <a:avLst/>
          </a:prstGeom>
        </p:spPr>
        <p:txBody>
          <a:bodyPr wrap="square">
            <a:spAutoFit/>
          </a:bodyPr>
          <a:lstStyle/>
          <a:p>
            <a:pPr lvl="0" algn="ctr"/>
            <a:r>
              <a:rPr lang="en-GB" sz="2500" b="1" dirty="0">
                <a:solidFill>
                  <a:srgbClr val="000000"/>
                </a:solidFill>
                <a:latin typeface="Arial"/>
                <a:ea typeface="Arial"/>
                <a:cs typeface="Arial"/>
                <a:sym typeface="Arial"/>
              </a:rPr>
              <a:t>Machine Learning Lifecycle</a:t>
            </a:r>
            <a:endParaRPr lang="en-GB" sz="2500" b="1" dirty="0">
              <a:solidFill>
                <a:srgbClr val="000000"/>
              </a:solidFill>
              <a:latin typeface="Arial"/>
              <a:ea typeface="Arial"/>
              <a:cs typeface="Arial"/>
              <a:sym typeface="Arial"/>
            </a:endParaRPr>
          </a:p>
        </p:txBody>
      </p:sp>
      <p:sp>
        <p:nvSpPr>
          <p:cNvPr id="2" name="Slide Number Placeholder 1"/>
          <p:cNvSpPr>
            <a:spLocks noGrp="1"/>
          </p:cNvSpPr>
          <p:nvPr>
            <p:ph type="sldNum" sz="quarter" idx="12"/>
          </p:nvPr>
        </p:nvSpPr>
        <p:spPr/>
        <p:txBody>
          <a:bodyPr/>
          <a:lstStyle/>
          <a:p>
            <a:fld id="{26510230-8DD5-4BA5-AB2D-CA30FC08F9D7}" type="slidenum">
              <a:rPr lang="en-IN" smtClean="0"/>
              <a:t>20</a:t>
            </a:fld>
            <a:endParaRPr lang="en-IN"/>
          </a:p>
        </p:txBody>
      </p:sp>
      <p:sp>
        <p:nvSpPr>
          <p:cNvPr id="10" name="Google Shape;227;p34"/>
          <p:cNvSpPr txBox="1">
            <a:spLocks/>
          </p:cNvSpPr>
          <p:nvPr/>
        </p:nvSpPr>
        <p:spPr>
          <a:xfrm>
            <a:off x="680332" y="1238282"/>
            <a:ext cx="10515600" cy="4805687"/>
          </a:xfrm>
          <a:prstGeom prst="rect">
            <a:avLst/>
          </a:prstGeom>
          <a:noFill/>
          <a:ln>
            <a:noFill/>
          </a:ln>
        </p:spPr>
        <p:txBody>
          <a:bodyPr spcFirstLastPara="1" vert="horz" wrap="square" lIns="91425" tIns="45700" rIns="91425" bIns="45700" rtlCol="0" anchor="t"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14300" algn="l">
              <a:buClr>
                <a:schemeClr val="dk1"/>
              </a:buClr>
              <a:buSzPts val="1800"/>
            </a:pPr>
            <a:r>
              <a:rPr lang="en-GB" b="1" dirty="0">
                <a:latin typeface="Times New Roman" panose="02020603050405020304" pitchFamily="18" charset="0"/>
                <a:cs typeface="Times New Roman" panose="02020603050405020304" pitchFamily="18" charset="0"/>
              </a:rPr>
              <a:t>Step 9: Model </a:t>
            </a:r>
            <a:r>
              <a:rPr lang="en-GB" b="1" dirty="0" smtClean="0">
                <a:latin typeface="Times New Roman" panose="02020603050405020304" pitchFamily="18" charset="0"/>
                <a:cs typeface="Times New Roman" panose="02020603050405020304" pitchFamily="18" charset="0"/>
              </a:rPr>
              <a:t>Deployment</a:t>
            </a:r>
          </a:p>
          <a:p>
            <a:pPr marL="114300" algn="just">
              <a:buClr>
                <a:schemeClr val="dk1"/>
              </a:buClr>
              <a:buSzPts val="1800"/>
            </a:pPr>
            <a:r>
              <a:rPr lang="en-GB" dirty="0">
                <a:latin typeface="Times New Roman" panose="02020603050405020304" pitchFamily="18" charset="0"/>
                <a:cs typeface="Times New Roman" panose="02020603050405020304" pitchFamily="18" charset="0"/>
              </a:rPr>
              <a:t>Model Deployment integrates the trained model into real-world systems, enabling informed decision-making. It delivers practical solutions to business needs while requiring continuous monitoring and adjustments to maintain effectiveness, ensuring theoretical insights transform into impactful applications.</a:t>
            </a:r>
          </a:p>
          <a:p>
            <a:pPr marL="114300" algn="just">
              <a:buClr>
                <a:schemeClr val="dk1"/>
              </a:buClr>
              <a:buSzPts val="1800"/>
            </a:pPr>
            <a:endParaRPr lang="en-GB" dirty="0">
              <a:latin typeface="Times New Roman" panose="02020603050405020304" pitchFamily="18" charset="0"/>
              <a:cs typeface="Times New Roman" panose="02020603050405020304" pitchFamily="18" charset="0"/>
            </a:endParaRPr>
          </a:p>
          <a:p>
            <a:pPr marL="114300" lvl="0" algn="l">
              <a:buClr>
                <a:schemeClr val="dk1"/>
              </a:buClr>
              <a:buSzPts val="1800"/>
            </a:pPr>
            <a:r>
              <a:rPr lang="en-GB" b="1" dirty="0">
                <a:latin typeface="Times New Roman" panose="02020603050405020304" pitchFamily="18" charset="0"/>
                <a:cs typeface="Times New Roman" panose="02020603050405020304" pitchFamily="18" charset="0"/>
              </a:rPr>
              <a:t>Step10. Model Monitoring and </a:t>
            </a:r>
            <a:r>
              <a:rPr lang="en-GB" b="1" dirty="0" smtClean="0">
                <a:latin typeface="Times New Roman" panose="02020603050405020304" pitchFamily="18" charset="0"/>
                <a:cs typeface="Times New Roman" panose="02020603050405020304" pitchFamily="18" charset="0"/>
              </a:rPr>
              <a:t>Maintenance</a:t>
            </a:r>
          </a:p>
          <a:p>
            <a:pPr marL="114300" lvl="0" algn="l">
              <a:buClr>
                <a:schemeClr val="dk1"/>
              </a:buClr>
              <a:buSzPts val="1800"/>
            </a:pPr>
            <a:r>
              <a:rPr lang="en-GB" b="1" dirty="0">
                <a:latin typeface="Times New Roman" panose="02020603050405020304" pitchFamily="18" charset="0"/>
                <a:cs typeface="Times New Roman" panose="02020603050405020304" pitchFamily="18" charset="0"/>
              </a:rPr>
              <a:t/>
            </a:r>
            <a:br>
              <a:rPr lang="en-GB" b="1" dirty="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Model </a:t>
            </a:r>
            <a:r>
              <a:rPr lang="en-GB" dirty="0">
                <a:latin typeface="Times New Roman" panose="02020603050405020304" pitchFamily="18" charset="0"/>
                <a:cs typeface="Times New Roman" panose="02020603050405020304" pitchFamily="18" charset="0"/>
              </a:rPr>
              <a:t>Monitoring &amp; Maintenance ensures deployed models remain accurate and reliable over time. By tracking performance, detecting concept drift, and applying updates/retraining, this phase supports continuous improvement, sustaining model effectiveness in dynamic real-world environments.</a:t>
            </a:r>
          </a:p>
        </p:txBody>
      </p:sp>
    </p:spTree>
    <p:extLst>
      <p:ext uri="{BB962C8B-B14F-4D97-AF65-F5344CB8AC3E}">
        <p14:creationId xmlns:p14="http://schemas.microsoft.com/office/powerpoint/2010/main" val="299298591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noAutofit/>
          </a:bodyPr>
          <a:lstStyle/>
          <a:p>
            <a:r>
              <a:rPr lang="en-GB" sz="2800" dirty="0" smtClean="0"/>
              <a:t/>
            </a:r>
            <a:br>
              <a:rPr lang="en-GB" sz="2800" dirty="0" smtClean="0"/>
            </a:br>
            <a:endParaRPr lang="en-IN" sz="2400" dirty="0">
              <a:latin typeface="Calibri" panose="020F0502020204030204" pitchFamily="34" charset="0"/>
              <a:cs typeface="Calibri" panose="020F0502020204030204" pitchFamily="34" charset="0"/>
            </a:endParaRPr>
          </a:p>
        </p:txBody>
      </p:sp>
      <p:sp>
        <p:nvSpPr>
          <p:cNvPr id="7" name="Slide Number Placeholder 6">
            <a:extLst>
              <a:ext uri="{FF2B5EF4-FFF2-40B4-BE49-F238E27FC236}">
                <a16:creationId xmlns:a16="http://schemas.microsoft.com/office/drawing/2014/main" xmlns="" id="{28EC62E8-F0EB-0BD9-2B59-1AA3588B6594}"/>
              </a:ext>
            </a:extLst>
          </p:cNvPr>
          <p:cNvSpPr>
            <a:spLocks noGrp="1"/>
          </p:cNvSpPr>
          <p:nvPr>
            <p:ph type="sldNum" sz="quarter" idx="12"/>
          </p:nvPr>
        </p:nvSpPr>
        <p:spPr/>
        <p:txBody>
          <a:bodyPr/>
          <a:lstStyle/>
          <a:p>
            <a:fld id="{26510230-8DD5-4BA5-AB2D-CA30FC08F9D7}" type="slidenum">
              <a:rPr lang="en-IN" smtClean="0"/>
              <a:t>21</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xmlns=""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3" name="Picture 2">
            <a:extLst>
              <a:ext uri="{FF2B5EF4-FFF2-40B4-BE49-F238E27FC236}">
                <a16:creationId xmlns:a16="http://schemas.microsoft.com/office/drawing/2014/main" xmlns="" id="{37C1D46A-BF2A-20B3-FD02-68B4F4BF6A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4" name="Rectangle 3"/>
          <p:cNvSpPr/>
          <p:nvPr/>
        </p:nvSpPr>
        <p:spPr>
          <a:xfrm>
            <a:off x="629839" y="1002381"/>
            <a:ext cx="9800036" cy="646331"/>
          </a:xfrm>
          <a:prstGeom prst="rect">
            <a:avLst/>
          </a:prstGeom>
        </p:spPr>
        <p:txBody>
          <a:bodyPr wrap="square">
            <a:spAutoFit/>
          </a:bodyPr>
          <a:lstStyle/>
          <a:p>
            <a:pPr lvl="0" algn="ctr"/>
            <a:r>
              <a:rPr lang="en-IN" sz="3600" b="1" dirty="0"/>
              <a:t>Activity </a:t>
            </a:r>
            <a:r>
              <a:rPr lang="en-IN" sz="3600" b="1" dirty="0" smtClean="0"/>
              <a:t>2:Quiz in Wooclap </a:t>
            </a:r>
          </a:p>
        </p:txBody>
      </p:sp>
      <p:sp>
        <p:nvSpPr>
          <p:cNvPr id="11" name="Footer Placeholder 5">
            <a:extLst>
              <a:ext uri="{FF2B5EF4-FFF2-40B4-BE49-F238E27FC236}">
                <a16:creationId xmlns:a16="http://schemas.microsoft.com/office/drawing/2014/main" xmlns="" id="{0AC4C0B8-55BF-7607-C08F-4F93C85CCC8F}"/>
              </a:ext>
            </a:extLst>
          </p:cNvPr>
          <p:cNvSpPr>
            <a:spLocks noGrp="1"/>
          </p:cNvSpPr>
          <p:nvPr>
            <p:ph type="ftr" sz="quarter" idx="11"/>
          </p:nvPr>
        </p:nvSpPr>
        <p:spPr>
          <a:xfrm>
            <a:off x="2243139" y="6356350"/>
            <a:ext cx="8186736" cy="365125"/>
          </a:xfrm>
        </p:spPr>
        <p:txBody>
          <a:bodyPr/>
          <a:lstStyle/>
          <a:p>
            <a:r>
              <a:rPr lang="en-GB" sz="1400" smtClean="0"/>
              <a:t>Galgotias-Student Centered Active Learning Ecosystem &amp; Date 12-08-2026 </a:t>
            </a:r>
            <a:endParaRPr lang="en-IN" dirty="0"/>
          </a:p>
        </p:txBody>
      </p:sp>
      <p:pic>
        <p:nvPicPr>
          <p:cNvPr id="2" name="Picture 1"/>
          <p:cNvPicPr>
            <a:picLocks noChangeAspect="1"/>
          </p:cNvPicPr>
          <p:nvPr/>
        </p:nvPicPr>
        <p:blipFill>
          <a:blip r:embed="rId4"/>
          <a:stretch>
            <a:fillRect/>
          </a:stretch>
        </p:blipFill>
        <p:spPr>
          <a:xfrm>
            <a:off x="4562474" y="2230437"/>
            <a:ext cx="3152775" cy="3152775"/>
          </a:xfrm>
          <a:prstGeom prst="rect">
            <a:avLst/>
          </a:prstGeom>
        </p:spPr>
      </p:pic>
    </p:spTree>
    <p:extLst>
      <p:ext uri="{BB962C8B-B14F-4D97-AF65-F5344CB8AC3E}">
        <p14:creationId xmlns:p14="http://schemas.microsoft.com/office/powerpoint/2010/main" val="384595443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FC14F6-7B57-DCCF-E6C1-F00D5A0C0026}"/>
              </a:ext>
            </a:extLst>
          </p:cNvPr>
          <p:cNvSpPr>
            <a:spLocks noGrp="1"/>
          </p:cNvSpPr>
          <p:nvPr>
            <p:ph type="ctrTitle"/>
          </p:nvPr>
        </p:nvSpPr>
        <p:spPr>
          <a:xfrm>
            <a:off x="1409700" y="1002834"/>
            <a:ext cx="9144000" cy="540216"/>
          </a:xfrm>
        </p:spPr>
        <p:txBody>
          <a:bodyPr>
            <a:normAutofit fontScale="90000"/>
          </a:bodyPr>
          <a:lstStyle/>
          <a:p>
            <a:r>
              <a:rPr lang="en-IN" sz="4400" b="1" dirty="0"/>
              <a:t>Summary</a:t>
            </a:r>
            <a:endParaRPr lang="en-IN" b="1" dirty="0"/>
          </a:p>
        </p:txBody>
      </p:sp>
      <p:sp>
        <p:nvSpPr>
          <p:cNvPr id="5" name="Slide Number Placeholder 4">
            <a:extLst>
              <a:ext uri="{FF2B5EF4-FFF2-40B4-BE49-F238E27FC236}">
                <a16:creationId xmlns:a16="http://schemas.microsoft.com/office/drawing/2014/main" xmlns="" id="{738DC841-660F-050E-F1D5-7EDF89E46187}"/>
              </a:ext>
            </a:extLst>
          </p:cNvPr>
          <p:cNvSpPr>
            <a:spLocks noGrp="1"/>
          </p:cNvSpPr>
          <p:nvPr>
            <p:ph type="sldNum" sz="quarter" idx="12"/>
          </p:nvPr>
        </p:nvSpPr>
        <p:spPr/>
        <p:txBody>
          <a:bodyPr/>
          <a:lstStyle/>
          <a:p>
            <a:fld id="{26510230-8DD5-4BA5-AB2D-CA30FC08F9D7}" type="slidenum">
              <a:rPr lang="en-IN" smtClean="0"/>
              <a:t>22</a:t>
            </a:fld>
            <a:endParaRPr lang="en-IN"/>
          </a:p>
        </p:txBody>
      </p:sp>
      <p:pic>
        <p:nvPicPr>
          <p:cNvPr id="7" name="Picture 6" descr="A blue circle with text and words&#10;&#10;Description automatically generated">
            <a:extLst>
              <a:ext uri="{FF2B5EF4-FFF2-40B4-BE49-F238E27FC236}">
                <a16:creationId xmlns:a16="http://schemas.microsoft.com/office/drawing/2014/main" xmlns="" id="{C48F32E8-1C2C-DDC5-5A63-CE0734EE2B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8" name="Picture 7">
            <a:extLst>
              <a:ext uri="{FF2B5EF4-FFF2-40B4-BE49-F238E27FC236}">
                <a16:creationId xmlns:a16="http://schemas.microsoft.com/office/drawing/2014/main" xmlns="" id="{A200A3D7-8C56-079A-BFFF-58D27E7ED9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10" name="Footer Placeholder 5">
            <a:extLst>
              <a:ext uri="{FF2B5EF4-FFF2-40B4-BE49-F238E27FC236}">
                <a16:creationId xmlns:a16="http://schemas.microsoft.com/office/drawing/2014/main" xmlns="" id="{0AC4C0B8-55BF-7607-C08F-4F93C85CCC8F}"/>
              </a:ext>
            </a:extLst>
          </p:cNvPr>
          <p:cNvSpPr>
            <a:spLocks noGrp="1"/>
          </p:cNvSpPr>
          <p:nvPr>
            <p:ph type="ftr" sz="quarter" idx="11"/>
          </p:nvPr>
        </p:nvSpPr>
        <p:spPr>
          <a:xfrm>
            <a:off x="2243139" y="6356350"/>
            <a:ext cx="8186736" cy="365125"/>
          </a:xfrm>
        </p:spPr>
        <p:txBody>
          <a:bodyPr/>
          <a:lstStyle/>
          <a:p>
            <a:r>
              <a:rPr lang="en-GB" sz="1400" smtClean="0"/>
              <a:t>Galgotias-Student Centered Active Learning Ecosystem &amp; Date 12-08-2026 </a:t>
            </a:r>
            <a:endParaRPr lang="en-IN" dirty="0"/>
          </a:p>
        </p:txBody>
      </p:sp>
      <p:graphicFrame>
        <p:nvGraphicFramePr>
          <p:cNvPr id="11" name="Content Placeholder 2">
            <a:extLst>
              <a:ext uri="{FF2B5EF4-FFF2-40B4-BE49-F238E27FC236}">
                <a16:creationId xmlns:a16="http://schemas.microsoft.com/office/drawing/2014/main" xmlns="" id="{41A9FE4B-6F20-1C22-6353-F1166E69B9D5}"/>
              </a:ext>
            </a:extLst>
          </p:cNvPr>
          <p:cNvGraphicFramePr>
            <a:graphicFrameLocks/>
          </p:cNvGraphicFramePr>
          <p:nvPr>
            <p:extLst>
              <p:ext uri="{D42A27DB-BD31-4B8C-83A1-F6EECF244321}">
                <p14:modId xmlns:p14="http://schemas.microsoft.com/office/powerpoint/2010/main" val="869916344"/>
              </p:ext>
            </p:extLst>
          </p:nvPr>
        </p:nvGraphicFramePr>
        <p:xfrm>
          <a:off x="876118" y="2085975"/>
          <a:ext cx="8339320" cy="311467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31132874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CC8EF4F-6060-143D-E2D3-D39BCB3ADDA4}"/>
              </a:ext>
            </a:extLst>
          </p:cNvPr>
          <p:cNvSpPr>
            <a:spLocks noGrp="1"/>
          </p:cNvSpPr>
          <p:nvPr>
            <p:ph type="title"/>
          </p:nvPr>
        </p:nvSpPr>
        <p:spPr>
          <a:xfrm>
            <a:off x="479165" y="749508"/>
            <a:ext cx="9718111" cy="1576446"/>
          </a:xfrm>
        </p:spPr>
        <p:txBody>
          <a:bodyPr anchor="ctr">
            <a:normAutofit fontScale="90000"/>
          </a:bodyPr>
          <a:lstStyle/>
          <a:p>
            <a:r>
              <a:rPr lang="en-US" sz="4000" b="1" dirty="0"/>
              <a:t>Ensure attainment of LOs in alignment to the learning activities:</a:t>
            </a:r>
            <a:r>
              <a:rPr lang="en-IN" sz="4000" b="1" dirty="0">
                <a:solidFill>
                  <a:srgbClr val="FFFFFF"/>
                </a:solidFill>
                <a:latin typeface="Arial" panose="020B0604020202020204" pitchFamily="34" charset="0"/>
                <a:cs typeface="Arial" panose="020B0604020202020204" pitchFamily="34" charset="0"/>
              </a:rPr>
              <a:t> outcomes (1-2)</a:t>
            </a:r>
          </a:p>
        </p:txBody>
      </p:sp>
      <p:sp>
        <p:nvSpPr>
          <p:cNvPr id="5" name="Slide Number Placeholder 4">
            <a:extLst>
              <a:ext uri="{FF2B5EF4-FFF2-40B4-BE49-F238E27FC236}">
                <a16:creationId xmlns:a16="http://schemas.microsoft.com/office/drawing/2014/main" xmlns="" id="{55C8336F-1062-6386-8BEE-9A71FD367732}"/>
              </a:ext>
            </a:extLst>
          </p:cNvPr>
          <p:cNvSpPr>
            <a:spLocks noGrp="1"/>
          </p:cNvSpPr>
          <p:nvPr>
            <p:ph type="sldNum" sz="quarter" idx="12"/>
          </p:nvPr>
        </p:nvSpPr>
        <p:spPr/>
        <p:txBody>
          <a:bodyPr/>
          <a:lstStyle/>
          <a:p>
            <a:fld id="{26510230-8DD5-4BA5-AB2D-CA30FC08F9D7}" type="slidenum">
              <a:rPr lang="en-IN" smtClean="0"/>
              <a:t>23</a:t>
            </a:fld>
            <a:endParaRPr lang="en-IN"/>
          </a:p>
        </p:txBody>
      </p:sp>
      <p:pic>
        <p:nvPicPr>
          <p:cNvPr id="7" name="Picture 6" descr="A blue circle with text and words&#10;&#10;Description automatically generated">
            <a:extLst>
              <a:ext uri="{FF2B5EF4-FFF2-40B4-BE49-F238E27FC236}">
                <a16:creationId xmlns:a16="http://schemas.microsoft.com/office/drawing/2014/main" xmlns="" id="{E29D7986-4818-A798-4420-A7D3A24FA0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3" name="Picture 2">
            <a:extLst>
              <a:ext uri="{FF2B5EF4-FFF2-40B4-BE49-F238E27FC236}">
                <a16:creationId xmlns:a16="http://schemas.microsoft.com/office/drawing/2014/main" xmlns=""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8" name="Footer Placeholder 5">
            <a:extLst>
              <a:ext uri="{FF2B5EF4-FFF2-40B4-BE49-F238E27FC236}">
                <a16:creationId xmlns:a16="http://schemas.microsoft.com/office/drawing/2014/main" xmlns="" id="{0AC4C0B8-55BF-7607-C08F-4F93C85CCC8F}"/>
              </a:ext>
            </a:extLst>
          </p:cNvPr>
          <p:cNvSpPr>
            <a:spLocks noGrp="1"/>
          </p:cNvSpPr>
          <p:nvPr>
            <p:ph type="ftr" sz="quarter" idx="11"/>
          </p:nvPr>
        </p:nvSpPr>
        <p:spPr>
          <a:xfrm>
            <a:off x="2243139" y="6356350"/>
            <a:ext cx="8186736" cy="365125"/>
          </a:xfrm>
        </p:spPr>
        <p:txBody>
          <a:bodyPr/>
          <a:lstStyle/>
          <a:p>
            <a:r>
              <a:rPr lang="en-GB" sz="1400" smtClean="0"/>
              <a:t>Galgotias-Student Centered Active Learning Ecosystem &amp; Date 12-08-2026 </a:t>
            </a:r>
            <a:endParaRPr lang="en-IN" dirty="0"/>
          </a:p>
        </p:txBody>
      </p:sp>
      <p:grpSp>
        <p:nvGrpSpPr>
          <p:cNvPr id="14" name="Google Shape;131;p4"/>
          <p:cNvGrpSpPr/>
          <p:nvPr/>
        </p:nvGrpSpPr>
        <p:grpSpPr>
          <a:xfrm>
            <a:off x="336080" y="2417848"/>
            <a:ext cx="11519840" cy="3689404"/>
            <a:chOff x="-296006" y="0"/>
            <a:chExt cx="11519840" cy="3689404"/>
          </a:xfrm>
        </p:grpSpPr>
        <p:sp>
          <p:nvSpPr>
            <p:cNvPr id="15" name="Google Shape;132;p4"/>
            <p:cNvSpPr/>
            <p:nvPr/>
          </p:nvSpPr>
          <p:spPr>
            <a:xfrm>
              <a:off x="-296006" y="0"/>
              <a:ext cx="10472679" cy="1660232"/>
            </a:xfrm>
            <a:prstGeom prst="roundRect">
              <a:avLst>
                <a:gd name="adj" fmla="val 10000"/>
              </a:avLst>
            </a:prstGeom>
            <a:solidFill>
              <a:srgbClr val="E97131"/>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Times New Roman" panose="02020603050405020304" pitchFamily="18" charset="0"/>
                <a:cs typeface="Times New Roman" panose="02020603050405020304" pitchFamily="18" charset="0"/>
              </a:endParaRPr>
            </a:p>
          </p:txBody>
        </p:sp>
        <p:sp>
          <p:nvSpPr>
            <p:cNvPr id="23" name="Google Shape;133;p4"/>
            <p:cNvSpPr txBox="1"/>
            <p:nvPr/>
          </p:nvSpPr>
          <p:spPr>
            <a:xfrm>
              <a:off x="-247379" y="48627"/>
              <a:ext cx="9204523" cy="1562978"/>
            </a:xfrm>
            <a:prstGeom prst="rect">
              <a:avLst/>
            </a:prstGeom>
            <a:noFill/>
            <a:ln>
              <a:noFill/>
            </a:ln>
          </p:spPr>
          <p:txBody>
            <a:bodyPr spcFirstLastPara="1" wrap="square" lIns="144775" tIns="144775" rIns="144775" bIns="144775" anchor="ctr" anchorCtr="0">
              <a:noAutofit/>
            </a:bodyPr>
            <a:lstStyle/>
            <a:p>
              <a:pPr lvl="0">
                <a:lnSpc>
                  <a:spcPct val="90000"/>
                </a:lnSpc>
                <a:buClr>
                  <a:schemeClr val="lt1"/>
                </a:buClr>
                <a:buSzPts val="3800"/>
              </a:pPr>
              <a:r>
                <a:rPr lang="en-IN" sz="3200" b="0" i="0" u="none" strike="noStrike" cap="none" dirty="0" smtClean="0">
                  <a:solidFill>
                    <a:schemeClr val="lt1"/>
                  </a:solidFill>
                  <a:latin typeface="Times New Roman" panose="02020603050405020304" pitchFamily="18" charset="0"/>
                  <a:cs typeface="Times New Roman" panose="02020603050405020304" pitchFamily="18" charset="0"/>
                  <a:sym typeface="Arial"/>
                </a:rPr>
                <a:t>LO1: </a:t>
              </a:r>
              <a:r>
                <a:rPr lang="en-GB" sz="2600" dirty="0">
                  <a:solidFill>
                    <a:schemeClr val="lt1"/>
                  </a:solidFill>
                  <a:latin typeface="Times New Roman" panose="02020603050405020304" pitchFamily="18" charset="0"/>
                  <a:cs typeface="Times New Roman" panose="02020603050405020304" pitchFamily="18" charset="0"/>
                  <a:sym typeface="Arial"/>
                </a:rPr>
                <a:t>Explain the key milestones in the history of Machine </a:t>
              </a:r>
              <a:r>
                <a:rPr lang="en-GB" sz="2600" dirty="0" err="1">
                  <a:solidFill>
                    <a:schemeClr val="lt1"/>
                  </a:solidFill>
                  <a:latin typeface="Times New Roman" panose="02020603050405020304" pitchFamily="18" charset="0"/>
                  <a:cs typeface="Times New Roman" panose="02020603050405020304" pitchFamily="18" charset="0"/>
                  <a:sym typeface="Arial"/>
                </a:rPr>
                <a:t>Learing</a:t>
              </a:r>
              <a:endParaRPr lang="en-GB" sz="2600" dirty="0">
                <a:solidFill>
                  <a:schemeClr val="lt1"/>
                </a:solidFill>
                <a:latin typeface="Times New Roman" panose="02020603050405020304" pitchFamily="18" charset="0"/>
                <a:cs typeface="Times New Roman" panose="02020603050405020304" pitchFamily="18" charset="0"/>
                <a:sym typeface="Arial"/>
              </a:endParaRPr>
            </a:p>
          </p:txBody>
        </p:sp>
        <p:sp>
          <p:nvSpPr>
            <p:cNvPr id="24" name="Google Shape;134;p4"/>
            <p:cNvSpPr/>
            <p:nvPr/>
          </p:nvSpPr>
          <p:spPr>
            <a:xfrm>
              <a:off x="1935180" y="2029172"/>
              <a:ext cx="9288654" cy="1660232"/>
            </a:xfrm>
            <a:prstGeom prst="roundRect">
              <a:avLst>
                <a:gd name="adj" fmla="val 10000"/>
              </a:avLst>
            </a:prstGeom>
            <a:solidFill>
              <a:srgbClr val="18692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Times New Roman" panose="02020603050405020304" pitchFamily="18" charset="0"/>
                <a:cs typeface="Times New Roman" panose="02020603050405020304" pitchFamily="18" charset="0"/>
              </a:endParaRPr>
            </a:p>
          </p:txBody>
        </p:sp>
        <p:sp>
          <p:nvSpPr>
            <p:cNvPr id="25" name="Google Shape;135;p4"/>
            <p:cNvSpPr txBox="1"/>
            <p:nvPr/>
          </p:nvSpPr>
          <p:spPr>
            <a:xfrm>
              <a:off x="1983806" y="2077799"/>
              <a:ext cx="9240027" cy="1562978"/>
            </a:xfrm>
            <a:prstGeom prst="rect">
              <a:avLst/>
            </a:prstGeom>
            <a:noFill/>
            <a:ln>
              <a:noFill/>
            </a:ln>
          </p:spPr>
          <p:txBody>
            <a:bodyPr spcFirstLastPara="1" wrap="square" lIns="144775" tIns="144775" rIns="144775" bIns="144775" anchor="ctr" anchorCtr="0">
              <a:noAutofit/>
            </a:bodyPr>
            <a:lstStyle/>
            <a:p>
              <a:pPr lvl="0">
                <a:lnSpc>
                  <a:spcPct val="90000"/>
                </a:lnSpc>
                <a:buClr>
                  <a:schemeClr val="lt1"/>
                </a:buClr>
                <a:buSzPts val="3800"/>
              </a:pPr>
              <a:r>
                <a:rPr lang="en-IN" sz="2800" b="0" i="0" u="none" strike="noStrike" cap="none" dirty="0">
                  <a:solidFill>
                    <a:schemeClr val="lt1"/>
                  </a:solidFill>
                  <a:latin typeface="Times New Roman" panose="02020603050405020304" pitchFamily="18" charset="0"/>
                  <a:cs typeface="Times New Roman" panose="02020603050405020304" pitchFamily="18" charset="0"/>
                  <a:sym typeface="Arial"/>
                </a:rPr>
                <a:t>LO2</a:t>
              </a:r>
              <a:r>
                <a:rPr lang="en-IN" sz="2800" b="0" i="0" u="none" strike="noStrike" cap="none" dirty="0" smtClean="0">
                  <a:solidFill>
                    <a:schemeClr val="lt1"/>
                  </a:solidFill>
                  <a:latin typeface="Times New Roman" panose="02020603050405020304" pitchFamily="18" charset="0"/>
                  <a:cs typeface="Times New Roman" panose="02020603050405020304" pitchFamily="18" charset="0"/>
                  <a:sym typeface="Arial"/>
                </a:rPr>
                <a:t>: </a:t>
              </a:r>
              <a:r>
                <a:rPr lang="en-GB" sz="2500" dirty="0">
                  <a:solidFill>
                    <a:schemeClr val="bg1"/>
                  </a:solidFill>
                  <a:latin typeface="Times New Roman" panose="02020603050405020304" pitchFamily="18" charset="0"/>
                  <a:cs typeface="Times New Roman" panose="02020603050405020304" pitchFamily="18" charset="0"/>
                  <a:sym typeface="Arial"/>
                </a:rPr>
                <a:t>Apply the Machine Learning Life Cycle</a:t>
              </a:r>
              <a:endParaRPr lang="en-GB" sz="2500" dirty="0">
                <a:solidFill>
                  <a:schemeClr val="bg1"/>
                </a:solidFill>
                <a:latin typeface="Times New Roman" panose="02020603050405020304" pitchFamily="18" charset="0"/>
                <a:cs typeface="Times New Roman" panose="02020603050405020304" pitchFamily="18" charset="0"/>
                <a:sym typeface="Arial"/>
              </a:endParaRPr>
            </a:p>
          </p:txBody>
        </p:sp>
        <p:sp>
          <p:nvSpPr>
            <p:cNvPr id="26" name="Google Shape;136;p4"/>
            <p:cNvSpPr/>
            <p:nvPr/>
          </p:nvSpPr>
          <p:spPr>
            <a:xfrm>
              <a:off x="8466195" y="1025289"/>
              <a:ext cx="1079150" cy="1079150"/>
            </a:xfrm>
            <a:prstGeom prst="downArrow">
              <a:avLst>
                <a:gd name="adj1" fmla="val 55000"/>
                <a:gd name="adj2" fmla="val 45000"/>
              </a:avLst>
            </a:prstGeom>
            <a:solidFill>
              <a:srgbClr val="F6D4CC">
                <a:alpha val="89803"/>
              </a:srgbClr>
            </a:solidFill>
            <a:ln w="19050" cap="flat" cmpd="sng">
              <a:solidFill>
                <a:srgbClr val="F6D4CC">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Times New Roman" panose="02020603050405020304" pitchFamily="18" charset="0"/>
                <a:cs typeface="Times New Roman" panose="02020603050405020304" pitchFamily="18" charset="0"/>
              </a:endParaRPr>
            </a:p>
          </p:txBody>
        </p:sp>
        <p:sp>
          <p:nvSpPr>
            <p:cNvPr id="27" name="Google Shape;137;p4"/>
            <p:cNvSpPr txBox="1"/>
            <p:nvPr/>
          </p:nvSpPr>
          <p:spPr>
            <a:xfrm>
              <a:off x="8748318" y="1311292"/>
              <a:ext cx="593532" cy="812060"/>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endParaRPr sz="2400" b="0" i="0" u="none" strike="noStrike" cap="none">
                <a:solidFill>
                  <a:schemeClr val="dk1"/>
                </a:solidFill>
                <a:latin typeface="Times New Roman" panose="02020603050405020304" pitchFamily="18" charset="0"/>
                <a:cs typeface="Times New Roman" panose="02020603050405020304" pitchFamily="18" charset="0"/>
                <a:sym typeface="Arial"/>
              </a:endParaRPr>
            </a:p>
          </p:txBody>
        </p:sp>
      </p:grpSp>
    </p:spTree>
    <p:extLst>
      <p:ext uri="{BB962C8B-B14F-4D97-AF65-F5344CB8AC3E}">
        <p14:creationId xmlns:p14="http://schemas.microsoft.com/office/powerpoint/2010/main" val="387409740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DE995B-751B-0A32-5A21-E7C3B8B54B6B}"/>
              </a:ext>
            </a:extLst>
          </p:cNvPr>
          <p:cNvSpPr>
            <a:spLocks noGrp="1"/>
          </p:cNvSpPr>
          <p:nvPr>
            <p:ph type="ctrTitle"/>
          </p:nvPr>
        </p:nvSpPr>
        <p:spPr>
          <a:xfrm>
            <a:off x="1438275" y="854440"/>
            <a:ext cx="9144000" cy="859381"/>
          </a:xfrm>
        </p:spPr>
        <p:txBody>
          <a:bodyPr>
            <a:noAutofit/>
          </a:bodyPr>
          <a:lstStyle/>
          <a:p>
            <a:r>
              <a:rPr lang="en-US" sz="4400" dirty="0" smtClean="0">
                <a:latin typeface="Georgia" panose="02040502050405020303" pitchFamily="18" charset="0"/>
              </a:rPr>
              <a:t>Post </a:t>
            </a:r>
            <a:r>
              <a:rPr lang="en-US" sz="4400" dirty="0">
                <a:latin typeface="Georgia" panose="02040502050405020303" pitchFamily="18" charset="0"/>
              </a:rPr>
              <a:t>S</a:t>
            </a:r>
            <a:r>
              <a:rPr lang="en-US" sz="4400" dirty="0" smtClean="0">
                <a:latin typeface="Georgia" panose="02040502050405020303" pitchFamily="18" charset="0"/>
              </a:rPr>
              <a:t>ession Activity</a:t>
            </a:r>
            <a:endParaRPr lang="en-IN" sz="2000" dirty="0">
              <a:latin typeface="Georgia" panose="02040502050405020303" pitchFamily="18" charset="0"/>
            </a:endParaRPr>
          </a:p>
        </p:txBody>
      </p:sp>
      <p:sp>
        <p:nvSpPr>
          <p:cNvPr id="6" name="Slide Number Placeholder 5">
            <a:extLst>
              <a:ext uri="{FF2B5EF4-FFF2-40B4-BE49-F238E27FC236}">
                <a16:creationId xmlns:a16="http://schemas.microsoft.com/office/drawing/2014/main" xmlns="" id="{1EF65707-3814-3027-565A-48A3BE9C3CE3}"/>
              </a:ext>
            </a:extLst>
          </p:cNvPr>
          <p:cNvSpPr>
            <a:spLocks noGrp="1"/>
          </p:cNvSpPr>
          <p:nvPr>
            <p:ph type="sldNum" sz="quarter" idx="12"/>
          </p:nvPr>
        </p:nvSpPr>
        <p:spPr/>
        <p:txBody>
          <a:bodyPr/>
          <a:lstStyle/>
          <a:p>
            <a:fld id="{26510230-8DD5-4BA5-AB2D-CA30FC08F9D7}" type="slidenum">
              <a:rPr lang="en-IN" smtClean="0"/>
              <a:t>24</a:t>
            </a:fld>
            <a:endParaRPr lang="en-IN"/>
          </a:p>
        </p:txBody>
      </p:sp>
      <p:pic>
        <p:nvPicPr>
          <p:cNvPr id="7" name="Picture 6" descr="A blue circle with text and words&#10;&#10;Description automatically generated">
            <a:extLst>
              <a:ext uri="{FF2B5EF4-FFF2-40B4-BE49-F238E27FC236}">
                <a16:creationId xmlns:a16="http://schemas.microsoft.com/office/drawing/2014/main" xmlns="" id="{C592EB9A-7F96-10B0-43BD-B1F95C6FBE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3" name="Picture 2">
            <a:extLst>
              <a:ext uri="{FF2B5EF4-FFF2-40B4-BE49-F238E27FC236}">
                <a16:creationId xmlns:a16="http://schemas.microsoft.com/office/drawing/2014/main" xmlns="" id="{A01523D9-5DDB-3527-A0E3-5779C8EBF3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8" name="Footer Placeholder 5">
            <a:extLst>
              <a:ext uri="{FF2B5EF4-FFF2-40B4-BE49-F238E27FC236}">
                <a16:creationId xmlns:a16="http://schemas.microsoft.com/office/drawing/2014/main" xmlns="" id="{0AC4C0B8-55BF-7607-C08F-4F93C85CCC8F}"/>
              </a:ext>
            </a:extLst>
          </p:cNvPr>
          <p:cNvSpPr>
            <a:spLocks noGrp="1"/>
          </p:cNvSpPr>
          <p:nvPr>
            <p:ph type="ftr" sz="quarter" idx="11"/>
          </p:nvPr>
        </p:nvSpPr>
        <p:spPr>
          <a:xfrm>
            <a:off x="2243139" y="6356350"/>
            <a:ext cx="8186736" cy="365125"/>
          </a:xfrm>
        </p:spPr>
        <p:txBody>
          <a:bodyPr/>
          <a:lstStyle/>
          <a:p>
            <a:r>
              <a:rPr lang="en-GB" sz="1400" smtClean="0"/>
              <a:t>Galgotias-Student Centered Active Learning Ecosystem &amp; Date 12-08-2026 </a:t>
            </a:r>
            <a:endParaRPr lang="en-IN" dirty="0"/>
          </a:p>
        </p:txBody>
      </p:sp>
      <p:pic>
        <p:nvPicPr>
          <p:cNvPr id="4" name="Picture 3"/>
          <p:cNvPicPr>
            <a:picLocks noChangeAspect="1"/>
          </p:cNvPicPr>
          <p:nvPr/>
        </p:nvPicPr>
        <p:blipFill>
          <a:blip r:embed="rId4"/>
          <a:stretch>
            <a:fillRect/>
          </a:stretch>
        </p:blipFill>
        <p:spPr>
          <a:xfrm>
            <a:off x="4231482" y="2025434"/>
            <a:ext cx="3769518" cy="3769518"/>
          </a:xfrm>
          <a:prstGeom prst="rect">
            <a:avLst/>
          </a:prstGeom>
        </p:spPr>
      </p:pic>
    </p:spTree>
    <p:extLst>
      <p:ext uri="{BB962C8B-B14F-4D97-AF65-F5344CB8AC3E}">
        <p14:creationId xmlns:p14="http://schemas.microsoft.com/office/powerpoint/2010/main" val="39827183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DE995B-751B-0A32-5A21-E7C3B8B54B6B}"/>
              </a:ext>
            </a:extLst>
          </p:cNvPr>
          <p:cNvSpPr>
            <a:spLocks noGrp="1"/>
          </p:cNvSpPr>
          <p:nvPr>
            <p:ph type="ctrTitle"/>
          </p:nvPr>
        </p:nvSpPr>
        <p:spPr>
          <a:xfrm>
            <a:off x="685173" y="1128467"/>
            <a:ext cx="10510759" cy="824524"/>
          </a:xfrm>
        </p:spPr>
        <p:txBody>
          <a:bodyPr>
            <a:noAutofit/>
          </a:bodyPr>
          <a:lstStyle/>
          <a:p>
            <a:r>
              <a:rPr lang="en-IN" sz="5400" dirty="0">
                <a:latin typeface="Georgia" panose="02040502050405020303" pitchFamily="18" charset="0"/>
              </a:rPr>
              <a:t>Information about the next lesson</a:t>
            </a:r>
            <a:endParaRPr lang="en-IN" sz="2000" dirty="0">
              <a:latin typeface="Georgia" panose="02040502050405020303" pitchFamily="18" charset="0"/>
            </a:endParaRPr>
          </a:p>
        </p:txBody>
      </p:sp>
      <p:sp>
        <p:nvSpPr>
          <p:cNvPr id="4" name="Subtitle 3"/>
          <p:cNvSpPr>
            <a:spLocks noGrp="1"/>
          </p:cNvSpPr>
          <p:nvPr>
            <p:ph type="subTitle" idx="1"/>
          </p:nvPr>
        </p:nvSpPr>
        <p:spPr>
          <a:xfrm>
            <a:off x="842963" y="2678991"/>
            <a:ext cx="10790335" cy="1655762"/>
          </a:xfrm>
        </p:spPr>
        <p:txBody>
          <a:bodyPr>
            <a:noAutofit/>
          </a:bodyPr>
          <a:lstStyle/>
          <a:p>
            <a:pPr marL="457200" indent="-457200" algn="l">
              <a:buFont typeface="Wingdings" panose="05000000000000000000" pitchFamily="2" charset="2"/>
              <a:buChar char="Ø"/>
            </a:pPr>
            <a:r>
              <a:rPr lang="en-GB" sz="2800" b="1" dirty="0"/>
              <a:t>Performance metrics overview</a:t>
            </a:r>
            <a:endParaRPr lang="en-IN" sz="2800" b="1" dirty="0"/>
          </a:p>
        </p:txBody>
      </p:sp>
      <p:sp>
        <p:nvSpPr>
          <p:cNvPr id="6" name="Slide Number Placeholder 5">
            <a:extLst>
              <a:ext uri="{FF2B5EF4-FFF2-40B4-BE49-F238E27FC236}">
                <a16:creationId xmlns:a16="http://schemas.microsoft.com/office/drawing/2014/main" xmlns="" id="{1EF65707-3814-3027-565A-48A3BE9C3CE3}"/>
              </a:ext>
            </a:extLst>
          </p:cNvPr>
          <p:cNvSpPr>
            <a:spLocks noGrp="1"/>
          </p:cNvSpPr>
          <p:nvPr>
            <p:ph type="sldNum" sz="quarter" idx="12"/>
          </p:nvPr>
        </p:nvSpPr>
        <p:spPr/>
        <p:txBody>
          <a:bodyPr/>
          <a:lstStyle/>
          <a:p>
            <a:fld id="{26510230-8DD5-4BA5-AB2D-CA30FC08F9D7}" type="slidenum">
              <a:rPr lang="en-IN" smtClean="0"/>
              <a:t>25</a:t>
            </a:fld>
            <a:endParaRPr lang="en-IN"/>
          </a:p>
        </p:txBody>
      </p:sp>
      <p:pic>
        <p:nvPicPr>
          <p:cNvPr id="7" name="Picture 6" descr="A blue circle with text and words&#10;&#10;Description automatically generated">
            <a:extLst>
              <a:ext uri="{FF2B5EF4-FFF2-40B4-BE49-F238E27FC236}">
                <a16:creationId xmlns:a16="http://schemas.microsoft.com/office/drawing/2014/main" xmlns="" id="{C592EB9A-7F96-10B0-43BD-B1F95C6FBE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3" name="Picture 2">
            <a:extLst>
              <a:ext uri="{FF2B5EF4-FFF2-40B4-BE49-F238E27FC236}">
                <a16:creationId xmlns:a16="http://schemas.microsoft.com/office/drawing/2014/main" xmlns="" id="{5D834257-EC96-D536-3BBD-72E7CFA642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8" name="Footer Placeholder 5">
            <a:extLst>
              <a:ext uri="{FF2B5EF4-FFF2-40B4-BE49-F238E27FC236}">
                <a16:creationId xmlns:a16="http://schemas.microsoft.com/office/drawing/2014/main" xmlns="" id="{0AC4C0B8-55BF-7607-C08F-4F93C85CCC8F}"/>
              </a:ext>
            </a:extLst>
          </p:cNvPr>
          <p:cNvSpPr>
            <a:spLocks noGrp="1"/>
          </p:cNvSpPr>
          <p:nvPr>
            <p:ph type="ftr" sz="quarter" idx="11"/>
          </p:nvPr>
        </p:nvSpPr>
        <p:spPr>
          <a:xfrm>
            <a:off x="2243139" y="6356350"/>
            <a:ext cx="8186736" cy="365125"/>
          </a:xfrm>
        </p:spPr>
        <p:txBody>
          <a:bodyPr/>
          <a:lstStyle/>
          <a:p>
            <a:r>
              <a:rPr lang="en-GB" sz="1400" smtClean="0"/>
              <a:t>Galgotias-Student Centered Active Learning Ecosystem &amp; Date 12-08-2026 </a:t>
            </a:r>
            <a:endParaRPr lang="en-IN" dirty="0"/>
          </a:p>
        </p:txBody>
      </p:sp>
    </p:spTree>
    <p:extLst>
      <p:ext uri="{BB962C8B-B14F-4D97-AF65-F5344CB8AC3E}">
        <p14:creationId xmlns:p14="http://schemas.microsoft.com/office/powerpoint/2010/main" val="50422432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F6F593-41A2-5797-581D-24AD95F1C7D0}"/>
              </a:ext>
            </a:extLst>
          </p:cNvPr>
          <p:cNvSpPr>
            <a:spLocks noGrp="1"/>
          </p:cNvSpPr>
          <p:nvPr>
            <p:ph type="title"/>
          </p:nvPr>
        </p:nvSpPr>
        <p:spPr>
          <a:xfrm>
            <a:off x="6790691" y="1575601"/>
            <a:ext cx="4805996" cy="1297115"/>
          </a:xfrm>
        </p:spPr>
        <p:txBody>
          <a:bodyPr vert="horz" lIns="91440" tIns="45720" rIns="91440" bIns="45720" rtlCol="0" anchor="t">
            <a:normAutofit fontScale="90000"/>
          </a:bodyPr>
          <a:lstStyle/>
          <a:p>
            <a:pPr algn="ctr"/>
            <a:r>
              <a:rPr lang="en-US" sz="4000" kern="1200" dirty="0">
                <a:solidFill>
                  <a:schemeClr val="tx2"/>
                </a:solidFill>
                <a:latin typeface="+mj-lt"/>
                <a:ea typeface="+mj-ea"/>
                <a:cs typeface="+mj-cs"/>
              </a:rPr>
              <a:t>Review and Reflection from students</a:t>
            </a:r>
          </a:p>
        </p:txBody>
      </p:sp>
      <p:sp>
        <p:nvSpPr>
          <p:cNvPr id="7" name="Slide Number Placeholder 6">
            <a:extLst>
              <a:ext uri="{FF2B5EF4-FFF2-40B4-BE49-F238E27FC236}">
                <a16:creationId xmlns:a16="http://schemas.microsoft.com/office/drawing/2014/main" xmlns="" id="{B506AAFE-4113-97E4-34C4-18F6BEDEAE3B}"/>
              </a:ext>
            </a:extLst>
          </p:cNvPr>
          <p:cNvSpPr>
            <a:spLocks noGrp="1"/>
          </p:cNvSpPr>
          <p:nvPr>
            <p:ph type="sldNum" sz="quarter" idx="12"/>
          </p:nvPr>
        </p:nvSpPr>
        <p:spPr/>
        <p:txBody>
          <a:bodyPr/>
          <a:lstStyle/>
          <a:p>
            <a:fld id="{26510230-8DD5-4BA5-AB2D-CA30FC08F9D7}" type="slidenum">
              <a:rPr lang="en-IN" smtClean="0"/>
              <a:t>26</a:t>
            </a:fld>
            <a:endParaRPr lang="en-IN"/>
          </a:p>
        </p:txBody>
      </p:sp>
      <p:pic>
        <p:nvPicPr>
          <p:cNvPr id="8" name="Picture 7" descr="A blue circle with text and words&#10;&#10;Description automatically generated">
            <a:extLst>
              <a:ext uri="{FF2B5EF4-FFF2-40B4-BE49-F238E27FC236}">
                <a16:creationId xmlns:a16="http://schemas.microsoft.com/office/drawing/2014/main" xmlns="" id="{2D872DDF-4447-626A-EA2D-F25500CB53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3" name="Picture 2">
            <a:extLst>
              <a:ext uri="{FF2B5EF4-FFF2-40B4-BE49-F238E27FC236}">
                <a16:creationId xmlns:a16="http://schemas.microsoft.com/office/drawing/2014/main" xmlns="" id="{BDEA843D-98A8-0F4E-0617-582CE9651D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grpSp>
        <p:nvGrpSpPr>
          <p:cNvPr id="17" name="Group 16">
            <a:extLst>
              <a:ext uri="{FF2B5EF4-FFF2-40B4-BE49-F238E27FC236}">
                <a16:creationId xmlns:a16="http://schemas.microsoft.com/office/drawing/2014/main" xmlns="" id="{89D1390B-7E13-4B4F-9CB2-391063412E54}"/>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4253" y="-5977"/>
            <a:ext cx="6238675" cy="6863979"/>
            <a:chOff x="305" y="-5977"/>
            <a:chExt cx="6238675" cy="6863979"/>
          </a:xfrm>
        </p:grpSpPr>
        <p:sp>
          <p:nvSpPr>
            <p:cNvPr id="18" name="Freeform: Shape 13">
              <a:extLst>
                <a:ext uri="{FF2B5EF4-FFF2-40B4-BE49-F238E27FC236}">
                  <a16:creationId xmlns:a16="http://schemas.microsoft.com/office/drawing/2014/main" xmlns="" id="{9E720206-AA49-4786-A932-A2650DE0918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4">
              <a:extLst>
                <a:ext uri="{FF2B5EF4-FFF2-40B4-BE49-F238E27FC236}">
                  <a16:creationId xmlns:a16="http://schemas.microsoft.com/office/drawing/2014/main" xmlns="" id="{C72F6EE6-EDE9-45A5-8F6D-02B9B7CB2C2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5">
              <a:extLst>
                <a:ext uri="{FF2B5EF4-FFF2-40B4-BE49-F238E27FC236}">
                  <a16:creationId xmlns:a16="http://schemas.microsoft.com/office/drawing/2014/main" xmlns="" id="{C093DC50-3BD7-46B1-A300-CD207E152FF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1" name="Graphic 5" descr="Smiling Face with No Fill">
            <a:extLst>
              <a:ext uri="{FF2B5EF4-FFF2-40B4-BE49-F238E27FC236}">
                <a16:creationId xmlns:a16="http://schemas.microsoft.com/office/drawing/2014/main" xmlns="" id="{74418C2F-62A7-9D29-C346-38DEE044062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sp>
        <p:nvSpPr>
          <p:cNvPr id="23" name="Footer Placeholder 5">
            <a:extLst>
              <a:ext uri="{FF2B5EF4-FFF2-40B4-BE49-F238E27FC236}">
                <a16:creationId xmlns:a16="http://schemas.microsoft.com/office/drawing/2014/main" xmlns="" id="{0AC4C0B8-55BF-7607-C08F-4F93C85CCC8F}"/>
              </a:ext>
            </a:extLst>
          </p:cNvPr>
          <p:cNvSpPr>
            <a:spLocks noGrp="1"/>
          </p:cNvSpPr>
          <p:nvPr>
            <p:ph type="ftr" sz="quarter" idx="11"/>
          </p:nvPr>
        </p:nvSpPr>
        <p:spPr>
          <a:xfrm>
            <a:off x="2243139" y="6356350"/>
            <a:ext cx="8186736" cy="365125"/>
          </a:xfrm>
        </p:spPr>
        <p:txBody>
          <a:bodyPr/>
          <a:lstStyle/>
          <a:p>
            <a:r>
              <a:rPr lang="en-GB" sz="1400" smtClean="0"/>
              <a:t>Galgotias-Student Centered Active Learning Ecosystem &amp; Date 12-08-2026 </a:t>
            </a:r>
            <a:endParaRPr lang="en-IN" dirty="0"/>
          </a:p>
        </p:txBody>
      </p:sp>
      <p:pic>
        <p:nvPicPr>
          <p:cNvPr id="4" name="Picture 3"/>
          <p:cNvPicPr>
            <a:picLocks noChangeAspect="1"/>
          </p:cNvPicPr>
          <p:nvPr/>
        </p:nvPicPr>
        <p:blipFill>
          <a:blip r:embed="rId6"/>
          <a:stretch>
            <a:fillRect/>
          </a:stretch>
        </p:blipFill>
        <p:spPr>
          <a:xfrm>
            <a:off x="7786687" y="3271986"/>
            <a:ext cx="2476500" cy="2466975"/>
          </a:xfrm>
          <a:prstGeom prst="rect">
            <a:avLst/>
          </a:prstGeom>
        </p:spPr>
      </p:pic>
    </p:spTree>
    <p:extLst>
      <p:ext uri="{BB962C8B-B14F-4D97-AF65-F5344CB8AC3E}">
        <p14:creationId xmlns:p14="http://schemas.microsoft.com/office/powerpoint/2010/main" val="57163890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3815</TotalTime>
  <Words>1310</Words>
  <Application>Microsoft Office PowerPoint</Application>
  <PresentationFormat>Widescreen</PresentationFormat>
  <Paragraphs>191</Paragraphs>
  <Slides>26</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Aptos</vt:lpstr>
      <vt:lpstr>Aptos Display</vt:lpstr>
      <vt:lpstr>Arial</vt:lpstr>
      <vt:lpstr>Calibri</vt:lpstr>
      <vt:lpstr>Georgia</vt:lpstr>
      <vt:lpstr>Times New Roman</vt:lpstr>
      <vt:lpstr>Wingdings</vt:lpstr>
      <vt:lpstr>Office Theme</vt:lpstr>
      <vt:lpstr>History of ML and ML Life Cycle    Session No.: 03 Course Name: Machine Learning Course Code: R1UC525B Instructor Name: Dr. Sivakumar Madeshwaran Duration: 50 Minutes Date of Conduction of Class: 12-08-2026 </vt:lpstr>
      <vt:lpstr>PowerPoint Presentation</vt:lpstr>
      <vt:lpstr>PowerPoint Presentation</vt:lpstr>
      <vt:lpstr>Reflect on the responses of post session activity  </vt:lpstr>
      <vt:lpstr>How has Machine Learning changed from the past to today, and what are the main steps in developing an ML model?</vt:lpstr>
      <vt:lpstr>PowerPoint Presentation</vt:lpstr>
      <vt:lpstr>At the end of this session students will be able to </vt:lpstr>
      <vt:lpstr>Session Outline</vt:lpstr>
      <vt:lpstr> </vt:lpstr>
      <vt:lpstr> </vt:lpstr>
      <vt:lpstr> </vt:lpstr>
      <vt:lpstr> </vt:lpstr>
      <vt:lpstr> </vt:lpstr>
      <vt:lpstr> </vt:lpstr>
      <vt:lpstr> </vt:lpstr>
      <vt:lpstr> </vt:lpstr>
      <vt:lpstr> </vt:lpstr>
      <vt:lpstr> </vt:lpstr>
      <vt:lpstr> </vt:lpstr>
      <vt:lpstr> </vt:lpstr>
      <vt:lpstr> </vt:lpstr>
      <vt:lpstr>Summary</vt:lpstr>
      <vt:lpstr>Ensure attainment of LOs in alignment to the learning activities: outcomes (1-2)</vt:lpstr>
      <vt:lpstr>Post Session Activity</vt:lpstr>
      <vt:lpstr>Information about the next lesson</vt:lpstr>
      <vt:lpstr>Review and Reflection from students</vt:lpstr>
    </vt:vector>
  </TitlesOfParts>
  <Company>Hewlett-Packard Company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web:  WWW, Web Browser, Client Server and Communication   Session No.: Course Name:  Course Code: Instructor Name: Duration: Date of Conduction of Class:  </dc:title>
  <dc:creator>Deepak Gupta</dc:creator>
  <cp:lastModifiedBy>Microsoft account</cp:lastModifiedBy>
  <cp:revision>159</cp:revision>
  <dcterms:created xsi:type="dcterms:W3CDTF">2024-08-22T06:33:55Z</dcterms:created>
  <dcterms:modified xsi:type="dcterms:W3CDTF">2026-08-12T06:54:59Z</dcterms:modified>
</cp:coreProperties>
</file>